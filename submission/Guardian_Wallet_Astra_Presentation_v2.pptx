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c2299a00-8d6a-3fef-cc70-c7125be942b8}">
          <p14:sldIdLst>
            <p14:sldId id="256"/>
            <p14:sldId id="257"/>
            <p14:sldId id="258"/>
            <p14:sldId id="259"/>
            <p14:sldId id="260"/>
            <p14:sldId id="261"/>
            <p14:sldId id="262"/>
            <p14:sldId id="263"/>
            <p14:sldId id="264"/>
            <p14:sldId id="265"/>
            <p14:sldId id="266"/>
            <p14:sldId id="267"/>
            <p14:sldId id="268"/>
            <p14:sldId id="269"/>
            <p14:sldId id="270"/>
          </p14:sldIdLst>
        </p14:section>
        <p14:section name="Appendix" id="{833ddf8b-4572-872d-308b-0cced5cc21f5}">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2A"/>
                </a:solidFill>
                <a:latin typeface="+mn-lt"/>
              </a:defRPr>
            </a:pPr>
            <a:r>
              <a:rPr sz="1400" b="0" i="0" u="none" strike="noStrike">
                <a:solidFill>
                  <a:srgbClr val="0B1F2A"/>
                </a:solidFill>
                <a:latin typeface="+mn-lt"/>
              </a:rPr>
              <a:t>Objectives passed (of 60 observations)</a:t>
            </a:r>
          </a:p>
        </c:rich>
      </c:tx>
      <c:layout/>
      <c:overlay val="0"/>
    </c:title>
    <c:autoTitleDeleted val="0"/>
    <c:plotArea>
      <c:layout/>
      <c:barChart>
        <c:barDir val="col"/>
        <c:grouping val="stacked"/>
        <c:varyColors val="0"/>
        <c:ser>
          <c:idx val="0"/>
          <c:order val="0"/>
          <c:tx>
            <c:strRef>
              <c:f>Sheet1!$B$1</c:f>
              <c:strCache>
                <c:ptCount val="1"/>
                <c:pt idx="0">
                  <c:v>Objectives passed</c:v>
                </c:pt>
              </c:strCache>
            </c:strRef>
          </c:tx>
          <c:spPr>
            <a:solidFill>
              <a:srgbClr val="13A898"/>
            </a:solidFill>
            <a:effectLst/>
          </c:spPr>
          <c:invertIfNegative val="0"/>
          <c:dLbls>
            <c:numFmt formatCode="0;;;" sourceLinked="0"/>
            <c:txPr>
              <a:bodyPr/>
              <a:lstStyle/>
              <a:p>
                <a:pPr>
                  <a:defRPr b="1" i="0" strike="noStrike" sz="1400" u="none">
                    <a:solidFill>
                      <a:srgbClr val="0B1F2A"/>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Baseline</c:v>
                  </c:pt>
                  <c:pt idx="1">
                    <c:v>After fix</c:v>
                  </c:pt>
                </c:lvl>
              </c:multiLvlStrCache>
            </c:multiLvlStrRef>
          </c:cat>
          <c:val>
            <c:numRef>
              <c:f>Sheet1!$B$2:$B$3</c:f>
              <c:numCache>
                <c:formatCode>General</c:formatCode>
                <c:ptCount val="2"/>
                <c:pt idx="0">
                  <c:v>54</c:v>
                </c:pt>
                <c:pt idx="1">
                  <c:v>60</c:v>
                </c:pt>
              </c:numCache>
            </c:numRef>
          </c:val>
        </c:ser>
        <c:ser>
          <c:idx val="1"/>
          <c:order val="1"/>
          <c:tx>
            <c:strRef>
              <c:f>Sheet1!$C$1</c:f>
              <c:strCache>
                <c:ptCount val="1"/>
                <c:pt idx="0">
                  <c:v>Schema errors / inconclusive</c:v>
                </c:pt>
              </c:strCache>
            </c:strRef>
          </c:tx>
          <c:spPr>
            <a:solidFill>
              <a:srgbClr val="F4A300"/>
            </a:solidFill>
            <a:effectLst/>
          </c:spPr>
          <c:invertIfNegative val="0"/>
          <c:dLbls>
            <c:numFmt formatCode="0;;;" sourceLinked="0"/>
            <c:txPr>
              <a:bodyPr/>
              <a:lstStyle/>
              <a:p>
                <a:pPr>
                  <a:defRPr b="1" i="0" strike="noStrike" sz="1400" u="none">
                    <a:solidFill>
                      <a:srgbClr val="0B1F2A"/>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Baseline</c:v>
                  </c:pt>
                  <c:pt idx="1">
                    <c:v>After fix</c:v>
                  </c:pt>
                </c:lvl>
              </c:multiLvlStrCache>
            </c:multiLvlStrRef>
          </c:cat>
          <c:val>
            <c:numRef>
              <c:f>Sheet1!$C$2:$C$3</c:f>
              <c:numCache>
                <c:formatCode>General</c:formatCode>
                <c:ptCount val="2"/>
                <c:pt idx="0">
                  <c:v>6</c:v>
                </c:pt>
                <c:pt idx="1">
                  <c:v>0</c:v>
                </c:pt>
              </c:numCache>
            </c:numRef>
          </c:val>
        </c:ser>
        <c:dLbls>
          <c:numFmt formatCode="0;;;" sourceLinked="0"/>
          <c:txPr>
            <a:bodyPr/>
            <a:lstStyle/>
            <a:p>
              <a:pPr>
                <a:defRPr b="1" i="0" strike="noStrike" sz="1400" u="none">
                  <a:solidFill>
                    <a:srgbClr val="0B1F2A"/>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B1F2A"/>
                </a:solidFill>
                <a:latin typeface="+mn-lt"/>
              </a:defRPr>
            </a:pPr>
            <a:endParaRPr lang="en-US"/>
          </a:p>
        </c:txPr>
        <c:crossAx val="2094734552"/>
        <c:crosses val="autoZero"/>
        <c:auto val="1"/>
        <c:lblAlgn val="ctr"/>
        <c:noMultiLvlLbl val="1"/>
      </c:catAx>
      <c:valAx>
        <c:axId val="2094734552"/>
        <c:scaling>
          <c:orientation val="minMax"/>
          <c:max val="6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F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2A"/>
                </a:solidFill>
                <a:latin typeface="+mn-lt"/>
              </a:defRPr>
            </a:pPr>
            <a:r>
              <a:rPr sz="1400" b="0" i="0" u="none" strike="noStrike">
                <a:solidFill>
                  <a:srgbClr val="0B1F2A"/>
                </a:solidFill>
                <a:latin typeface="+mn-lt"/>
              </a:rPr>
              <a:t>Enclosing-transaction EVM gas (median of 3 runs)</a:t>
            </a:r>
          </a:p>
        </c:rich>
      </c:tx>
      <c:layout/>
      <c:overlay val="0"/>
    </c:title>
    <c:autoTitleDeleted val="0"/>
    <c:plotArea>
      <c:layout/>
      <c:barChart>
        <c:barDir val="col"/>
        <c:grouping val="clustered"/>
        <c:varyColors val="0"/>
        <c:ser>
          <c:idx val="0"/>
          <c:order val="0"/>
          <c:tx>
            <c:strRef>
              <c:f>Sheet1!$B$1</c:f>
              <c:strCache>
                <c:ptCount val="1"/>
                <c:pt idx="0">
                  <c:v>Single mode (separate operations)</c:v>
                </c:pt>
              </c:strCache>
            </c:strRef>
          </c:tx>
          <c:spPr>
            <a:solidFill>
              <a:srgbClr val="5E7380"/>
            </a:solidFill>
            <a:effectLst/>
          </c:spPr>
          <c:invertIfNegative val="0"/>
          <c:dLbls>
            <c:numFmt formatCode="#,##0" sourceLinked="0"/>
            <c:txPr>
              <a:bodyPr/>
              <a:lstStyle/>
              <a:p>
                <a:pPr>
                  <a:defRPr b="0" i="0" strike="noStrike" sz="1200" u="none">
                    <a:solidFill>
                      <a:srgbClr val="0B1F2A"/>
                    </a:solidFill>
                    <a:latin typeface="+mn-lt"/>
                  </a:defRPr>
                </a:pPr>
              </a:p>
            </c:txPr>
            <c:showLegendKey val="0"/>
            <c:showVal val="1"/>
            <c:showCatName val="0"/>
            <c:showSerName val="0"/>
            <c:showPercent val="0"/>
            <c:showBubbleSize val="0"/>
            <c:showLeaderLines val="0"/>
          </c:dLbls>
          <c:cat>
            <c:multiLvlStrRef>
              <c:f>Sheet1!$A$2:$A$3</c:f>
              <c:multiLvlStrCache>
                <c:ptCount val="2"/>
                <c:lvl>
                  <c:pt idx="0">
                    <c:v>4 invoices (1.04 MockUSD)</c:v>
                  </c:pt>
                  <c:pt idx="1">
                    <c:v>7 invoices (1.82 MockUSD)</c:v>
                  </c:pt>
                </c:lvl>
              </c:multiLvlStrCache>
            </c:multiLvlStrRef>
          </c:cat>
          <c:val>
            <c:numRef>
              <c:f>Sheet1!$B$2:$B$3</c:f>
              <c:numCache>
                <c:formatCode>General</c:formatCode>
                <c:ptCount val="2"/>
                <c:pt idx="0">
                  <c:v>1086084</c:v>
                </c:pt>
                <c:pt idx="1">
                  <c:v>1870809</c:v>
                </c:pt>
              </c:numCache>
            </c:numRef>
          </c:val>
        </c:ser>
        <c:ser>
          <c:idx val="1"/>
          <c:order val="1"/>
          <c:tx>
            <c:strRef>
              <c:f>Sheet1!$C$1</c:f>
              <c:strCache>
                <c:ptCount val="1"/>
                <c:pt idx="0">
                  <c:v>Batch mode (one operation)</c:v>
                </c:pt>
              </c:strCache>
            </c:strRef>
          </c:tx>
          <c:spPr>
            <a:solidFill>
              <a:srgbClr val="13A898"/>
            </a:solidFill>
            <a:effectLst/>
          </c:spPr>
          <c:invertIfNegative val="0"/>
          <c:dLbls>
            <c:numFmt formatCode="#,##0" sourceLinked="0"/>
            <c:txPr>
              <a:bodyPr/>
              <a:lstStyle/>
              <a:p>
                <a:pPr>
                  <a:defRPr b="0" i="0" strike="noStrike" sz="1200" u="none">
                    <a:solidFill>
                      <a:srgbClr val="0B1F2A"/>
                    </a:solidFill>
                    <a:latin typeface="+mn-lt"/>
                  </a:defRPr>
                </a:pPr>
              </a:p>
            </c:txPr>
            <c:showLegendKey val="0"/>
            <c:showVal val="1"/>
            <c:showCatName val="0"/>
            <c:showSerName val="0"/>
            <c:showPercent val="0"/>
            <c:showBubbleSize val="0"/>
            <c:showLeaderLines val="0"/>
          </c:dLbls>
          <c:cat>
            <c:multiLvlStrRef>
              <c:f>Sheet1!$A$2:$A$3</c:f>
              <c:multiLvlStrCache>
                <c:ptCount val="2"/>
                <c:lvl>
                  <c:pt idx="0">
                    <c:v>4 invoices (1.04 MockUSD)</c:v>
                  </c:pt>
                  <c:pt idx="1">
                    <c:v>7 invoices (1.82 MockUSD)</c:v>
                  </c:pt>
                </c:lvl>
              </c:multiLvlStrCache>
            </c:multiLvlStrRef>
          </c:cat>
          <c:val>
            <c:numRef>
              <c:f>Sheet1!$C$2:$C$3</c:f>
              <c:numCache>
                <c:formatCode>General</c:formatCode>
                <c:ptCount val="2"/>
                <c:pt idx="0">
                  <c:v>449692</c:v>
                </c:pt>
                <c:pt idx="1">
                  <c:v>600987</c:v>
                </c:pt>
              </c:numCache>
            </c:numRef>
          </c:val>
        </c:ser>
        <c:dLbls>
          <c:numFmt formatCode="#,##0" sourceLinked="0"/>
          <c:txPr>
            <a:bodyPr/>
            <a:lstStyle/>
            <a:p>
              <a:pPr>
                <a:defRPr b="0" i="0" strike="noStrike" sz="1200" u="none">
                  <a:solidFill>
                    <a:srgbClr val="0B1F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1F2A"/>
                </a:solidFill>
                <a:latin typeface="+mn-lt"/>
              </a:defRPr>
            </a:pPr>
            <a:endParaRPr lang="en-US"/>
          </a:p>
        </c:txPr>
        <c:crossAx val="2094734552"/>
        <c:crosses val="autoZero"/>
        <c:auto val="1"/>
        <c:lblAlgn val="ctr"/>
        <c:noMultiLvlLbl val="1"/>
      </c:catAx>
      <c:valAx>
        <c:axId val="2094734552"/>
        <c:scaling>
          <c:orientation val="minMax"/>
          <c:max val="2200000"/>
          <c:min val="0"/>
        </c:scaling>
        <c:delete val="0"/>
        <c:axPos val="l"/>
        <c:majorGridlines>
          <c:spPr>
            <a:ln w="9525" cap="flat">
              <a:solidFill>
                <a:srgbClr val="D9E2E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73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F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Topic F challenges us to build a wallet that is useful to agents without handing full financial control to the AI. Astra answers by limiting authority according to the owner's policy and enforcing those limits again in the smart contract.
Core message: Astra helps an agent buy services, but the model does not hold the wallet. The owner sets permissions, the API validates quotes, the worker keeps transactions durable, and the Guardian checks fund limits on-chain.
Visual: owner → Astra → Guardian-protected smart account → provider, with a policy line between the agent and the funds. Suggested total: 8–10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We build at the meeting point of agentic commerce and account abstraction. The core value is not just an AI that can create transactions, but a way to delegate one task with limits that can be inspected. The model is a component that can be wrong; its authority must stay bounded even when its output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This example stresses the end-to-end flow. Payment and service are not the same event: the status "paid" does not automatically mean the database can be used. The UI shows a draft and asks for explicit review before a task is released to the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TypeScript connects the UI, API, planner, persistence, and worker. Solidity implements the Guardian execution policy. GPT-OSS only returns structured output. The model does not choose the recipient or the final price, and it does not interact with private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5–6, about 1:00 together] Trust boundaries show up in three places: the model only plans, the worker only has a limited session, and the Guardian enforces policy when the operation executes. Draft and queued are not transactions; "completed" requires evidence of the service.
Diagram (from the source): Owner/MetaMask → login + policy/session authorization → Next.js dashboard → Fastify API ↔ Astra planner / provider agent → quote signature + deterministic validation → PostgreSQL task store → reviewed queue + worker lease → persist exact operation/hash BEFORE network send → UserOperation → Bundler → EntryPoint 0.7 → Kernel 0.3.1 → GuardianPayments → settlement/reconciliation → provider fulfillment → signature + service probe → paid / completed / needs_review.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steps: 1) The owner signs the login nonce and authorizes policy/session. 2) Astra interprets the goal; the provider signer issues an EIP-712 catalog quote. 3) The API checks signature, account, token, price, recipient, budget, and expiry, then creates a draft. 4) The owner reviews the invoice and selects the tasks to queue. 5) The worker locks account/task, rereads state, validates, signs, and stores the attempt before sending. 6) Guardian checks limits and pays atomically; the worker matches receipt/events. 7) The provider delivers; the worker checks the receipt and probe. A delivery failure does not repeat the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about 0:40; trim elsewhere if you need to stay within 10 minutes.] Escrow is an opt-in mode, with separate selectors, and not a hidden permission on the direct path.
In direct settlement, the provider is paid after quote and policy validation and delivery is checked afterwards; if the provider fails, the task can sit in service_pending for owner attention. In escrow mode, the smart account moves one authenticated invoice into the Guardian contract. The provider signer gives an EIP-712 delivery attestation to release the funds; after a maximum 24-hour deadline anyone can trigger a refund to the smart account. The invoice ID stays consumed after a refund to prevent replay, so buying again needs a new quote/invoice. The staged service is tested internally before the attestation releases funds, and user-facing activation waits for the release receipt.
Limits to say out loud: the attestation proves the signer declared the service ready, not its quality or existence; the signer is an oracle/trust assumption. Escrow supports one invoice per operation and no batching. It was tested on a fork and one separate owner-authorized Base Sepolia demo; the older direct-settlement account stays separate. (Source: technical documentation §5.6 and security self-assessment, direct vs. escrow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The owner holds root permission. The agent session can only enter through Guardian selectors. The contract checks invoice and aggregate limits; every transfer in a batch must succeed or the whole batch reverts. Escrow is an opt-in mode with separate selectors, not a hidden permission on the direct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The strongest data for framing the problem is Visa's new survey: AI-assistant usage is already higher than the willingness to trust GenAI with transactions. That supports the need for control and trust. Stripe and Coinbase show products being built; company product figures must not be quoted as a measure of the whole market.
Interpretation: the industry points in two directions — buying experiences through agents (Stripe) and a trust layer / payment network (Visa), plus SDKs for on-chain agents (Coinbase). Astra focuses on a narrower layer: wallet policy, invoice binding, payment queue, and delivery proof. It is complementary/adjacent, not a claim to replace those payment networks.
Fine print for Q&amp;A: the Stripe/OpenAI "1 million+ Shopify merchants" is a roadmap claim as of 29 Sep 2025. The Coinbase counts come from the README reviewed and GitHub metrics are dynamic; they are not user-adoption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10–11 together about 1:10] The 60/60 figure mixes attack objectives with benign and wait controls; it is not 60 unique attack types. The baseline's six schema errors are labelled inconclusive. We keep model evaluation and contract enforcement separate: the first measures the model's responses; the second uses adversarial payloads to test Kernel/Guardian authorization directly (next slide).
After the schema/prompt fix: planner 16/16, buyer 16/16, provider 12/12, vendor 16/16.
MANDATORY CAVEAT (say it aloud): the model test ran on the same corpus after the fix, so it is an in-sample regression, not a held-out benchmark, independent audit, proof of immunity to prompt injection, or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Authorization test, separate from the model evaluation: on an isolated Base Sepolia fork, the restricted Kernel session allows the legitimate payment route and rejects direct transfer, infinite approval, admin, transferFrom, the permit selector, a mixed approval batch, nested Kernel execution, delegatecall, a compromised-planner drain, and operations after the owner revokes the session. The lost-response path recovers with one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For four invoices, the median gas of the enclosing transaction dropped 58.59%; for seven invoices, 67.87%. All service amounts stay the same and under the daily cap. Because the fee model is not full-stack and comes from a fork, present this as an experimental gas efficiency, not as dollar savings.
Raw median gas: 4 invoices — single (4 operations) 1,086,084 vs. batch (1 operation) 449,692. 7 invoices — single (7 operations) 1,870,809 vs. batch (1 operation) 600,987. EntryPoint gas reduction: 70.42% and 80.83%; it is a secondary metric because it is affected by fixed gas estimates and unused-gas penalty.
Defaults: BATCH_MAX_SIZE=1 and BATCH_WINDOW_MS=0; a maximum batch of 10 and a 30-second wait are opt-in. Do not say "$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This pattern solves the failure class "the network may have accepted the operation, but the client got no response." The database becomes a durable journal before the operation leaves. The worker prefers reconciliation from chain evidence over trying a new payment. One successful recovery scenario is not a claim of global exactly-once delivery or uptime.
Evidence: lost-response on an actual Kernel fork — 1 send, the attempt recovered to paid, no second send in the tested scenario. PGlite/process-restart test — a second worker read the durable attempt and reconciled, creating no new operation. Reconciliation fixtures cover reorg, nonce mismatch/advance, partial settlement, consumed ID without receipt, head lag, RPC timeout, outer revert, and confirmation delays. Public AI-01 — one Base Sepolia transaction of 0.26 MockUSD, one matching settlement event, delivery signature and a fresh PostgreSQL probe/write-read verified; 102 confirmations were checked at verification time. Browser reviewer over HTTPS — procurement to probe/write-read took 11,276 ms in one run; contract execution used a disposable fork. This one-run number is not a p95 or an 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13–14 together about 0:45] What exists: owner-controlled setup/dashboard, Astra assistant, fixed quote catalog, contract policy, direct payment, opt-in escrow, queue batching, reviewer sandbox. Evidence: an earlier public testnet procurement; live GPT-OSS evaluation; actual Kernel/Guardian fork tests; the batching benchmark; lost-response recovery tests. Limits: no independent audit or formal verification; testnet is not mainnet; fee cost is not all-in; the provider signature is a trust assumption; Free/Trial deployment is not an SLA. Next: a held-out red-team corpus, an external audit, load/reorg/multi-process testing, all-in production cost, and owner usability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"Astra is not an LLM given a full wallet. Astra is an intent layer on top of narrow, auditable owner authority. We have tested the payment path, adversarial model behavior, batching, and recovery, stating the evidence limits explicitly. The next target is to broaden independent evaluation before making this system suitable for real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demo flow from the source. The prompt is an Indonesian-language example in the original material: “Sewa database 1 MB selama 1 jam sesuai kebijakan wallet saya.”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backup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backup (2/2). The escrow answer is based on the technical documentation §5.6 and the security self-assessment (escrow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Industry sources accessed 19 October 2026. Company figures and programs are company claims or releases, not independent market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640080" y="1188720"/>
            <a:ext cx="1088136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1"/>
          <p:cNvSpPr/>
          <p:nvPr>
            <p:ph idx="102" type="body" hasCustomPrompt="1"/>
          </p:nvPr>
        </p:nvSpPr>
        <p:spPr>
          <a:xfrm>
            <a:off x="640080" y="2377440"/>
            <a:ext cx="10881360" cy="914400"/>
          </a:xfrm>
          <a:prstGeom prst="rect">
            <a:avLst/>
          </a:prstGeom>
          <a:noFill/>
          <a:ln/>
        </p:spPr>
        <p:txBody>
          <a:bodyPr wrap="square" rtlCol="0"/>
          <a:lstStyle>
            <a:lvl1pPr algn="l" indent="0" marL="0">
              <a:buNone/>
              <a:defRPr lang="en-US" sz="2400" dirty="0">
                <a:solidFill>
                  <a:schemeClr val="bg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640080" y="2286000"/>
            <a:ext cx="1088136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1"/>
          <p:cNvSpPr/>
          <p:nvPr>
            <p:ph idx="102" type="body" hasCustomPrompt="1"/>
          </p:nvPr>
        </p:nvSpPr>
        <p:spPr>
          <a:xfrm>
            <a:off x="640080" y="3566160"/>
            <a:ext cx="10881360" cy="64008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Guardian Wallet: Astra  ·  International Track  ·  Topic F: Agent Wallet</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548640" y="320040"/>
            <a:ext cx="11091672"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1"/>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Guardian Wallet: Astra  ·  International Track  ·  Topic F: Agent Wallet</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sepolia.basescan.org/tx/0x7cd8b34b835cb34b65d5d3484d81541874b225e7d5fb345f5c9514ad20fdd86d" TargetMode="Externa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5.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usa.visa.com/about-visa/newsroom/press-releases.releaseId.22736.html" TargetMode="External"/><Relationship Id="rId2" Type="http://schemas.openxmlformats.org/officeDocument/2006/relationships/hyperlink" Target="https://stripe.com/newsroom/news/stripe-openai-instant-checkout" TargetMode="External"/><Relationship Id="rId3" Type="http://schemas.openxmlformats.org/officeDocument/2006/relationships/hyperlink" Target="https://stripe.com/newsroom/news/agentic-commerce-suite" TargetMode="External"/><Relationship Id="rId4" Type="http://schemas.openxmlformats.org/officeDocument/2006/relationships/hyperlink" Target="https://github.com/coinbase/agentkit" TargetMode="External"/><Relationship Id="rId5" Type="http://schemas.openxmlformats.org/officeDocument/2006/relationships/hyperlink" Target="https://genai.owasp.org/llm-top-10/" TargetMode="External"/><Relationship Id="rId6" Type="http://schemas.openxmlformats.org/officeDocument/2006/relationships/hyperlink" Target="https://eips.ethereum.org/EIPS/eip-4337" TargetMode="External"/><Relationship Id="rId7" Type="http://schemas.openxmlformats.org/officeDocument/2006/relationships/hyperlink" Target="https://eips.ethereum.org/EIPS/eip-7579" TargetMode="External"/><Relationship Id="rId8" Type="http://schemas.openxmlformats.org/officeDocument/2006/relationships/slideLayout" Target="../slideLayouts/slideLayout4.xml"/><Relationship Id="rId9"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 International Track  ·  Topic F: Agent Wallet"/>
          <p:cNvSpPr/>
          <p:nvPr/>
        </p:nvSpPr>
        <p:spPr>
          <a:xfrm>
            <a:off x="640080" y="594360"/>
            <a:ext cx="4297680" cy="411480"/>
          </a:xfrm>
          <a:prstGeom prst="roundRect">
            <a:avLst>
              <a:gd name="adj" fmla="val 22222"/>
            </a:avLst>
          </a:prstGeom>
          <a:noFill/>
          <a:ln w="15875">
            <a:solidFill>
              <a:schemeClr val="accent1"/>
            </a:solidFill>
            <a:prstDash val="solid"/>
          </a:ln>
        </p:spPr>
      </p:sp>
      <p:sp>
        <p:nvSpPr>
          <p:cNvPr id="3" name="Text 1"/>
          <p:cNvSpPr txBox="1"/>
          <p:nvPr/>
        </p:nvSpPr>
        <p:spPr>
          <a:xfrm>
            <a:off x="713232" y="594360"/>
            <a:ext cx="4151376" cy="411480"/>
          </a:xfrm>
          <a:prstGeom prst="rect">
            <a:avLst/>
          </a:prstGeom>
          <a:noFill/>
          <a:ln/>
        </p:spPr>
        <p:txBody>
          <a:bodyPr wrap="square" lIns="0" tIns="0" rIns="0" bIns="0" rtlCol="0" anchor="ctr"/>
          <a:lstStyle/>
          <a:p>
            <a:pPr algn="ctr" indent="0" marL="0">
              <a:buNone/>
            </a:pPr>
            <a:r>
              <a:rPr lang="en-US" sz="1400" b="1" dirty="0">
                <a:solidFill>
                  <a:schemeClr val="accent6"/>
                </a:solidFill>
              </a:rPr>
              <a:t>International Track  ·  Topic F: Agent Wallet</a:t>
            </a:r>
            <a:endParaRPr lang="en-US" sz="1400" dirty="0"/>
          </a:p>
        </p:txBody>
      </p:sp>
      <p:sp>
        <p:nvSpPr>
          <p:cNvPr id="4" name="Text 1"/>
          <p:cNvSpPr/>
          <p:nvPr>
            <p:ph idx="101" type="title" hasCustomPrompt="1"/>
          </p:nvPr>
        </p:nvSpPr>
        <p:spPr>
          <a:xfrm>
            <a:off x="640080" y="1188720"/>
            <a:ext cx="10881360" cy="1097280"/>
          </a:xfrm>
          <a:prstGeom prst="rect">
            <a:avLst/>
          </a:prstGeom>
          <a:noFill/>
          <a:ln/>
        </p:spPr>
        <p:txBody>
          <a:bodyPr wrap="square" lIns="0" tIns="0" rIns="0" bIns="0" rtlCol="0" anchor="ctr"/>
          <a:lstStyle/>
          <a:p>
            <a:pPr algn="l" indent="0" marL="0">
              <a:buNone/>
            </a:pPr>
            <a:r>
              <a:rPr lang="en-US" sz="5400" b="1" dirty="0">
                <a:solidFill>
                  <a:schemeClr val="bg1"/>
                </a:solidFill>
              </a:rPr>
              <a:t>Guardian Wallet: Astra</a:t>
            </a:r>
            <a:endParaRPr lang="en-US" sz="5400" dirty="0"/>
          </a:p>
        </p:txBody>
      </p:sp>
      <p:sp>
        <p:nvSpPr>
          <p:cNvPr id="5" name="Text 1"/>
          <p:cNvSpPr/>
          <p:nvPr>
            <p:ph idx="102" type="body" hasCustomPrompt="1"/>
          </p:nvPr>
        </p:nvSpPr>
        <p:spPr>
          <a:xfrm>
            <a:off x="640080" y="2377440"/>
            <a:ext cx="10881360" cy="914400"/>
          </a:xfrm>
          <a:prstGeom prst="rect">
            <a:avLst/>
          </a:prstGeom>
          <a:noFill/>
          <a:ln/>
        </p:spPr>
        <p:txBody>
          <a:bodyPr wrap="square" lIns="0" tIns="0" rIns="0" bIns="0" rtlCol="0" anchor="t"/>
          <a:lstStyle/>
          <a:p>
            <a:pPr algn="l" indent="0" marL="0">
              <a:buNone/>
            </a:pPr>
            <a:r>
              <a:rPr lang="en-US" sz="2400" dirty="0">
                <a:solidFill>
                  <a:schemeClr val="bg1"/>
                </a:solidFill>
              </a:rPr>
              <a:t>An Owner-Controlled Agent Wallet with Bounded On-Chain Authority</a:t>
            </a:r>
            <a:endParaRPr lang="en-US" sz="2400" dirty="0"/>
          </a:p>
        </p:txBody>
      </p:sp>
      <p:sp>
        <p:nvSpPr>
          <p:cNvPr id="6" name="Text 4"/>
          <p:cNvSpPr txBox="1"/>
          <p:nvPr/>
        </p:nvSpPr>
        <p:spPr>
          <a:xfrm>
            <a:off x="640080" y="3337560"/>
            <a:ext cx="10515600" cy="411480"/>
          </a:xfrm>
          <a:prstGeom prst="rect">
            <a:avLst/>
          </a:prstGeom>
          <a:noFill/>
          <a:ln/>
        </p:spPr>
        <p:txBody>
          <a:bodyPr wrap="square" lIns="0" tIns="0" rIns="0" bIns="0" rtlCol="0" anchor="t"/>
          <a:lstStyle/>
          <a:p>
            <a:pPr indent="0" marL="0">
              <a:buNone/>
            </a:pPr>
            <a:r>
              <a:rPr lang="en-US" sz="1800" i="1" dirty="0">
                <a:solidFill>
                  <a:schemeClr val="accent6"/>
                </a:solidFill>
              </a:rPr>
              <a:t>AI-assisted procurement. Owner-controlled wallet. Bounded on-chain execution.</a:t>
            </a:r>
            <a:endParaRPr lang="en-US" sz="1800" dirty="0"/>
          </a:p>
        </p:txBody>
      </p:sp>
      <p:sp>
        <p:nvSpPr>
          <p:cNvPr id="7" name="Node Owner"/>
          <p:cNvSpPr/>
          <p:nvPr/>
        </p:nvSpPr>
        <p:spPr>
          <a:xfrm>
            <a:off x="640080" y="4023360"/>
            <a:ext cx="1783080" cy="1691640"/>
          </a:xfrm>
          <a:prstGeom prst="roundRect">
            <a:avLst>
              <a:gd name="adj" fmla="val 6486"/>
            </a:avLst>
          </a:prstGeom>
          <a:solidFill>
            <a:schemeClr val="tx2"/>
          </a:solidFill>
          <a:ln/>
        </p:spPr>
      </p:sp>
      <p:sp>
        <p:nvSpPr>
          <p:cNvPr id="8" name="Icon circle Owner"/>
          <p:cNvSpPr/>
          <p:nvPr/>
        </p:nvSpPr>
        <p:spPr>
          <a:xfrm>
            <a:off x="1211580" y="4224528"/>
            <a:ext cx="640080" cy="640080"/>
          </a:xfrm>
          <a:prstGeom prst="ellipse">
            <a:avLst/>
          </a:prstGeom>
          <a:solidFill>
            <a:schemeClr val="accent1"/>
          </a:solidFill>
          <a:ln/>
        </p:spPr>
      </p:sp>
      <p:pic>
        <p:nvPicPr>
          <p:cNvPr id="9" name="Icon Owner" descr="Owner">    </p:cNvPr>
          <p:cNvPicPr>
            <a:picLocks noChangeAspect="1"/>
          </p:cNvPicPr>
          <p:nvPr/>
        </p:nvPicPr>
        <p:blipFill>
          <a:blip r:embed="rId1"/>
          <a:stretch>
            <a:fillRect/>
          </a:stretch>
        </p:blipFill>
        <p:spPr>
          <a:xfrm>
            <a:off x="1371600" y="4384548"/>
            <a:ext cx="320040" cy="320040"/>
          </a:xfrm>
          <a:prstGeom prst="rect">
            <a:avLst/>
          </a:prstGeom>
        </p:spPr>
      </p:pic>
      <p:sp>
        <p:nvSpPr>
          <p:cNvPr id="10" name="Text 7"/>
          <p:cNvSpPr txBox="1"/>
          <p:nvPr/>
        </p:nvSpPr>
        <p:spPr>
          <a:xfrm>
            <a:off x="640080" y="4965192"/>
            <a:ext cx="1783080" cy="320040"/>
          </a:xfrm>
          <a:prstGeom prst="rect">
            <a:avLst/>
          </a:prstGeom>
          <a:noFill/>
          <a:ln/>
        </p:spPr>
        <p:txBody>
          <a:bodyPr wrap="square" lIns="0" tIns="0" rIns="0" bIns="0" rtlCol="0" anchor="t"/>
          <a:lstStyle/>
          <a:p>
            <a:pPr algn="ctr" indent="0" marL="0">
              <a:buNone/>
            </a:pPr>
            <a:r>
              <a:rPr lang="en-US" sz="1800" b="1" dirty="0">
                <a:solidFill>
                  <a:schemeClr val="bg1"/>
                </a:solidFill>
              </a:rPr>
              <a:t>Owner</a:t>
            </a:r>
            <a:endParaRPr lang="en-US" sz="1800" dirty="0"/>
          </a:p>
        </p:txBody>
      </p:sp>
      <p:sp>
        <p:nvSpPr>
          <p:cNvPr id="11" name="Text 8"/>
          <p:cNvSpPr txBox="1"/>
          <p:nvPr/>
        </p:nvSpPr>
        <p:spPr>
          <a:xfrm>
            <a:off x="640080" y="5303520"/>
            <a:ext cx="1783080" cy="274320"/>
          </a:xfrm>
          <a:prstGeom prst="rect">
            <a:avLst/>
          </a:prstGeom>
          <a:noFill/>
          <a:ln/>
        </p:spPr>
        <p:txBody>
          <a:bodyPr wrap="square" lIns="0" tIns="0" rIns="0" bIns="0" rtlCol="0" anchor="t"/>
          <a:lstStyle/>
          <a:p>
            <a:pPr algn="ctr" indent="0" marL="0">
              <a:buNone/>
            </a:pPr>
            <a:r>
              <a:rPr lang="en-US" sz="1400" dirty="0">
                <a:solidFill>
                  <a:schemeClr val="accent6"/>
                </a:solidFill>
              </a:rPr>
              <a:t>sets the policy</a:t>
            </a:r>
            <a:endParaRPr lang="en-US" sz="1400" dirty="0"/>
          </a:p>
        </p:txBody>
      </p:sp>
      <p:sp>
        <p:nvSpPr>
          <p:cNvPr id="12" name="Arrow"/>
          <p:cNvSpPr/>
          <p:nvPr/>
        </p:nvSpPr>
        <p:spPr>
          <a:xfrm>
            <a:off x="2512314" y="4741164"/>
            <a:ext cx="347472" cy="256032"/>
          </a:xfrm>
          <a:prstGeom prst="rightArrow">
            <a:avLst/>
          </a:prstGeom>
          <a:solidFill>
            <a:schemeClr val="accent1"/>
          </a:solidFill>
          <a:ln/>
        </p:spPr>
      </p:sp>
      <p:sp>
        <p:nvSpPr>
          <p:cNvPr id="13" name="Node Astra"/>
          <p:cNvSpPr/>
          <p:nvPr/>
        </p:nvSpPr>
        <p:spPr>
          <a:xfrm>
            <a:off x="2948940" y="4023360"/>
            <a:ext cx="1783080" cy="1691640"/>
          </a:xfrm>
          <a:prstGeom prst="roundRect">
            <a:avLst>
              <a:gd name="adj" fmla="val 6486"/>
            </a:avLst>
          </a:prstGeom>
          <a:solidFill>
            <a:schemeClr val="tx2"/>
          </a:solidFill>
          <a:ln/>
        </p:spPr>
      </p:sp>
      <p:sp>
        <p:nvSpPr>
          <p:cNvPr id="14" name="Icon circle Astra"/>
          <p:cNvSpPr/>
          <p:nvPr/>
        </p:nvSpPr>
        <p:spPr>
          <a:xfrm>
            <a:off x="3520440" y="4224528"/>
            <a:ext cx="640080" cy="640080"/>
          </a:xfrm>
          <a:prstGeom prst="ellipse">
            <a:avLst/>
          </a:prstGeom>
          <a:solidFill>
            <a:schemeClr val="accent1"/>
          </a:solidFill>
          <a:ln/>
        </p:spPr>
      </p:sp>
      <p:pic>
        <p:nvPicPr>
          <p:cNvPr id="15" name="Icon Astra" descr="Astra">    </p:cNvPr>
          <p:cNvPicPr>
            <a:picLocks noChangeAspect="1"/>
          </p:cNvPicPr>
          <p:nvPr/>
        </p:nvPicPr>
        <p:blipFill>
          <a:blip r:embed="rId2"/>
          <a:stretch>
            <a:fillRect/>
          </a:stretch>
        </p:blipFill>
        <p:spPr>
          <a:xfrm>
            <a:off x="3680460" y="4384548"/>
            <a:ext cx="320040" cy="320040"/>
          </a:xfrm>
          <a:prstGeom prst="rect">
            <a:avLst/>
          </a:prstGeom>
        </p:spPr>
      </p:pic>
      <p:sp>
        <p:nvSpPr>
          <p:cNvPr id="16" name="Text 12"/>
          <p:cNvSpPr txBox="1"/>
          <p:nvPr/>
        </p:nvSpPr>
        <p:spPr>
          <a:xfrm>
            <a:off x="2948940" y="4965192"/>
            <a:ext cx="1783080" cy="320040"/>
          </a:xfrm>
          <a:prstGeom prst="rect">
            <a:avLst/>
          </a:prstGeom>
          <a:noFill/>
          <a:ln/>
        </p:spPr>
        <p:txBody>
          <a:bodyPr wrap="square" lIns="0" tIns="0" rIns="0" bIns="0" rtlCol="0" anchor="t"/>
          <a:lstStyle/>
          <a:p>
            <a:pPr algn="ctr" indent="0" marL="0">
              <a:buNone/>
            </a:pPr>
            <a:r>
              <a:rPr lang="en-US" sz="1800" b="1" dirty="0">
                <a:solidFill>
                  <a:schemeClr val="bg1"/>
                </a:solidFill>
              </a:rPr>
              <a:t>Astra</a:t>
            </a:r>
            <a:endParaRPr lang="en-US" sz="1800" dirty="0"/>
          </a:p>
        </p:txBody>
      </p:sp>
      <p:sp>
        <p:nvSpPr>
          <p:cNvPr id="17" name="Text 13"/>
          <p:cNvSpPr txBox="1"/>
          <p:nvPr/>
        </p:nvSpPr>
        <p:spPr>
          <a:xfrm>
            <a:off x="2948940" y="5303520"/>
            <a:ext cx="1783080" cy="274320"/>
          </a:xfrm>
          <a:prstGeom prst="rect">
            <a:avLst/>
          </a:prstGeom>
          <a:noFill/>
          <a:ln/>
        </p:spPr>
        <p:txBody>
          <a:bodyPr wrap="square" lIns="0" tIns="0" rIns="0" bIns="0" rtlCol="0" anchor="t"/>
          <a:lstStyle/>
          <a:p>
            <a:pPr algn="ctr" indent="0" marL="0">
              <a:buNone/>
            </a:pPr>
            <a:r>
              <a:rPr lang="en-US" sz="1400" dirty="0">
                <a:solidFill>
                  <a:schemeClr val="accent6"/>
                </a:solidFill>
              </a:rPr>
              <a:t>AI agent</a:t>
            </a:r>
            <a:endParaRPr lang="en-US" sz="1400" dirty="0"/>
          </a:p>
        </p:txBody>
      </p:sp>
      <p:sp>
        <p:nvSpPr>
          <p:cNvPr id="18" name="Arrow"/>
          <p:cNvSpPr/>
          <p:nvPr/>
        </p:nvSpPr>
        <p:spPr>
          <a:xfrm>
            <a:off x="4821174" y="4741164"/>
            <a:ext cx="347472" cy="256032"/>
          </a:xfrm>
          <a:prstGeom prst="rightArrow">
            <a:avLst/>
          </a:prstGeom>
          <a:solidFill>
            <a:schemeClr val="accent1"/>
          </a:solidFill>
          <a:ln/>
        </p:spPr>
      </p:sp>
      <p:sp>
        <p:nvSpPr>
          <p:cNvPr id="19" name="Node Guardian"/>
          <p:cNvSpPr/>
          <p:nvPr/>
        </p:nvSpPr>
        <p:spPr>
          <a:xfrm>
            <a:off x="5257800" y="4023360"/>
            <a:ext cx="1783080" cy="1691640"/>
          </a:xfrm>
          <a:prstGeom prst="roundRect">
            <a:avLst>
              <a:gd name="adj" fmla="val 6486"/>
            </a:avLst>
          </a:prstGeom>
          <a:solidFill>
            <a:schemeClr val="tx2"/>
          </a:solidFill>
          <a:ln w="28575">
            <a:solidFill>
              <a:schemeClr val="accent2"/>
            </a:solidFill>
            <a:prstDash val="solid"/>
          </a:ln>
        </p:spPr>
      </p:sp>
      <p:sp>
        <p:nvSpPr>
          <p:cNvPr id="20" name="Icon circle Guardian"/>
          <p:cNvSpPr/>
          <p:nvPr/>
        </p:nvSpPr>
        <p:spPr>
          <a:xfrm>
            <a:off x="5829300" y="4224528"/>
            <a:ext cx="640080" cy="640080"/>
          </a:xfrm>
          <a:prstGeom prst="ellipse">
            <a:avLst/>
          </a:prstGeom>
          <a:solidFill>
            <a:schemeClr val="accent2"/>
          </a:solidFill>
          <a:ln/>
        </p:spPr>
      </p:sp>
      <p:pic>
        <p:nvPicPr>
          <p:cNvPr id="21" name="Icon Guardian" descr="Guardian">    </p:cNvPr>
          <p:cNvPicPr>
            <a:picLocks noChangeAspect="1"/>
          </p:cNvPicPr>
          <p:nvPr/>
        </p:nvPicPr>
        <p:blipFill>
          <a:blip r:embed="rId3"/>
          <a:stretch>
            <a:fillRect/>
          </a:stretch>
        </p:blipFill>
        <p:spPr>
          <a:xfrm>
            <a:off x="5989320" y="4384548"/>
            <a:ext cx="320040" cy="320040"/>
          </a:xfrm>
          <a:prstGeom prst="rect">
            <a:avLst/>
          </a:prstGeom>
        </p:spPr>
      </p:pic>
      <p:sp>
        <p:nvSpPr>
          <p:cNvPr id="22" name="Text 17"/>
          <p:cNvSpPr txBox="1"/>
          <p:nvPr/>
        </p:nvSpPr>
        <p:spPr>
          <a:xfrm>
            <a:off x="5257800" y="4965192"/>
            <a:ext cx="1783080" cy="320040"/>
          </a:xfrm>
          <a:prstGeom prst="rect">
            <a:avLst/>
          </a:prstGeom>
          <a:noFill/>
          <a:ln/>
        </p:spPr>
        <p:txBody>
          <a:bodyPr wrap="square" lIns="0" tIns="0" rIns="0" bIns="0" rtlCol="0" anchor="t"/>
          <a:lstStyle/>
          <a:p>
            <a:pPr algn="ctr" indent="0" marL="0">
              <a:buNone/>
            </a:pPr>
            <a:r>
              <a:rPr lang="en-US" sz="1800" b="1" dirty="0">
                <a:solidFill>
                  <a:schemeClr val="bg1"/>
                </a:solidFill>
              </a:rPr>
              <a:t>Guardian</a:t>
            </a:r>
            <a:endParaRPr lang="en-US" sz="1800" dirty="0"/>
          </a:p>
        </p:txBody>
      </p:sp>
      <p:sp>
        <p:nvSpPr>
          <p:cNvPr id="23" name="Text 18"/>
          <p:cNvSpPr txBox="1"/>
          <p:nvPr/>
        </p:nvSpPr>
        <p:spPr>
          <a:xfrm>
            <a:off x="5257800" y="5303520"/>
            <a:ext cx="1783080" cy="274320"/>
          </a:xfrm>
          <a:prstGeom prst="rect">
            <a:avLst/>
          </a:prstGeom>
          <a:noFill/>
          <a:ln/>
        </p:spPr>
        <p:txBody>
          <a:bodyPr wrap="square" lIns="0" tIns="0" rIns="0" bIns="0" rtlCol="0" anchor="t"/>
          <a:lstStyle/>
          <a:p>
            <a:pPr algn="ctr" indent="0" marL="0">
              <a:buNone/>
            </a:pPr>
            <a:r>
              <a:rPr lang="en-US" sz="1400" dirty="0">
                <a:solidFill>
                  <a:schemeClr val="accent6"/>
                </a:solidFill>
              </a:rPr>
              <a:t>policy enforcement</a:t>
            </a:r>
            <a:endParaRPr lang="en-US" sz="1400" dirty="0"/>
          </a:p>
        </p:txBody>
      </p:sp>
      <p:sp>
        <p:nvSpPr>
          <p:cNvPr id="24" name="Arrow"/>
          <p:cNvSpPr/>
          <p:nvPr/>
        </p:nvSpPr>
        <p:spPr>
          <a:xfrm>
            <a:off x="7130034" y="4741164"/>
            <a:ext cx="347472" cy="256032"/>
          </a:xfrm>
          <a:prstGeom prst="rightArrow">
            <a:avLst/>
          </a:prstGeom>
          <a:solidFill>
            <a:schemeClr val="accent1"/>
          </a:solidFill>
          <a:ln/>
        </p:spPr>
      </p:sp>
      <p:sp>
        <p:nvSpPr>
          <p:cNvPr id="25" name="Node Smart account"/>
          <p:cNvSpPr/>
          <p:nvPr/>
        </p:nvSpPr>
        <p:spPr>
          <a:xfrm>
            <a:off x="7566660" y="4023360"/>
            <a:ext cx="1783080" cy="1691640"/>
          </a:xfrm>
          <a:prstGeom prst="roundRect">
            <a:avLst>
              <a:gd name="adj" fmla="val 6486"/>
            </a:avLst>
          </a:prstGeom>
          <a:solidFill>
            <a:schemeClr val="tx2"/>
          </a:solidFill>
          <a:ln/>
        </p:spPr>
      </p:sp>
      <p:sp>
        <p:nvSpPr>
          <p:cNvPr id="26" name="Icon circle Smart account"/>
          <p:cNvSpPr/>
          <p:nvPr/>
        </p:nvSpPr>
        <p:spPr>
          <a:xfrm>
            <a:off x="8138160" y="4224528"/>
            <a:ext cx="640080" cy="640080"/>
          </a:xfrm>
          <a:prstGeom prst="ellipse">
            <a:avLst/>
          </a:prstGeom>
          <a:solidFill>
            <a:schemeClr val="accent1"/>
          </a:solidFill>
          <a:ln/>
        </p:spPr>
      </p:sp>
      <p:pic>
        <p:nvPicPr>
          <p:cNvPr id="27" name="Icon Smart account" descr="Smart account">    </p:cNvPr>
          <p:cNvPicPr>
            <a:picLocks noChangeAspect="1"/>
          </p:cNvPicPr>
          <p:nvPr/>
        </p:nvPicPr>
        <p:blipFill>
          <a:blip r:embed="rId4"/>
          <a:stretch>
            <a:fillRect/>
          </a:stretch>
        </p:blipFill>
        <p:spPr>
          <a:xfrm>
            <a:off x="8298180" y="4384548"/>
            <a:ext cx="320040" cy="320040"/>
          </a:xfrm>
          <a:prstGeom prst="rect">
            <a:avLst/>
          </a:prstGeom>
        </p:spPr>
      </p:pic>
      <p:sp>
        <p:nvSpPr>
          <p:cNvPr id="28" name="Text 22"/>
          <p:cNvSpPr txBox="1"/>
          <p:nvPr/>
        </p:nvSpPr>
        <p:spPr>
          <a:xfrm>
            <a:off x="7566660" y="4965192"/>
            <a:ext cx="1783080" cy="320040"/>
          </a:xfrm>
          <a:prstGeom prst="rect">
            <a:avLst/>
          </a:prstGeom>
          <a:noFill/>
          <a:ln/>
        </p:spPr>
        <p:txBody>
          <a:bodyPr wrap="square" lIns="0" tIns="0" rIns="0" bIns="0" rtlCol="0" anchor="t"/>
          <a:lstStyle/>
          <a:p>
            <a:pPr algn="ctr" indent="0" marL="0">
              <a:buNone/>
            </a:pPr>
            <a:r>
              <a:rPr lang="en-US" sz="1800" b="1" dirty="0">
                <a:solidFill>
                  <a:schemeClr val="bg1"/>
                </a:solidFill>
              </a:rPr>
              <a:t>Smart account</a:t>
            </a:r>
            <a:endParaRPr lang="en-US" sz="1800" dirty="0"/>
          </a:p>
        </p:txBody>
      </p:sp>
      <p:sp>
        <p:nvSpPr>
          <p:cNvPr id="29" name="Text 23"/>
          <p:cNvSpPr txBox="1"/>
          <p:nvPr/>
        </p:nvSpPr>
        <p:spPr>
          <a:xfrm>
            <a:off x="7566660" y="5303520"/>
            <a:ext cx="1783080" cy="274320"/>
          </a:xfrm>
          <a:prstGeom prst="rect">
            <a:avLst/>
          </a:prstGeom>
          <a:noFill/>
          <a:ln/>
        </p:spPr>
        <p:txBody>
          <a:bodyPr wrap="square" lIns="0" tIns="0" rIns="0" bIns="0" rtlCol="0" anchor="t"/>
          <a:lstStyle/>
          <a:p>
            <a:pPr algn="ctr" indent="0" marL="0">
              <a:buNone/>
            </a:pPr>
            <a:r>
              <a:rPr lang="en-US" sz="1400" dirty="0">
                <a:solidFill>
                  <a:schemeClr val="accent6"/>
                </a:solidFill>
              </a:rPr>
              <a:t>holds the funds</a:t>
            </a:r>
            <a:endParaRPr lang="en-US" sz="1400" dirty="0"/>
          </a:p>
        </p:txBody>
      </p:sp>
      <p:sp>
        <p:nvSpPr>
          <p:cNvPr id="30" name="Arrow"/>
          <p:cNvSpPr/>
          <p:nvPr/>
        </p:nvSpPr>
        <p:spPr>
          <a:xfrm>
            <a:off x="9438894" y="4741164"/>
            <a:ext cx="347472" cy="256032"/>
          </a:xfrm>
          <a:prstGeom prst="rightArrow">
            <a:avLst/>
          </a:prstGeom>
          <a:solidFill>
            <a:schemeClr val="accent1"/>
          </a:solidFill>
          <a:ln/>
        </p:spPr>
      </p:sp>
      <p:sp>
        <p:nvSpPr>
          <p:cNvPr id="31" name="Node Provider"/>
          <p:cNvSpPr/>
          <p:nvPr/>
        </p:nvSpPr>
        <p:spPr>
          <a:xfrm>
            <a:off x="9875520" y="4023360"/>
            <a:ext cx="1783080" cy="1691640"/>
          </a:xfrm>
          <a:prstGeom prst="roundRect">
            <a:avLst>
              <a:gd name="adj" fmla="val 6486"/>
            </a:avLst>
          </a:prstGeom>
          <a:solidFill>
            <a:schemeClr val="tx2"/>
          </a:solidFill>
          <a:ln/>
        </p:spPr>
      </p:sp>
      <p:sp>
        <p:nvSpPr>
          <p:cNvPr id="32" name="Icon circle Provider"/>
          <p:cNvSpPr/>
          <p:nvPr/>
        </p:nvSpPr>
        <p:spPr>
          <a:xfrm>
            <a:off x="10447020" y="4224528"/>
            <a:ext cx="640080" cy="640080"/>
          </a:xfrm>
          <a:prstGeom prst="ellipse">
            <a:avLst/>
          </a:prstGeom>
          <a:solidFill>
            <a:schemeClr val="accent1"/>
          </a:solidFill>
          <a:ln/>
        </p:spPr>
      </p:sp>
      <p:pic>
        <p:nvPicPr>
          <p:cNvPr id="33" name="Icon Provider" descr="Provider">    </p:cNvPr>
          <p:cNvPicPr>
            <a:picLocks noChangeAspect="1"/>
          </p:cNvPicPr>
          <p:nvPr/>
        </p:nvPicPr>
        <p:blipFill>
          <a:blip r:embed="rId5"/>
          <a:stretch>
            <a:fillRect/>
          </a:stretch>
        </p:blipFill>
        <p:spPr>
          <a:xfrm>
            <a:off x="10607040" y="4384548"/>
            <a:ext cx="320040" cy="320040"/>
          </a:xfrm>
          <a:prstGeom prst="rect">
            <a:avLst/>
          </a:prstGeom>
        </p:spPr>
      </p:pic>
      <p:sp>
        <p:nvSpPr>
          <p:cNvPr id="34" name="Text 27"/>
          <p:cNvSpPr txBox="1"/>
          <p:nvPr/>
        </p:nvSpPr>
        <p:spPr>
          <a:xfrm>
            <a:off x="9875520" y="4965192"/>
            <a:ext cx="1783080" cy="320040"/>
          </a:xfrm>
          <a:prstGeom prst="rect">
            <a:avLst/>
          </a:prstGeom>
          <a:noFill/>
          <a:ln/>
        </p:spPr>
        <p:txBody>
          <a:bodyPr wrap="square" lIns="0" tIns="0" rIns="0" bIns="0" rtlCol="0" anchor="t"/>
          <a:lstStyle/>
          <a:p>
            <a:pPr algn="ctr" indent="0" marL="0">
              <a:buNone/>
            </a:pPr>
            <a:r>
              <a:rPr lang="en-US" sz="1800" b="1" dirty="0">
                <a:solidFill>
                  <a:schemeClr val="bg1"/>
                </a:solidFill>
              </a:rPr>
              <a:t>Provider</a:t>
            </a:r>
            <a:endParaRPr lang="en-US" sz="1800" dirty="0"/>
          </a:p>
        </p:txBody>
      </p:sp>
      <p:sp>
        <p:nvSpPr>
          <p:cNvPr id="35" name="Text 28"/>
          <p:cNvSpPr txBox="1"/>
          <p:nvPr/>
        </p:nvSpPr>
        <p:spPr>
          <a:xfrm>
            <a:off x="9875520" y="5303520"/>
            <a:ext cx="1783080" cy="274320"/>
          </a:xfrm>
          <a:prstGeom prst="rect">
            <a:avLst/>
          </a:prstGeom>
          <a:noFill/>
          <a:ln/>
        </p:spPr>
        <p:txBody>
          <a:bodyPr wrap="square" lIns="0" tIns="0" rIns="0" bIns="0" rtlCol="0" anchor="t"/>
          <a:lstStyle/>
          <a:p>
            <a:pPr algn="ctr" indent="0" marL="0">
              <a:buNone/>
            </a:pPr>
            <a:r>
              <a:rPr lang="en-US" sz="1400" dirty="0">
                <a:solidFill>
                  <a:schemeClr val="accent6"/>
                </a:solidFill>
              </a:rPr>
              <a:t>signed quotes</a:t>
            </a:r>
            <a:endParaRPr lang="en-US" sz="1400" dirty="0"/>
          </a:p>
        </p:txBody>
      </p:sp>
      <p:sp>
        <p:nvSpPr>
          <p:cNvPr id="36" name="Text 29"/>
          <p:cNvSpPr txBox="1"/>
          <p:nvPr/>
        </p:nvSpPr>
        <p:spPr>
          <a:xfrm>
            <a:off x="640080" y="5852160"/>
            <a:ext cx="10881360" cy="320040"/>
          </a:xfrm>
          <a:prstGeom prst="rect">
            <a:avLst/>
          </a:prstGeom>
          <a:noFill/>
          <a:ln/>
        </p:spPr>
        <p:txBody>
          <a:bodyPr wrap="square" lIns="0" tIns="0" rIns="0" bIns="0" rtlCol="0" anchor="t"/>
          <a:lstStyle/>
          <a:p>
            <a:pPr indent="0" marL="0">
              <a:buNone/>
            </a:pPr>
            <a:r>
              <a:rPr lang="en-US" sz="1400" i="1" dirty="0">
                <a:solidFill>
                  <a:schemeClr val="accent6"/>
                </a:solidFill>
              </a:rPr>
              <a:t>Astra: a wallet agent that pays for digital services through verified invoices.</a:t>
            </a:r>
            <a:endParaRPr lang="en-US" sz="1400" dirty="0"/>
          </a:p>
        </p:txBody>
      </p:sp>
      <p:sp>
        <p:nvSpPr>
          <p:cNvPr id="37" name="Text 30"/>
          <p:cNvSpPr txBox="1"/>
          <p:nvPr/>
        </p:nvSpPr>
        <p:spPr>
          <a:xfrm>
            <a:off x="640080" y="6309360"/>
            <a:ext cx="10881360" cy="274320"/>
          </a:xfrm>
          <a:prstGeom prst="rect">
            <a:avLst/>
          </a:prstGeom>
          <a:noFill/>
          <a:ln/>
        </p:spPr>
        <p:txBody>
          <a:bodyPr wrap="square" lIns="0" tIns="0" rIns="0" bIns="0" rtlCol="0" anchor="t"/>
          <a:lstStyle/>
          <a:p>
            <a:pPr indent="0" marL="0">
              <a:buNone/>
            </a:pPr>
            <a:r>
              <a:rPr lang="en-US" sz="1100" dirty="0">
                <a:solidFill>
                  <a:schemeClr val="bg1"/>
                </a:solidFill>
              </a:rPr>
              <a:t>Source snapshot: feat/batching-evaluation · commit b439c8f · evidence checked 19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why, and why now</a:t>
            </a:r>
            <a:endParaRPr lang="en-US" sz="3600" dirty="0"/>
          </a:p>
        </p:txBody>
      </p:sp>
      <p:sp>
        <p:nvSpPr>
          <p:cNvPr id="3" name="Card What"/>
          <p:cNvSpPr/>
          <p:nvPr/>
        </p:nvSpPr>
        <p:spPr>
          <a:xfrm>
            <a:off x="548640" y="1280160"/>
            <a:ext cx="3576218" cy="4114800"/>
          </a:xfrm>
          <a:prstGeom prst="roundRect">
            <a:avLst>
              <a:gd name="adj" fmla="val 3068"/>
            </a:avLst>
          </a:prstGeom>
          <a:solidFill>
            <a:schemeClr val="bg2"/>
          </a:solidFill>
          <a:ln/>
        </p:spPr>
      </p:sp>
      <p:sp>
        <p:nvSpPr>
          <p:cNvPr id="4" name="Text 2"/>
          <p:cNvSpPr txBox="1"/>
          <p:nvPr/>
        </p:nvSpPr>
        <p:spPr>
          <a:xfrm>
            <a:off x="749808" y="1389888"/>
            <a:ext cx="3173882" cy="320040"/>
          </a:xfrm>
          <a:prstGeom prst="rect">
            <a:avLst/>
          </a:prstGeom>
          <a:noFill/>
          <a:ln/>
        </p:spPr>
        <p:txBody>
          <a:bodyPr wrap="square" lIns="0" tIns="0" rIns="0" bIns="0" rtlCol="0" anchor="t"/>
          <a:lstStyle/>
          <a:p>
            <a:pPr indent="0" marL="0">
              <a:buNone/>
            </a:pPr>
            <a:r>
              <a:rPr lang="en-US" sz="2000" b="1" dirty="0">
                <a:solidFill>
                  <a:schemeClr val="tx2"/>
                </a:solidFill>
              </a:rPr>
              <a:t>What</a:t>
            </a:r>
            <a:endParaRPr lang="en-US" sz="2000" dirty="0"/>
          </a:p>
        </p:txBody>
      </p:sp>
      <p:sp>
        <p:nvSpPr>
          <p:cNvPr id="5" name="Text 3"/>
          <p:cNvSpPr txBox="1"/>
          <p:nvPr/>
        </p:nvSpPr>
        <p:spPr>
          <a:xfrm>
            <a:off x="749808" y="1755648"/>
            <a:ext cx="3173882" cy="3566160"/>
          </a:xfrm>
          <a:prstGeom prst="rect">
            <a:avLst/>
          </a:prstGeom>
          <a:noFill/>
          <a:ln/>
        </p:spPr>
        <p:txBody>
          <a:bodyPr wrap="square" lIns="0" tIns="0" rIns="0" bIns="0" rtlCol="0" anchor="t"/>
          <a:lstStyle/>
          <a:p>
            <a:pPr indent="0" marL="0">
              <a:buNone/>
            </a:pPr>
            <a:endParaRPr lang="en-US" sz="1400" dirty="0"/>
          </a:p>
        </p:txBody>
      </p:sp>
      <p:sp>
        <p:nvSpPr>
          <p:cNvPr id="6" name="Text 4"/>
          <p:cNvSpPr txBox="1"/>
          <p:nvPr/>
        </p:nvSpPr>
        <p:spPr>
          <a:xfrm>
            <a:off x="777240" y="1874520"/>
            <a:ext cx="3119018" cy="3474720"/>
          </a:xfrm>
          <a:prstGeom prst="rect">
            <a:avLst/>
          </a:prstGeom>
          <a:noFill/>
          <a:ln/>
        </p:spPr>
        <p:txBody>
          <a:bodyPr wrap="square" lIns="0" tIns="0" rIns="0" bIns="0" rtlCol="0" anchor="t"/>
          <a:lstStyle/>
          <a:p>
            <a:pPr indent="0" marL="0">
              <a:buNone/>
            </a:pPr>
            <a:r>
              <a:rPr lang="en-US" sz="1600" dirty="0">
                <a:solidFill>
                  <a:schemeClr val="tx1"/>
                </a:solidFill>
              </a:rPr>
              <a:t>A smart-account wallet that lets an agent propose and execute payments for specific services—within permissions the owner has already set.</a:t>
            </a:r>
            <a:endParaRPr lang="en-US" sz="1600" dirty="0"/>
          </a:p>
        </p:txBody>
      </p:sp>
      <p:sp>
        <p:nvSpPr>
          <p:cNvPr id="7" name="Card Why"/>
          <p:cNvSpPr/>
          <p:nvPr/>
        </p:nvSpPr>
        <p:spPr>
          <a:xfrm>
            <a:off x="4307738" y="1280160"/>
            <a:ext cx="3576218" cy="4114800"/>
          </a:xfrm>
          <a:prstGeom prst="roundRect">
            <a:avLst>
              <a:gd name="adj" fmla="val 3068"/>
            </a:avLst>
          </a:prstGeom>
          <a:solidFill>
            <a:schemeClr val="bg2"/>
          </a:solidFill>
          <a:ln/>
        </p:spPr>
      </p:sp>
      <p:sp>
        <p:nvSpPr>
          <p:cNvPr id="8" name="Text 6"/>
          <p:cNvSpPr txBox="1"/>
          <p:nvPr/>
        </p:nvSpPr>
        <p:spPr>
          <a:xfrm>
            <a:off x="4508906" y="1389888"/>
            <a:ext cx="3173882" cy="320040"/>
          </a:xfrm>
          <a:prstGeom prst="rect">
            <a:avLst/>
          </a:prstGeom>
          <a:noFill/>
          <a:ln/>
        </p:spPr>
        <p:txBody>
          <a:bodyPr wrap="square" lIns="0" tIns="0" rIns="0" bIns="0" rtlCol="0" anchor="t"/>
          <a:lstStyle/>
          <a:p>
            <a:pPr indent="0" marL="0">
              <a:buNone/>
            </a:pPr>
            <a:r>
              <a:rPr lang="en-US" sz="2000" b="1" dirty="0">
                <a:solidFill>
                  <a:schemeClr val="tx2"/>
                </a:solidFill>
              </a:rPr>
              <a:t>Why</a:t>
            </a:r>
            <a:endParaRPr lang="en-US" sz="2000" dirty="0"/>
          </a:p>
        </p:txBody>
      </p:sp>
      <p:sp>
        <p:nvSpPr>
          <p:cNvPr id="9" name="Text 7"/>
          <p:cNvSpPr txBox="1"/>
          <p:nvPr/>
        </p:nvSpPr>
        <p:spPr>
          <a:xfrm>
            <a:off x="4508906" y="1755648"/>
            <a:ext cx="3173882" cy="3566160"/>
          </a:xfrm>
          <a:prstGeom prst="rect">
            <a:avLst/>
          </a:prstGeom>
          <a:noFill/>
          <a:ln/>
        </p:spPr>
        <p:txBody>
          <a:bodyPr wrap="square" lIns="0" tIns="0" rIns="0" bIns="0" rtlCol="0" anchor="t"/>
          <a:lstStyle/>
          <a:p>
            <a:pPr indent="0" marL="0">
              <a:buNone/>
            </a:pPr>
            <a:endParaRPr lang="en-US" sz="1400" dirty="0"/>
          </a:p>
        </p:txBody>
      </p:sp>
      <p:sp>
        <p:nvSpPr>
          <p:cNvPr id="10" name="Text 8"/>
          <p:cNvSpPr txBox="1"/>
          <p:nvPr/>
        </p:nvSpPr>
        <p:spPr>
          <a:xfrm>
            <a:off x="4536338" y="1874520"/>
            <a:ext cx="3119018" cy="347472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chemeClr val="tx1"/>
                </a:solidFill>
              </a:rPr>
              <a:t>Agents increasingly finish work, not just answer questions.</a:t>
            </a:r>
            <a:endParaRPr lang="en-US" sz="1600" dirty="0"/>
          </a:p>
          <a:p>
            <a:pPr marL="177800" indent="-177800">
              <a:spcAft>
                <a:spcPts val="500"/>
              </a:spcAft>
              <a:buSzPct val="100000"/>
              <a:buChar char="•"/>
            </a:pPr>
            <a:r>
              <a:rPr lang="en-US" sz="1600" dirty="0">
                <a:solidFill>
                  <a:schemeClr val="tx1"/>
                </a:solidFill>
              </a:rPr>
              <a:t>Buying a service is a chain: request → quote → invoice → payment → delivery.</a:t>
            </a:r>
            <a:endParaRPr lang="en-US" sz="1600" dirty="0"/>
          </a:p>
          <a:p>
            <a:pPr marL="177800" indent="-177800">
              <a:spcAft>
                <a:spcPts val="500"/>
              </a:spcAft>
              <a:buSzPct val="100000"/>
              <a:buChar char="•"/>
            </a:pPr>
            <a:r>
              <a:rPr lang="en-US" sz="1600" dirty="0">
                <a:solidFill>
                  <a:schemeClr val="tx1"/>
                </a:solidFill>
              </a:rPr>
              <a:t>Giving a model a private key or free transaction access magnifies prompt injection and misreading.</a:t>
            </a:r>
            <a:endParaRPr lang="en-US" sz="1600" dirty="0"/>
          </a:p>
        </p:txBody>
      </p:sp>
      <p:sp>
        <p:nvSpPr>
          <p:cNvPr id="11" name="Card Why now"/>
          <p:cNvSpPr/>
          <p:nvPr/>
        </p:nvSpPr>
        <p:spPr>
          <a:xfrm>
            <a:off x="8066837" y="1280160"/>
            <a:ext cx="3576218" cy="4114800"/>
          </a:xfrm>
          <a:prstGeom prst="roundRect">
            <a:avLst>
              <a:gd name="adj" fmla="val 3068"/>
            </a:avLst>
          </a:prstGeom>
          <a:solidFill>
            <a:schemeClr val="bg2"/>
          </a:solidFill>
          <a:ln/>
        </p:spPr>
      </p:sp>
      <p:sp>
        <p:nvSpPr>
          <p:cNvPr id="12" name="Text 10"/>
          <p:cNvSpPr txBox="1"/>
          <p:nvPr/>
        </p:nvSpPr>
        <p:spPr>
          <a:xfrm>
            <a:off x="8268005" y="1389888"/>
            <a:ext cx="3173882" cy="320040"/>
          </a:xfrm>
          <a:prstGeom prst="rect">
            <a:avLst/>
          </a:prstGeom>
          <a:noFill/>
          <a:ln/>
        </p:spPr>
        <p:txBody>
          <a:bodyPr wrap="square" lIns="0" tIns="0" rIns="0" bIns="0" rtlCol="0" anchor="t"/>
          <a:lstStyle/>
          <a:p>
            <a:pPr indent="0" marL="0">
              <a:buNone/>
            </a:pPr>
            <a:r>
              <a:rPr lang="en-US" sz="2000" b="1" dirty="0">
                <a:solidFill>
                  <a:schemeClr val="tx2"/>
                </a:solidFill>
              </a:rPr>
              <a:t>Why now</a:t>
            </a:r>
            <a:endParaRPr lang="en-US" sz="2000" dirty="0"/>
          </a:p>
        </p:txBody>
      </p:sp>
      <p:sp>
        <p:nvSpPr>
          <p:cNvPr id="13" name="Text 11"/>
          <p:cNvSpPr txBox="1"/>
          <p:nvPr/>
        </p:nvSpPr>
        <p:spPr>
          <a:xfrm>
            <a:off x="8268005" y="1755648"/>
            <a:ext cx="3173882" cy="3566160"/>
          </a:xfrm>
          <a:prstGeom prst="rect">
            <a:avLst/>
          </a:prstGeom>
          <a:noFill/>
          <a:ln/>
        </p:spPr>
        <p:txBody>
          <a:bodyPr wrap="square" lIns="0" tIns="0" rIns="0" bIns="0" rtlCol="0" anchor="t"/>
          <a:lstStyle/>
          <a:p>
            <a:pPr indent="0" marL="0">
              <a:buNone/>
            </a:pPr>
            <a:endParaRPr lang="en-US" sz="1400" dirty="0"/>
          </a:p>
        </p:txBody>
      </p:sp>
      <p:sp>
        <p:nvSpPr>
          <p:cNvPr id="14" name="Text 12"/>
          <p:cNvSpPr txBox="1"/>
          <p:nvPr/>
        </p:nvSpPr>
        <p:spPr>
          <a:xfrm>
            <a:off x="8295437" y="1874520"/>
            <a:ext cx="3119018" cy="347472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chemeClr val="tx1"/>
                </a:solidFill>
              </a:rPr>
              <a:t>Payment companies and agent platforms are building checkout and protocols for agent-initiated transactions.</a:t>
            </a:r>
            <a:endParaRPr lang="en-US" sz="1600" dirty="0"/>
          </a:p>
          <a:p>
            <a:pPr marL="177800" indent="-177800">
              <a:spcAft>
                <a:spcPts val="500"/>
              </a:spcAft>
              <a:buSzPct val="100000"/>
              <a:buChar char="•"/>
            </a:pPr>
            <a:r>
              <a:rPr lang="en-US" sz="1600" dirty="0">
                <a:solidFill>
                  <a:schemeClr val="tx1"/>
                </a:solidFill>
              </a:rPr>
              <a:t>Trust, authorization, limit control, and delivery proof are becoming core product problems.</a:t>
            </a:r>
            <a:endParaRPr lang="en-US" sz="1600" dirty="0"/>
          </a:p>
        </p:txBody>
      </p:sp>
      <p:sp>
        <p:nvSpPr>
          <p:cNvPr id="15" name="Positioning banner"/>
          <p:cNvSpPr/>
          <p:nvPr/>
        </p:nvSpPr>
        <p:spPr>
          <a:xfrm>
            <a:off x="548640" y="5577840"/>
            <a:ext cx="11094415" cy="685800"/>
          </a:xfrm>
          <a:prstGeom prst="roundRect">
            <a:avLst>
              <a:gd name="adj" fmla="val 16000"/>
            </a:avLst>
          </a:prstGeom>
          <a:solidFill>
            <a:schemeClr val="tx2"/>
          </a:solidFill>
          <a:ln/>
        </p:spPr>
      </p:sp>
      <p:sp>
        <p:nvSpPr>
          <p:cNvPr id="16" name="Text 14"/>
          <p:cNvSpPr txBox="1"/>
          <p:nvPr/>
        </p:nvSpPr>
        <p:spPr>
          <a:xfrm>
            <a:off x="548640" y="5577840"/>
            <a:ext cx="11094415" cy="685800"/>
          </a:xfrm>
          <a:prstGeom prst="rect">
            <a:avLst/>
          </a:prstGeom>
          <a:noFill/>
          <a:ln/>
        </p:spPr>
        <p:txBody>
          <a:bodyPr wrap="square" lIns="0" tIns="0" rIns="0" bIns="0" rtlCol="0" anchor="ctr"/>
          <a:lstStyle/>
          <a:p>
            <a:pPr algn="ctr" indent="0" marL="0">
              <a:buNone/>
            </a:pPr>
            <a:r>
              <a:rPr lang="en-US" sz="2000" b="1" dirty="0">
                <a:solidFill>
                  <a:schemeClr val="bg1"/>
                </a:solidFill>
              </a:rPr>
              <a:t>We build where agentic commerce meets account abstraction.</a:t>
            </a:r>
            <a:endParaRPr lang="en-US" sz="2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Scenario and product value</a:t>
            </a:r>
            <a:endParaRPr lang="en-US" sz="3600" dirty="0"/>
          </a:p>
        </p:txBody>
      </p:sp>
      <p:sp>
        <p:nvSpPr>
          <p:cNvPr id="3" name="Scenario card"/>
          <p:cNvSpPr/>
          <p:nvPr/>
        </p:nvSpPr>
        <p:spPr>
          <a:xfrm>
            <a:off x="548640" y="1280160"/>
            <a:ext cx="11094415" cy="1234440"/>
          </a:xfrm>
          <a:prstGeom prst="roundRect">
            <a:avLst>
              <a:gd name="adj" fmla="val 8889"/>
            </a:avLst>
          </a:prstGeom>
          <a:solidFill>
            <a:schemeClr val="tx2"/>
          </a:solidFill>
          <a:ln/>
        </p:spPr>
      </p:sp>
      <p:sp>
        <p:nvSpPr>
          <p:cNvPr id="4" name="Text 2"/>
          <p:cNvSpPr txBox="1"/>
          <p:nvPr/>
        </p:nvSpPr>
        <p:spPr>
          <a:xfrm>
            <a:off x="822960" y="1280160"/>
            <a:ext cx="10561320" cy="1234440"/>
          </a:xfrm>
          <a:prstGeom prst="rect">
            <a:avLst/>
          </a:prstGeom>
          <a:noFill/>
          <a:ln/>
        </p:spPr>
        <p:txBody>
          <a:bodyPr wrap="square" lIns="0" tIns="0" rIns="0" bIns="0" rtlCol="0" anchor="ctr"/>
          <a:lstStyle/>
          <a:p>
            <a:pPr indent="0" marL="0">
              <a:buNone/>
            </a:pPr>
            <a:r>
              <a:rPr lang="en-US" sz="1600" b="1" dirty="0">
                <a:solidFill>
                  <a:schemeClr val="accent6"/>
                </a:solidFill>
              </a:rPr>
              <a:t>Scenario: </a:t>
            </a:r>
            <a:pPr indent="0" marL="0">
              <a:buNone/>
            </a:pPr>
            <a:r>
              <a:rPr lang="en-US" sz="1600" dirty="0">
                <a:solidFill>
                  <a:schemeClr val="bg1"/>
                </a:solidFill>
              </a:rPr>
              <a:t>Astra needs a small database to run a service. It requests an offer from the provider catalog; the owner reviews the draft invoice; the worker pays within policy and checks delivery.</a:t>
            </a:r>
            <a:endParaRPr lang="en-US" sz="1600" dirty="0"/>
          </a:p>
        </p:txBody>
      </p:sp>
      <p:graphicFrame>
        <p:nvGraphicFramePr>
          <p:cNvPr id="4" name="Product table"/>
          <p:cNvGraphicFramePr>
            <a:graphicFrameLocks noGrp="1"/>
          </p:cNvGraphicFramePr>
          <p:nvPr>
            <p:extLst>
              <p:ext uri="{D42A27DB-BD31-4B8C-83A1-F6EECF244321}">
                <p14:modId xmlns:p14="http://schemas.microsoft.com/office/powerpoint/2010/main" val="1579011935"/>
              </p:ext>
            </p:extLst>
          </p:nvPr>
        </p:nvGraphicFramePr>
        <p:xfrm>
          <a:off x="548640" y="2743200"/>
          <a:ext cx="11094415" cy="914400"/>
        </p:xfrm>
        <a:graphic>
          <a:graphicData uri="http://schemas.openxmlformats.org/drawingml/2006/table">
            <a:tbl>
              <a:tblPr/>
              <a:tblGrid>
                <a:gridCol w="2743200"/>
                <a:gridCol w="8351215"/>
              </a:tblGrid>
              <a:tr h="384048">
                <a:tc>
                  <a:txBody>
                    <a:bodyPr/>
                    <a:lstStyle/>
                    <a:p>
                      <a:pPr indent="0" marL="0">
                        <a:buNone/>
                      </a:pPr>
                      <a:r>
                        <a:rPr lang="en-US" sz="1400" b="1" dirty="0">
                          <a:solidFill>
                            <a:schemeClr val="bg1"/>
                          </a:solidFill>
                        </a:rPr>
                        <a:t>Question</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Product answer</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400" b="1" dirty="0">
                          <a:solidFill>
                            <a:schemeClr val="tx1"/>
                          </a:solidFill>
                        </a:rPr>
                        <a:t>Who is the user?</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 smart-account owner, or a team delegating routine procurement.</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400" b="1" dirty="0">
                          <a:solidFill>
                            <a:schemeClr val="tx1"/>
                          </a:solidFill>
                        </a:rPr>
                        <a:t>What is bought?</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 capacity- and time-limited PostgreSQL JSONB namespace.</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400" b="1" dirty="0">
                          <a:solidFill>
                            <a:schemeClr val="tx1"/>
                          </a:solidFill>
                        </a:rPr>
                        <a:t>What is limited?</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Token, recipient, amount, daily spend, protected reserve, time, and selector.</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400" b="1" dirty="0">
                          <a:solidFill>
                            <a:schemeClr val="tx1"/>
                          </a:solidFill>
                        </a:rPr>
                        <a:t>What proves success?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Confirmed settlement + delivery attestation/probe, depending on mode.</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Caveat banner"/>
          <p:cNvSpPr/>
          <p:nvPr/>
        </p:nvSpPr>
        <p:spPr>
          <a:xfrm>
            <a:off x="548640" y="5349240"/>
            <a:ext cx="11094415" cy="868680"/>
          </a:xfrm>
          <a:prstGeom prst="roundRect">
            <a:avLst>
              <a:gd name="adj" fmla="val 10526"/>
            </a:avLst>
          </a:prstGeom>
          <a:solidFill>
            <a:schemeClr val="accent2">
              <a:alpha val="25000"/>
            </a:schemeClr>
          </a:solidFill>
          <a:ln/>
        </p:spPr>
      </p:sp>
      <p:sp>
        <p:nvSpPr>
          <p:cNvPr id="7" name="Text 4"/>
          <p:cNvSpPr txBox="1"/>
          <p:nvPr/>
        </p:nvSpPr>
        <p:spPr>
          <a:xfrm>
            <a:off x="777240" y="5349240"/>
            <a:ext cx="10637215" cy="868680"/>
          </a:xfrm>
          <a:prstGeom prst="rect">
            <a:avLst/>
          </a:prstGeom>
          <a:noFill/>
          <a:ln/>
        </p:spPr>
        <p:txBody>
          <a:bodyPr wrap="square" lIns="0" tIns="0" rIns="0" bIns="0" rtlCol="0" anchor="ctr"/>
          <a:lstStyle/>
          <a:p>
            <a:pPr indent="0" marL="0">
              <a:buNone/>
            </a:pPr>
            <a:r>
              <a:rPr lang="en-US" sz="1400" b="1" dirty="0">
                <a:solidFill>
                  <a:schemeClr val="tx1"/>
                </a:solidFill>
              </a:rPr>
              <a:t>Reading the statuses: </a:t>
            </a:r>
            <a:pPr indent="0" marL="0">
              <a:buNone/>
            </a:pPr>
            <a:r>
              <a:rPr lang="en-US" sz="1400" dirty="0">
                <a:solidFill>
                  <a:schemeClr val="tx1"/>
                </a:solidFill>
              </a:rPr>
              <a:t>paid does not mean the database is usable yet. MockUSD is a six-decimal testnet token; 0.26 MockUSD does not mean US$0.26.</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Application structure and technology</a:t>
            </a:r>
            <a:endParaRPr lang="en-US" sz="3600" dirty="0"/>
          </a:p>
        </p:txBody>
      </p:sp>
      <p:graphicFrame>
        <p:nvGraphicFramePr>
          <p:cNvPr id="5" name="Stack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560320"/>
                <a:gridCol w="8534095"/>
              </a:tblGrid>
              <a:tr h="420624">
                <a:tc>
                  <a:txBody>
                    <a:bodyPr/>
                    <a:lstStyle/>
                    <a:p>
                      <a:pPr indent="0" marL="0">
                        <a:buNone/>
                      </a:pPr>
                      <a:r>
                        <a:rPr lang="en-US" sz="1400" b="1" dirty="0">
                          <a:solidFill>
                            <a:schemeClr val="bg1"/>
                          </a:solidFill>
                        </a:rPr>
                        <a:t>Part</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Technology</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tx2"/>
                    </a:solidFill>
                  </a:tcPr>
                </a:tc>
              </a:tr>
              <a:tr h="420624">
                <a:tc>
                  <a:txBody>
                    <a:bodyPr/>
                    <a:lstStyle/>
                    <a:p>
                      <a:pPr indent="0" marL="0">
                        <a:buNone/>
                      </a:pPr>
                      <a:r>
                        <a:rPr lang="en-US" sz="1400" b="1" dirty="0">
                          <a:solidFill>
                            <a:schemeClr val="tx1"/>
                          </a:solidFill>
                        </a:rPr>
                        <a:t>UI</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Next.js, React, TypeScript</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400" b="1" dirty="0">
                          <a:solidFill>
                            <a:schemeClr val="tx1"/>
                          </a:solidFill>
                        </a:rPr>
                        <a:t>API &amp; worker</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Node.js, TypeScript, Fastify</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400" b="1" dirty="0">
                          <a:solidFill>
                            <a:schemeClr val="tx1"/>
                          </a:solidFill>
                        </a:rPr>
                        <a:t>Schema / validation</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Zod, JSON Schema, viem</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400" b="1" dirty="0">
                          <a:solidFill>
                            <a:schemeClr val="tx1"/>
                          </a:solidFill>
                        </a:rPr>
                        <a:t>AI</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Groq API, openai/gpt-oss-120b (20B as a comparison)</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400" b="1" dirty="0">
                          <a:solidFill>
                            <a:schemeClr val="tx1"/>
                          </a:solidFill>
                        </a:rPr>
                        <a:t>Data</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PostgreSQL, Drizzle; PGlite for isolated workspaces and tests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400" b="1" dirty="0">
                          <a:solidFill>
                            <a:schemeClr val="tx1"/>
                          </a:solidFill>
                        </a:rPr>
                        <a:t>Smart account</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Kernel 0.3.1, EntryPoint 0.7, ERC-4337 UserOperation</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400" b="1" dirty="0">
                          <a:solidFill>
                            <a:schemeClr val="tx1"/>
                          </a:solidFill>
                        </a:rPr>
                        <a:t>Smart contract</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Solidity 0.8.28, ERC-7579-based Guardian executor</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400" b="1" dirty="0">
                          <a:solidFill>
                            <a:schemeClr val="tx1"/>
                          </a:solidFill>
                        </a:rPr>
                        <a:t>Signatures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EIP-712 for quote/delivery; wallet signature for owner auth</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400" b="1" dirty="0">
                          <a:solidFill>
                            <a:schemeClr val="tx1"/>
                          </a:solidFill>
                        </a:rPr>
                        <a:t>Evidence network</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Base Sepolia, chain ID 84532; local fork for isolated tests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Text 1"/>
          <p:cNvSpPr txBox="1"/>
          <p:nvPr/>
        </p:nvSpPr>
        <p:spPr>
          <a:xfrm>
            <a:off x="548640" y="5623560"/>
            <a:ext cx="11094415" cy="640080"/>
          </a:xfrm>
          <a:prstGeom prst="rect">
            <a:avLst/>
          </a:prstGeom>
          <a:noFill/>
          <a:ln/>
        </p:spPr>
        <p:txBody>
          <a:bodyPr wrap="square" lIns="0" tIns="0" rIns="0" bIns="0" rtlCol="0" anchor="ctr"/>
          <a:lstStyle/>
          <a:p>
            <a:pPr indent="0" marL="0">
              <a:buNone/>
            </a:pPr>
            <a:r>
              <a:rPr lang="en-US" sz="1600" b="1" dirty="0">
                <a:solidFill>
                  <a:schemeClr val="tx2"/>
                </a:solidFill>
              </a:rPr>
              <a:t>The model returns structured output only—it never picks the recipient or final price, and never touches a private key.</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Architecture</a:t>
            </a:r>
            <a:endParaRPr lang="en-US" sz="3600" dirty="0"/>
          </a:p>
        </p:txBody>
      </p:sp>
      <p:sp>
        <p:nvSpPr>
          <p:cNvPr id="3" name="Text 1"/>
          <p:cNvSpPr txBox="1"/>
          <p:nvPr/>
        </p:nvSpPr>
        <p:spPr>
          <a:xfrm>
            <a:off x="548640" y="1216152"/>
            <a:ext cx="4572000" cy="274320"/>
          </a:xfrm>
          <a:prstGeom prst="rect">
            <a:avLst/>
          </a:prstGeom>
          <a:noFill/>
          <a:ln/>
        </p:spPr>
        <p:txBody>
          <a:bodyPr wrap="square" lIns="0" tIns="0" rIns="0" bIns="0" rtlCol="0" anchor="t"/>
          <a:lstStyle/>
          <a:p>
            <a:pPr indent="0" marL="0">
              <a:buNone/>
            </a:pPr>
            <a:r>
              <a:rPr lang="en-US" sz="1400" b="1" dirty="0">
                <a:solidFill>
                  <a:schemeClr val="accent4"/>
                </a:solidFill>
              </a:rPr>
              <a:t>Owner side</a:t>
            </a:r>
            <a:endParaRPr lang="en-US" sz="1400" dirty="0"/>
          </a:p>
        </p:txBody>
      </p:sp>
      <p:sp>
        <p:nvSpPr>
          <p:cNvPr id="4" name="Chip Owner / MetaMask"/>
          <p:cNvSpPr/>
          <p:nvPr/>
        </p:nvSpPr>
        <p:spPr>
          <a:xfrm>
            <a:off x="548640" y="1508760"/>
            <a:ext cx="2567864" cy="868680"/>
          </a:xfrm>
          <a:prstGeom prst="roundRect">
            <a:avLst>
              <a:gd name="adj" fmla="val 10526"/>
            </a:avLst>
          </a:prstGeom>
          <a:solidFill>
            <a:schemeClr val="bg2"/>
          </a:solidFill>
          <a:ln/>
        </p:spPr>
      </p:sp>
      <p:sp>
        <p:nvSpPr>
          <p:cNvPr id="5" name="Text 3"/>
          <p:cNvSpPr txBox="1"/>
          <p:nvPr/>
        </p:nvSpPr>
        <p:spPr>
          <a:xfrm>
            <a:off x="621792" y="1508760"/>
            <a:ext cx="2421560" cy="868680"/>
          </a:xfrm>
          <a:prstGeom prst="rect">
            <a:avLst/>
          </a:prstGeom>
          <a:noFill/>
          <a:ln/>
        </p:spPr>
        <p:txBody>
          <a:bodyPr wrap="square" lIns="0" tIns="0" rIns="0" bIns="0" rtlCol="0" anchor="ctr"/>
          <a:lstStyle/>
          <a:p>
            <a:pPr algn="ctr" indent="0" marL="0">
              <a:buNone/>
            </a:pPr>
            <a:r>
              <a:rPr lang="en-US" sz="1400" b="1" dirty="0">
                <a:solidFill>
                  <a:schemeClr val="tx1"/>
                </a:solidFill>
              </a:rPr>
              <a:t>Owner / MetaMask</a:t>
            </a:r>
            <a:endParaRPr lang="en-US" sz="1400" dirty="0"/>
          </a:p>
        </p:txBody>
      </p:sp>
      <p:sp>
        <p:nvSpPr>
          <p:cNvPr id="6" name="Arrow"/>
          <p:cNvSpPr/>
          <p:nvPr/>
        </p:nvSpPr>
        <p:spPr>
          <a:xfrm>
            <a:off x="3134792" y="1819656"/>
            <a:ext cx="237744" cy="237744"/>
          </a:xfrm>
          <a:prstGeom prst="rightArrow">
            <a:avLst/>
          </a:prstGeom>
          <a:solidFill>
            <a:schemeClr val="accent1"/>
          </a:solidFill>
          <a:ln/>
        </p:spPr>
      </p:sp>
      <p:sp>
        <p:nvSpPr>
          <p:cNvPr id="7" name="Chip Next.js dashboard"/>
          <p:cNvSpPr/>
          <p:nvPr/>
        </p:nvSpPr>
        <p:spPr>
          <a:xfrm>
            <a:off x="3390824" y="1508760"/>
            <a:ext cx="2567864" cy="868680"/>
          </a:xfrm>
          <a:prstGeom prst="roundRect">
            <a:avLst>
              <a:gd name="adj" fmla="val 10526"/>
            </a:avLst>
          </a:prstGeom>
          <a:solidFill>
            <a:schemeClr val="bg2"/>
          </a:solidFill>
          <a:ln/>
        </p:spPr>
      </p:sp>
      <p:sp>
        <p:nvSpPr>
          <p:cNvPr id="8" name="Text 6"/>
          <p:cNvSpPr txBox="1"/>
          <p:nvPr/>
        </p:nvSpPr>
        <p:spPr>
          <a:xfrm>
            <a:off x="3463976" y="1508760"/>
            <a:ext cx="2421560" cy="868680"/>
          </a:xfrm>
          <a:prstGeom prst="rect">
            <a:avLst/>
          </a:prstGeom>
          <a:noFill/>
          <a:ln/>
        </p:spPr>
        <p:txBody>
          <a:bodyPr wrap="square" lIns="0" tIns="0" rIns="0" bIns="0" rtlCol="0" anchor="ctr"/>
          <a:lstStyle/>
          <a:p>
            <a:pPr algn="ctr" indent="0" marL="0">
              <a:buNone/>
            </a:pPr>
            <a:r>
              <a:rPr lang="en-US" sz="1400" b="1" dirty="0">
                <a:solidFill>
                  <a:schemeClr val="tx1"/>
                </a:solidFill>
              </a:rPr>
              <a:t>Next.js dashboard</a:t>
            </a:r>
            <a:endParaRPr lang="en-US" sz="1400" dirty="0"/>
          </a:p>
        </p:txBody>
      </p:sp>
      <p:sp>
        <p:nvSpPr>
          <p:cNvPr id="9" name="Arrow"/>
          <p:cNvSpPr/>
          <p:nvPr/>
        </p:nvSpPr>
        <p:spPr>
          <a:xfrm>
            <a:off x="5976976" y="1819656"/>
            <a:ext cx="237744" cy="237744"/>
          </a:xfrm>
          <a:prstGeom prst="rightArrow">
            <a:avLst/>
          </a:prstGeom>
          <a:solidFill>
            <a:schemeClr val="accent1"/>
          </a:solidFill>
          <a:ln/>
        </p:spPr>
      </p:sp>
      <p:sp>
        <p:nvSpPr>
          <p:cNvPr id="10" name="Chip Fastify API"/>
          <p:cNvSpPr/>
          <p:nvPr/>
        </p:nvSpPr>
        <p:spPr>
          <a:xfrm>
            <a:off x="6233008" y="1508760"/>
            <a:ext cx="2567864" cy="868680"/>
          </a:xfrm>
          <a:prstGeom prst="roundRect">
            <a:avLst>
              <a:gd name="adj" fmla="val 10526"/>
            </a:avLst>
          </a:prstGeom>
          <a:solidFill>
            <a:schemeClr val="bg2"/>
          </a:solidFill>
          <a:ln/>
        </p:spPr>
      </p:sp>
      <p:sp>
        <p:nvSpPr>
          <p:cNvPr id="11" name="Text 9"/>
          <p:cNvSpPr txBox="1"/>
          <p:nvPr/>
        </p:nvSpPr>
        <p:spPr>
          <a:xfrm>
            <a:off x="6306160" y="1508760"/>
            <a:ext cx="2421560" cy="868680"/>
          </a:xfrm>
          <a:prstGeom prst="rect">
            <a:avLst/>
          </a:prstGeom>
          <a:noFill/>
          <a:ln/>
        </p:spPr>
        <p:txBody>
          <a:bodyPr wrap="square" lIns="0" tIns="0" rIns="0" bIns="0" rtlCol="0" anchor="ctr"/>
          <a:lstStyle/>
          <a:p>
            <a:pPr algn="ctr" indent="0" marL="0">
              <a:buNone/>
            </a:pPr>
            <a:r>
              <a:rPr lang="en-US" sz="1400" b="1" dirty="0">
                <a:solidFill>
                  <a:schemeClr val="tx1"/>
                </a:solidFill>
              </a:rPr>
              <a:t>Fastify API</a:t>
            </a:r>
            <a:endParaRPr lang="en-US" sz="1400" dirty="0"/>
          </a:p>
        </p:txBody>
      </p:sp>
      <p:sp>
        <p:nvSpPr>
          <p:cNvPr id="12" name="Arrow"/>
          <p:cNvSpPr/>
          <p:nvPr/>
        </p:nvSpPr>
        <p:spPr>
          <a:xfrm>
            <a:off x="8819159" y="1819656"/>
            <a:ext cx="237744" cy="237744"/>
          </a:xfrm>
          <a:prstGeom prst="rightArrow">
            <a:avLst/>
          </a:prstGeom>
          <a:solidFill>
            <a:schemeClr val="accent1"/>
          </a:solidFill>
          <a:ln/>
        </p:spPr>
      </p:sp>
      <p:sp>
        <p:nvSpPr>
          <p:cNvPr id="13" name="Chip Astra planner + provider agent"/>
          <p:cNvSpPr/>
          <p:nvPr/>
        </p:nvSpPr>
        <p:spPr>
          <a:xfrm>
            <a:off x="9075191" y="1508760"/>
            <a:ext cx="2567864" cy="868680"/>
          </a:xfrm>
          <a:prstGeom prst="roundRect">
            <a:avLst>
              <a:gd name="adj" fmla="val 10526"/>
            </a:avLst>
          </a:prstGeom>
          <a:solidFill>
            <a:schemeClr val="bg2"/>
          </a:solidFill>
          <a:ln/>
        </p:spPr>
      </p:sp>
      <p:sp>
        <p:nvSpPr>
          <p:cNvPr id="14" name="Text 12"/>
          <p:cNvSpPr txBox="1"/>
          <p:nvPr/>
        </p:nvSpPr>
        <p:spPr>
          <a:xfrm>
            <a:off x="9148343" y="1508760"/>
            <a:ext cx="2421560" cy="868680"/>
          </a:xfrm>
          <a:prstGeom prst="rect">
            <a:avLst/>
          </a:prstGeom>
          <a:noFill/>
          <a:ln/>
        </p:spPr>
        <p:txBody>
          <a:bodyPr wrap="square" lIns="0" tIns="0" rIns="0" bIns="0" rtlCol="0" anchor="ctr"/>
          <a:lstStyle/>
          <a:p>
            <a:pPr algn="ctr" indent="0" marL="0">
              <a:buNone/>
            </a:pPr>
            <a:r>
              <a:rPr lang="en-US" sz="1400" b="1" dirty="0">
                <a:solidFill>
                  <a:schemeClr val="tx1"/>
                </a:solidFill>
              </a:rPr>
              <a:t>Astra planner + provider agent</a:t>
            </a:r>
            <a:endParaRPr lang="en-US" sz="1400" dirty="0"/>
          </a:p>
        </p:txBody>
      </p:sp>
      <p:sp>
        <p:nvSpPr>
          <p:cNvPr id="15" name="Text 13"/>
          <p:cNvSpPr txBox="1"/>
          <p:nvPr/>
        </p:nvSpPr>
        <p:spPr>
          <a:xfrm>
            <a:off x="548640" y="2724912"/>
            <a:ext cx="4572000" cy="274320"/>
          </a:xfrm>
          <a:prstGeom prst="rect">
            <a:avLst/>
          </a:prstGeom>
          <a:noFill/>
          <a:ln/>
        </p:spPr>
        <p:txBody>
          <a:bodyPr wrap="square" lIns="0" tIns="0" rIns="0" bIns="0" rtlCol="0" anchor="t"/>
          <a:lstStyle/>
          <a:p>
            <a:pPr indent="0" marL="0">
              <a:buNone/>
            </a:pPr>
            <a:r>
              <a:rPr lang="en-US" sz="1400" b="1" dirty="0">
                <a:solidFill>
                  <a:schemeClr val="accent4"/>
                </a:solidFill>
              </a:rPr>
              <a:t>Validation and queue</a:t>
            </a:r>
            <a:endParaRPr lang="en-US" sz="1400" dirty="0"/>
          </a:p>
        </p:txBody>
      </p:sp>
      <p:sp>
        <p:nvSpPr>
          <p:cNvPr id="16" name="Chip Quote signature + deterministic validation"/>
          <p:cNvSpPr/>
          <p:nvPr/>
        </p:nvSpPr>
        <p:spPr>
          <a:xfrm>
            <a:off x="548640" y="3017520"/>
            <a:ext cx="2567864" cy="868680"/>
          </a:xfrm>
          <a:prstGeom prst="roundRect">
            <a:avLst>
              <a:gd name="adj" fmla="val 10526"/>
            </a:avLst>
          </a:prstGeom>
          <a:solidFill>
            <a:schemeClr val="bg2"/>
          </a:solidFill>
          <a:ln/>
        </p:spPr>
      </p:sp>
      <p:sp>
        <p:nvSpPr>
          <p:cNvPr id="17" name="Text 15"/>
          <p:cNvSpPr txBox="1"/>
          <p:nvPr/>
        </p:nvSpPr>
        <p:spPr>
          <a:xfrm>
            <a:off x="621792" y="3017520"/>
            <a:ext cx="2421560" cy="868680"/>
          </a:xfrm>
          <a:prstGeom prst="rect">
            <a:avLst/>
          </a:prstGeom>
          <a:noFill/>
          <a:ln/>
        </p:spPr>
        <p:txBody>
          <a:bodyPr wrap="square" lIns="0" tIns="0" rIns="0" bIns="0" rtlCol="0" anchor="ctr"/>
          <a:lstStyle/>
          <a:p>
            <a:pPr algn="ctr" indent="0" marL="0">
              <a:buNone/>
            </a:pPr>
            <a:r>
              <a:rPr lang="en-US" sz="1400" b="1" dirty="0">
                <a:solidFill>
                  <a:schemeClr val="tx1"/>
                </a:solidFill>
              </a:rPr>
              <a:t>Quote signature + deterministic validation</a:t>
            </a:r>
            <a:endParaRPr lang="en-US" sz="1400" dirty="0"/>
          </a:p>
        </p:txBody>
      </p:sp>
      <p:sp>
        <p:nvSpPr>
          <p:cNvPr id="18" name="Arrow"/>
          <p:cNvSpPr/>
          <p:nvPr/>
        </p:nvSpPr>
        <p:spPr>
          <a:xfrm>
            <a:off x="3134792" y="3328416"/>
            <a:ext cx="237744" cy="237744"/>
          </a:xfrm>
          <a:prstGeom prst="rightArrow">
            <a:avLst/>
          </a:prstGeom>
          <a:solidFill>
            <a:schemeClr val="accent1"/>
          </a:solidFill>
          <a:ln/>
        </p:spPr>
      </p:sp>
      <p:sp>
        <p:nvSpPr>
          <p:cNvPr id="19" name="Chip PostgreSQL task store"/>
          <p:cNvSpPr/>
          <p:nvPr/>
        </p:nvSpPr>
        <p:spPr>
          <a:xfrm>
            <a:off x="3390824" y="3017520"/>
            <a:ext cx="2567864" cy="868680"/>
          </a:xfrm>
          <a:prstGeom prst="roundRect">
            <a:avLst>
              <a:gd name="adj" fmla="val 10526"/>
            </a:avLst>
          </a:prstGeom>
          <a:solidFill>
            <a:schemeClr val="bg2"/>
          </a:solidFill>
          <a:ln/>
        </p:spPr>
      </p:sp>
      <p:sp>
        <p:nvSpPr>
          <p:cNvPr id="20" name="Text 18"/>
          <p:cNvSpPr txBox="1"/>
          <p:nvPr/>
        </p:nvSpPr>
        <p:spPr>
          <a:xfrm>
            <a:off x="3463976" y="3017520"/>
            <a:ext cx="2421560" cy="868680"/>
          </a:xfrm>
          <a:prstGeom prst="rect">
            <a:avLst/>
          </a:prstGeom>
          <a:noFill/>
          <a:ln/>
        </p:spPr>
        <p:txBody>
          <a:bodyPr wrap="square" lIns="0" tIns="0" rIns="0" bIns="0" rtlCol="0" anchor="ctr"/>
          <a:lstStyle/>
          <a:p>
            <a:pPr algn="ctr" indent="0" marL="0">
              <a:buNone/>
            </a:pPr>
            <a:r>
              <a:rPr lang="en-US" sz="1400" b="1" dirty="0">
                <a:solidFill>
                  <a:schemeClr val="tx1"/>
                </a:solidFill>
              </a:rPr>
              <a:t>PostgreSQL task store</a:t>
            </a:r>
            <a:endParaRPr lang="en-US" sz="1400" dirty="0"/>
          </a:p>
        </p:txBody>
      </p:sp>
      <p:sp>
        <p:nvSpPr>
          <p:cNvPr id="21" name="Arrow"/>
          <p:cNvSpPr/>
          <p:nvPr/>
        </p:nvSpPr>
        <p:spPr>
          <a:xfrm>
            <a:off x="5976976" y="3328416"/>
            <a:ext cx="237744" cy="237744"/>
          </a:xfrm>
          <a:prstGeom prst="rightArrow">
            <a:avLst/>
          </a:prstGeom>
          <a:solidFill>
            <a:schemeClr val="accent1"/>
          </a:solidFill>
          <a:ln/>
        </p:spPr>
      </p:sp>
      <p:sp>
        <p:nvSpPr>
          <p:cNvPr id="22" name="Chip Reviewed queue + worker lease"/>
          <p:cNvSpPr/>
          <p:nvPr/>
        </p:nvSpPr>
        <p:spPr>
          <a:xfrm>
            <a:off x="6233008" y="3017520"/>
            <a:ext cx="2567864" cy="868680"/>
          </a:xfrm>
          <a:prstGeom prst="roundRect">
            <a:avLst>
              <a:gd name="adj" fmla="val 10526"/>
            </a:avLst>
          </a:prstGeom>
          <a:solidFill>
            <a:schemeClr val="bg2"/>
          </a:solidFill>
          <a:ln/>
        </p:spPr>
      </p:sp>
      <p:sp>
        <p:nvSpPr>
          <p:cNvPr id="23" name="Text 21"/>
          <p:cNvSpPr txBox="1"/>
          <p:nvPr/>
        </p:nvSpPr>
        <p:spPr>
          <a:xfrm>
            <a:off x="6306160" y="3017520"/>
            <a:ext cx="2421560" cy="868680"/>
          </a:xfrm>
          <a:prstGeom prst="rect">
            <a:avLst/>
          </a:prstGeom>
          <a:noFill/>
          <a:ln/>
        </p:spPr>
        <p:txBody>
          <a:bodyPr wrap="square" lIns="0" tIns="0" rIns="0" bIns="0" rtlCol="0" anchor="ctr"/>
          <a:lstStyle/>
          <a:p>
            <a:pPr algn="ctr" indent="0" marL="0">
              <a:buNone/>
            </a:pPr>
            <a:r>
              <a:rPr lang="en-US" sz="1400" b="1" dirty="0">
                <a:solidFill>
                  <a:schemeClr val="tx1"/>
                </a:solidFill>
              </a:rPr>
              <a:t>Reviewed queue + worker lease</a:t>
            </a:r>
            <a:endParaRPr lang="en-US" sz="1400" dirty="0"/>
          </a:p>
        </p:txBody>
      </p:sp>
      <p:sp>
        <p:nvSpPr>
          <p:cNvPr id="24" name="Arrow"/>
          <p:cNvSpPr/>
          <p:nvPr/>
        </p:nvSpPr>
        <p:spPr>
          <a:xfrm>
            <a:off x="8819159" y="3328416"/>
            <a:ext cx="237744" cy="237744"/>
          </a:xfrm>
          <a:prstGeom prst="rightArrow">
            <a:avLst/>
          </a:prstGeom>
          <a:solidFill>
            <a:schemeClr val="accent1"/>
          </a:solidFill>
          <a:ln/>
        </p:spPr>
      </p:sp>
      <p:sp>
        <p:nvSpPr>
          <p:cNvPr id="25" name="Chip Persist exact operation + hash BEFORE send"/>
          <p:cNvSpPr/>
          <p:nvPr/>
        </p:nvSpPr>
        <p:spPr>
          <a:xfrm>
            <a:off x="9075191" y="3017520"/>
            <a:ext cx="2567864" cy="868680"/>
          </a:xfrm>
          <a:prstGeom prst="roundRect">
            <a:avLst>
              <a:gd name="adj" fmla="val 10526"/>
            </a:avLst>
          </a:prstGeom>
          <a:solidFill>
            <a:schemeClr val="tx2"/>
          </a:solidFill>
          <a:ln/>
        </p:spPr>
      </p:sp>
      <p:sp>
        <p:nvSpPr>
          <p:cNvPr id="26" name="Text 24"/>
          <p:cNvSpPr txBox="1"/>
          <p:nvPr/>
        </p:nvSpPr>
        <p:spPr>
          <a:xfrm>
            <a:off x="9148343" y="3017520"/>
            <a:ext cx="2421560" cy="868680"/>
          </a:xfrm>
          <a:prstGeom prst="rect">
            <a:avLst/>
          </a:prstGeom>
          <a:noFill/>
          <a:ln/>
        </p:spPr>
        <p:txBody>
          <a:bodyPr wrap="square" lIns="0" tIns="0" rIns="0" bIns="0" rtlCol="0" anchor="ctr"/>
          <a:lstStyle/>
          <a:p>
            <a:pPr algn="ctr" indent="0" marL="0">
              <a:buNone/>
            </a:pPr>
            <a:r>
              <a:rPr lang="en-US" sz="1400" b="1" dirty="0">
                <a:solidFill>
                  <a:schemeClr val="bg1"/>
                </a:solidFill>
              </a:rPr>
              <a:t>Persist exact operation + hash BEFORE send</a:t>
            </a:r>
            <a:endParaRPr lang="en-US" sz="1400" dirty="0"/>
          </a:p>
        </p:txBody>
      </p:sp>
      <p:sp>
        <p:nvSpPr>
          <p:cNvPr id="27" name="Text 25"/>
          <p:cNvSpPr txBox="1"/>
          <p:nvPr/>
        </p:nvSpPr>
        <p:spPr>
          <a:xfrm>
            <a:off x="548640" y="4233672"/>
            <a:ext cx="4572000" cy="274320"/>
          </a:xfrm>
          <a:prstGeom prst="rect">
            <a:avLst/>
          </a:prstGeom>
          <a:noFill/>
          <a:ln/>
        </p:spPr>
        <p:txBody>
          <a:bodyPr wrap="square" lIns="0" tIns="0" rIns="0" bIns="0" rtlCol="0" anchor="t"/>
          <a:lstStyle/>
          <a:p>
            <a:pPr indent="0" marL="0">
              <a:buNone/>
            </a:pPr>
            <a:r>
              <a:rPr lang="en-US" sz="1400" b="1" dirty="0">
                <a:solidFill>
                  <a:schemeClr val="accent4"/>
                </a:solidFill>
              </a:rPr>
              <a:t>Execution</a:t>
            </a:r>
            <a:endParaRPr lang="en-US" sz="1400" dirty="0"/>
          </a:p>
        </p:txBody>
      </p:sp>
      <p:sp>
        <p:nvSpPr>
          <p:cNvPr id="28" name="Chip Bundler"/>
          <p:cNvSpPr/>
          <p:nvPr/>
        </p:nvSpPr>
        <p:spPr>
          <a:xfrm>
            <a:off x="548640" y="4526280"/>
            <a:ext cx="1620469" cy="868680"/>
          </a:xfrm>
          <a:prstGeom prst="roundRect">
            <a:avLst>
              <a:gd name="adj" fmla="val 10526"/>
            </a:avLst>
          </a:prstGeom>
          <a:solidFill>
            <a:schemeClr val="bg2"/>
          </a:solidFill>
          <a:ln/>
        </p:spPr>
      </p:sp>
      <p:sp>
        <p:nvSpPr>
          <p:cNvPr id="29" name="Text 27"/>
          <p:cNvSpPr txBox="1"/>
          <p:nvPr/>
        </p:nvSpPr>
        <p:spPr>
          <a:xfrm>
            <a:off x="621792" y="4526280"/>
            <a:ext cx="1474165" cy="868680"/>
          </a:xfrm>
          <a:prstGeom prst="rect">
            <a:avLst/>
          </a:prstGeom>
          <a:noFill/>
          <a:ln/>
        </p:spPr>
        <p:txBody>
          <a:bodyPr wrap="square" lIns="0" tIns="0" rIns="0" bIns="0" rtlCol="0" anchor="ctr"/>
          <a:lstStyle/>
          <a:p>
            <a:pPr algn="ctr" indent="0" marL="0">
              <a:buNone/>
            </a:pPr>
            <a:r>
              <a:rPr lang="en-US" sz="1400" b="1" dirty="0">
                <a:solidFill>
                  <a:schemeClr val="tx1"/>
                </a:solidFill>
              </a:rPr>
              <a:t>Bundler</a:t>
            </a:r>
            <a:endParaRPr lang="en-US" sz="1400" dirty="0"/>
          </a:p>
        </p:txBody>
      </p:sp>
      <p:sp>
        <p:nvSpPr>
          <p:cNvPr id="30" name="Arrow"/>
          <p:cNvSpPr/>
          <p:nvPr/>
        </p:nvSpPr>
        <p:spPr>
          <a:xfrm>
            <a:off x="2187397" y="4837176"/>
            <a:ext cx="237744" cy="237744"/>
          </a:xfrm>
          <a:prstGeom prst="rightArrow">
            <a:avLst/>
          </a:prstGeom>
          <a:solidFill>
            <a:schemeClr val="accent1"/>
          </a:solidFill>
          <a:ln/>
        </p:spPr>
      </p:sp>
      <p:sp>
        <p:nvSpPr>
          <p:cNvPr id="31" name="Chip EntryPoint 0.7"/>
          <p:cNvSpPr/>
          <p:nvPr/>
        </p:nvSpPr>
        <p:spPr>
          <a:xfrm>
            <a:off x="2443429" y="4526280"/>
            <a:ext cx="1620469" cy="868680"/>
          </a:xfrm>
          <a:prstGeom prst="roundRect">
            <a:avLst>
              <a:gd name="adj" fmla="val 10526"/>
            </a:avLst>
          </a:prstGeom>
          <a:solidFill>
            <a:schemeClr val="bg2"/>
          </a:solidFill>
          <a:ln/>
        </p:spPr>
      </p:sp>
      <p:sp>
        <p:nvSpPr>
          <p:cNvPr id="32" name="Text 30"/>
          <p:cNvSpPr txBox="1"/>
          <p:nvPr/>
        </p:nvSpPr>
        <p:spPr>
          <a:xfrm>
            <a:off x="2516581" y="4526280"/>
            <a:ext cx="1474165" cy="868680"/>
          </a:xfrm>
          <a:prstGeom prst="rect">
            <a:avLst/>
          </a:prstGeom>
          <a:noFill/>
          <a:ln/>
        </p:spPr>
        <p:txBody>
          <a:bodyPr wrap="square" lIns="0" tIns="0" rIns="0" bIns="0" rtlCol="0" anchor="ctr"/>
          <a:lstStyle/>
          <a:p>
            <a:pPr algn="ctr" indent="0" marL="0">
              <a:buNone/>
            </a:pPr>
            <a:r>
              <a:rPr lang="en-US" sz="1400" b="1" dirty="0">
                <a:solidFill>
                  <a:schemeClr val="tx1"/>
                </a:solidFill>
              </a:rPr>
              <a:t>EntryPoint 0.7</a:t>
            </a:r>
            <a:endParaRPr lang="en-US" sz="1400" dirty="0"/>
          </a:p>
        </p:txBody>
      </p:sp>
      <p:sp>
        <p:nvSpPr>
          <p:cNvPr id="33" name="Arrow"/>
          <p:cNvSpPr/>
          <p:nvPr/>
        </p:nvSpPr>
        <p:spPr>
          <a:xfrm>
            <a:off x="4082186" y="4837176"/>
            <a:ext cx="237744" cy="237744"/>
          </a:xfrm>
          <a:prstGeom prst="rightArrow">
            <a:avLst/>
          </a:prstGeom>
          <a:solidFill>
            <a:schemeClr val="accent1"/>
          </a:solidFill>
          <a:ln/>
        </p:spPr>
      </p:sp>
      <p:sp>
        <p:nvSpPr>
          <p:cNvPr id="34" name="Chip Kernel 0.3.1"/>
          <p:cNvSpPr/>
          <p:nvPr/>
        </p:nvSpPr>
        <p:spPr>
          <a:xfrm>
            <a:off x="4338218" y="4526280"/>
            <a:ext cx="1620469" cy="868680"/>
          </a:xfrm>
          <a:prstGeom prst="roundRect">
            <a:avLst>
              <a:gd name="adj" fmla="val 10526"/>
            </a:avLst>
          </a:prstGeom>
          <a:solidFill>
            <a:schemeClr val="bg2"/>
          </a:solidFill>
          <a:ln/>
        </p:spPr>
      </p:sp>
      <p:sp>
        <p:nvSpPr>
          <p:cNvPr id="35" name="Text 33"/>
          <p:cNvSpPr txBox="1"/>
          <p:nvPr/>
        </p:nvSpPr>
        <p:spPr>
          <a:xfrm>
            <a:off x="4411370" y="4526280"/>
            <a:ext cx="1474165" cy="868680"/>
          </a:xfrm>
          <a:prstGeom prst="rect">
            <a:avLst/>
          </a:prstGeom>
          <a:noFill/>
          <a:ln/>
        </p:spPr>
        <p:txBody>
          <a:bodyPr wrap="square" lIns="0" tIns="0" rIns="0" bIns="0" rtlCol="0" anchor="ctr"/>
          <a:lstStyle/>
          <a:p>
            <a:pPr algn="ctr" indent="0" marL="0">
              <a:buNone/>
            </a:pPr>
            <a:r>
              <a:rPr lang="en-US" sz="1400" b="1" dirty="0">
                <a:solidFill>
                  <a:schemeClr val="tx1"/>
                </a:solidFill>
              </a:rPr>
              <a:t>Kernel 0.3.1</a:t>
            </a:r>
            <a:endParaRPr lang="en-US" sz="1400" dirty="0"/>
          </a:p>
        </p:txBody>
      </p:sp>
      <p:sp>
        <p:nvSpPr>
          <p:cNvPr id="36" name="Arrow"/>
          <p:cNvSpPr/>
          <p:nvPr/>
        </p:nvSpPr>
        <p:spPr>
          <a:xfrm>
            <a:off x="5976976" y="4837176"/>
            <a:ext cx="237744" cy="237744"/>
          </a:xfrm>
          <a:prstGeom prst="rightArrow">
            <a:avLst/>
          </a:prstGeom>
          <a:solidFill>
            <a:schemeClr val="accent1"/>
          </a:solidFill>
          <a:ln/>
        </p:spPr>
      </p:sp>
      <p:sp>
        <p:nvSpPr>
          <p:cNvPr id="37" name="Chip Guardian Payments"/>
          <p:cNvSpPr/>
          <p:nvPr/>
        </p:nvSpPr>
        <p:spPr>
          <a:xfrm>
            <a:off x="6233008" y="4526280"/>
            <a:ext cx="1620469" cy="868680"/>
          </a:xfrm>
          <a:prstGeom prst="roundRect">
            <a:avLst>
              <a:gd name="adj" fmla="val 10526"/>
            </a:avLst>
          </a:prstGeom>
          <a:solidFill>
            <a:schemeClr val="tx2"/>
          </a:solidFill>
          <a:ln/>
        </p:spPr>
      </p:sp>
      <p:sp>
        <p:nvSpPr>
          <p:cNvPr id="38" name="Text 36"/>
          <p:cNvSpPr txBox="1"/>
          <p:nvPr/>
        </p:nvSpPr>
        <p:spPr>
          <a:xfrm>
            <a:off x="6306160" y="4526280"/>
            <a:ext cx="1474165" cy="868680"/>
          </a:xfrm>
          <a:prstGeom prst="rect">
            <a:avLst/>
          </a:prstGeom>
          <a:noFill/>
          <a:ln/>
        </p:spPr>
        <p:txBody>
          <a:bodyPr wrap="square" lIns="0" tIns="0" rIns="0" bIns="0" rtlCol="0" anchor="ctr"/>
          <a:lstStyle/>
          <a:p>
            <a:pPr algn="ctr" indent="0" marL="0">
              <a:buNone/>
            </a:pPr>
            <a:r>
              <a:rPr lang="en-US" sz="1400" b="1" dirty="0">
                <a:solidFill>
                  <a:schemeClr val="bg1"/>
                </a:solidFill>
              </a:rPr>
              <a:t>Guardian Payments</a:t>
            </a:r>
            <a:endParaRPr lang="en-US" sz="1400" dirty="0"/>
          </a:p>
        </p:txBody>
      </p:sp>
      <p:sp>
        <p:nvSpPr>
          <p:cNvPr id="39" name="Arrow"/>
          <p:cNvSpPr/>
          <p:nvPr/>
        </p:nvSpPr>
        <p:spPr>
          <a:xfrm>
            <a:off x="7871765" y="4837176"/>
            <a:ext cx="237744" cy="237744"/>
          </a:xfrm>
          <a:prstGeom prst="rightArrow">
            <a:avLst/>
          </a:prstGeom>
          <a:solidFill>
            <a:schemeClr val="accent2"/>
          </a:solidFill>
          <a:ln/>
        </p:spPr>
      </p:sp>
      <p:sp>
        <p:nvSpPr>
          <p:cNvPr id="40" name="Chip Provider fulfillment"/>
          <p:cNvSpPr/>
          <p:nvPr/>
        </p:nvSpPr>
        <p:spPr>
          <a:xfrm>
            <a:off x="8127797" y="4526280"/>
            <a:ext cx="1620469" cy="868680"/>
          </a:xfrm>
          <a:prstGeom prst="roundRect">
            <a:avLst>
              <a:gd name="adj" fmla="val 10526"/>
            </a:avLst>
          </a:prstGeom>
          <a:solidFill>
            <a:schemeClr val="bg2"/>
          </a:solidFill>
          <a:ln/>
        </p:spPr>
      </p:sp>
      <p:sp>
        <p:nvSpPr>
          <p:cNvPr id="41" name="Text 39"/>
          <p:cNvSpPr txBox="1"/>
          <p:nvPr/>
        </p:nvSpPr>
        <p:spPr>
          <a:xfrm>
            <a:off x="8200949" y="4526280"/>
            <a:ext cx="1474165" cy="868680"/>
          </a:xfrm>
          <a:prstGeom prst="rect">
            <a:avLst/>
          </a:prstGeom>
          <a:noFill/>
          <a:ln/>
        </p:spPr>
        <p:txBody>
          <a:bodyPr wrap="square" lIns="0" tIns="0" rIns="0" bIns="0" rtlCol="0" anchor="ctr"/>
          <a:lstStyle/>
          <a:p>
            <a:pPr algn="ctr" indent="0" marL="0">
              <a:buNone/>
            </a:pPr>
            <a:r>
              <a:rPr lang="en-US" sz="1400" b="1" dirty="0">
                <a:solidFill>
                  <a:schemeClr val="tx1"/>
                </a:solidFill>
              </a:rPr>
              <a:t>Provider fulfillment</a:t>
            </a:r>
            <a:endParaRPr lang="en-US" sz="1400" dirty="0"/>
          </a:p>
        </p:txBody>
      </p:sp>
      <p:sp>
        <p:nvSpPr>
          <p:cNvPr id="42" name="Arrow"/>
          <p:cNvSpPr/>
          <p:nvPr/>
        </p:nvSpPr>
        <p:spPr>
          <a:xfrm>
            <a:off x="9766554" y="4837176"/>
            <a:ext cx="237744" cy="237744"/>
          </a:xfrm>
          <a:prstGeom prst="rightArrow">
            <a:avLst/>
          </a:prstGeom>
          <a:solidFill>
            <a:schemeClr val="accent1"/>
          </a:solidFill>
          <a:ln/>
        </p:spPr>
      </p:sp>
      <p:sp>
        <p:nvSpPr>
          <p:cNvPr id="43" name="Chip paid / completed / needs_review"/>
          <p:cNvSpPr/>
          <p:nvPr/>
        </p:nvSpPr>
        <p:spPr>
          <a:xfrm>
            <a:off x="10022586" y="4526280"/>
            <a:ext cx="1620469" cy="868680"/>
          </a:xfrm>
          <a:prstGeom prst="roundRect">
            <a:avLst>
              <a:gd name="adj" fmla="val 10526"/>
            </a:avLst>
          </a:prstGeom>
          <a:solidFill>
            <a:schemeClr val="bg2"/>
          </a:solidFill>
          <a:ln/>
        </p:spPr>
      </p:sp>
      <p:sp>
        <p:nvSpPr>
          <p:cNvPr id="44" name="Text 42"/>
          <p:cNvSpPr txBox="1"/>
          <p:nvPr/>
        </p:nvSpPr>
        <p:spPr>
          <a:xfrm>
            <a:off x="10095738" y="4526280"/>
            <a:ext cx="1474165" cy="868680"/>
          </a:xfrm>
          <a:prstGeom prst="rect">
            <a:avLst/>
          </a:prstGeom>
          <a:noFill/>
          <a:ln/>
        </p:spPr>
        <p:txBody>
          <a:bodyPr wrap="square" lIns="0" tIns="0" rIns="0" bIns="0" rtlCol="0" anchor="ctr"/>
          <a:lstStyle/>
          <a:p>
            <a:pPr algn="ctr" indent="0" marL="0">
              <a:buNone/>
            </a:pPr>
            <a:r>
              <a:rPr lang="en-US" sz="1400" b="1" dirty="0">
                <a:solidFill>
                  <a:schemeClr val="tx1"/>
                </a:solidFill>
              </a:rPr>
              <a:t>paid / completed / needs_review</a:t>
            </a:r>
            <a:endParaRPr lang="en-US" sz="1400" dirty="0"/>
          </a:p>
        </p:txBody>
      </p:sp>
      <p:sp>
        <p:nvSpPr>
          <p:cNvPr id="45" name="Text 43"/>
          <p:cNvSpPr txBox="1"/>
          <p:nvPr/>
        </p:nvSpPr>
        <p:spPr>
          <a:xfrm>
            <a:off x="548640" y="5943600"/>
            <a:ext cx="11094415" cy="457200"/>
          </a:xfrm>
          <a:prstGeom prst="rect">
            <a:avLst/>
          </a:prstGeom>
          <a:noFill/>
          <a:ln/>
        </p:spPr>
        <p:txBody>
          <a:bodyPr wrap="square" lIns="0" tIns="0" rIns="0" bIns="0" rtlCol="0" anchor="t"/>
          <a:lstStyle/>
          <a:p>
            <a:pPr indent="0" marL="0">
              <a:buNone/>
            </a:pPr>
            <a:r>
              <a:rPr lang="en-US" sz="1400" b="1" dirty="0">
                <a:solidFill>
                  <a:schemeClr val="tx1"/>
                </a:solidFill>
              </a:rPr>
              <a:t>Three trust boundaries: </a:t>
            </a:r>
            <a:pPr indent="0" marL="0">
              <a:buNone/>
            </a:pPr>
            <a:r>
              <a:rPr lang="en-US" sz="1400" dirty="0">
                <a:solidFill>
                  <a:schemeClr val="tx1"/>
                </a:solidFill>
              </a:rPr>
              <a:t>the model only plans; the worker holds only a limited session; the Guardian enforces policy at execution. Opt-in escrow adds a lock/release/refund path inside the same Guardian.</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Transaction flow</a:t>
            </a:r>
            <a:endParaRPr lang="en-US" sz="3600" dirty="0"/>
          </a:p>
        </p:txBody>
      </p:sp>
      <p:sp>
        <p:nvSpPr>
          <p:cNvPr id="3" name="Number 1"/>
          <p:cNvSpPr/>
          <p:nvPr/>
        </p:nvSpPr>
        <p:spPr>
          <a:xfrm>
            <a:off x="548640" y="1371600"/>
            <a:ext cx="457200" cy="457200"/>
          </a:xfrm>
          <a:prstGeom prst="ellipse">
            <a:avLst/>
          </a:prstGeom>
          <a:solidFill>
            <a:schemeClr val="tx2"/>
          </a:solidFill>
          <a:ln/>
        </p:spPr>
      </p:sp>
      <p:sp>
        <p:nvSpPr>
          <p:cNvPr id="4" name="Text 2"/>
          <p:cNvSpPr txBox="1"/>
          <p:nvPr/>
        </p:nvSpPr>
        <p:spPr>
          <a:xfrm>
            <a:off x="54864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34440" y="1353312"/>
            <a:ext cx="4572000" cy="1005840"/>
          </a:xfrm>
          <a:prstGeom prst="rect">
            <a:avLst/>
          </a:prstGeom>
          <a:noFill/>
          <a:ln/>
        </p:spPr>
        <p:txBody>
          <a:bodyPr wrap="square" lIns="0" tIns="0" rIns="0" bIns="0" rtlCol="0" anchor="t"/>
          <a:lstStyle/>
          <a:p>
            <a:pPr indent="0" marL="0">
              <a:buNone/>
            </a:pPr>
            <a:r>
              <a:rPr lang="en-US" sz="1600" b="1" dirty="0">
                <a:solidFill>
                  <a:schemeClr val="tx1"/>
                </a:solidFill>
              </a:rPr>
              <a:t>Owner signs in and authorizes</a:t>
            </a:r>
            <a:endParaRPr lang="en-US" sz="1400" dirty="0"/>
          </a:p>
          <a:p>
            <a:pPr indent="0" marL="0">
              <a:buNone/>
            </a:pPr>
            <a:r>
              <a:rPr lang="en-US" sz="1400" dirty="0">
                <a:solidFill>
                  <a:schemeClr val="accent4"/>
                </a:solidFill>
              </a:rPr>
              <a:t>Login nonce, policy, and session authorization.</a:t>
            </a:r>
            <a:endParaRPr lang="en-US" sz="1400" dirty="0"/>
          </a:p>
        </p:txBody>
      </p:sp>
      <p:sp>
        <p:nvSpPr>
          <p:cNvPr id="6" name="Number 2"/>
          <p:cNvSpPr/>
          <p:nvPr/>
        </p:nvSpPr>
        <p:spPr>
          <a:xfrm>
            <a:off x="548640" y="2487168"/>
            <a:ext cx="457200" cy="457200"/>
          </a:xfrm>
          <a:prstGeom prst="ellipse">
            <a:avLst/>
          </a:prstGeom>
          <a:solidFill>
            <a:schemeClr val="tx2"/>
          </a:solidFill>
          <a:ln/>
        </p:spPr>
      </p:sp>
      <p:sp>
        <p:nvSpPr>
          <p:cNvPr id="7" name="Text 5"/>
          <p:cNvSpPr txBox="1"/>
          <p:nvPr/>
        </p:nvSpPr>
        <p:spPr>
          <a:xfrm>
            <a:off x="548640" y="24871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234440" y="2468880"/>
            <a:ext cx="4572000" cy="1005840"/>
          </a:xfrm>
          <a:prstGeom prst="rect">
            <a:avLst/>
          </a:prstGeom>
          <a:noFill/>
          <a:ln/>
        </p:spPr>
        <p:txBody>
          <a:bodyPr wrap="square" lIns="0" tIns="0" rIns="0" bIns="0" rtlCol="0" anchor="t"/>
          <a:lstStyle/>
          <a:p>
            <a:pPr indent="0" marL="0">
              <a:buNone/>
            </a:pPr>
            <a:r>
              <a:rPr lang="en-US" sz="1600" b="1" dirty="0">
                <a:solidFill>
                  <a:schemeClr val="tx1"/>
                </a:solidFill>
              </a:rPr>
              <a:t>Astra interprets the goal</a:t>
            </a:r>
            <a:endParaRPr lang="en-US" sz="1400" dirty="0"/>
          </a:p>
          <a:p>
            <a:pPr indent="0" marL="0">
              <a:buNone/>
            </a:pPr>
            <a:r>
              <a:rPr lang="en-US" sz="1400" dirty="0">
                <a:solidFill>
                  <a:schemeClr val="accent4"/>
                </a:solidFill>
              </a:rPr>
              <a:t>The provider signer issues an EIP-712 catalog quote.</a:t>
            </a:r>
            <a:endParaRPr lang="en-US" sz="1400" dirty="0"/>
          </a:p>
        </p:txBody>
      </p:sp>
      <p:sp>
        <p:nvSpPr>
          <p:cNvPr id="9" name="Number 3"/>
          <p:cNvSpPr/>
          <p:nvPr/>
        </p:nvSpPr>
        <p:spPr>
          <a:xfrm>
            <a:off x="548640" y="3602736"/>
            <a:ext cx="457200" cy="457200"/>
          </a:xfrm>
          <a:prstGeom prst="ellipse">
            <a:avLst/>
          </a:prstGeom>
          <a:solidFill>
            <a:schemeClr val="tx2"/>
          </a:solidFill>
          <a:ln/>
        </p:spPr>
      </p:sp>
      <p:sp>
        <p:nvSpPr>
          <p:cNvPr id="10" name="Text 8"/>
          <p:cNvSpPr txBox="1"/>
          <p:nvPr/>
        </p:nvSpPr>
        <p:spPr>
          <a:xfrm>
            <a:off x="548640" y="36027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234440" y="3584448"/>
            <a:ext cx="4572000" cy="1005840"/>
          </a:xfrm>
          <a:prstGeom prst="rect">
            <a:avLst/>
          </a:prstGeom>
          <a:noFill/>
          <a:ln/>
        </p:spPr>
        <p:txBody>
          <a:bodyPr wrap="square" lIns="0" tIns="0" rIns="0" bIns="0" rtlCol="0" anchor="t"/>
          <a:lstStyle/>
          <a:p>
            <a:pPr indent="0" marL="0">
              <a:buNone/>
            </a:pPr>
            <a:r>
              <a:rPr lang="en-US" sz="1600" b="1" dirty="0">
                <a:solidFill>
                  <a:schemeClr val="tx1"/>
                </a:solidFill>
              </a:rPr>
              <a:t>API validates and drafts</a:t>
            </a:r>
            <a:endParaRPr lang="en-US" sz="1400" dirty="0"/>
          </a:p>
          <a:p>
            <a:pPr indent="0" marL="0">
              <a:buNone/>
            </a:pPr>
            <a:r>
              <a:rPr lang="en-US" sz="1400" dirty="0">
                <a:solidFill>
                  <a:schemeClr val="accent4"/>
                </a:solidFill>
              </a:rPr>
              <a:t>Signature, account, token, price, recipient, budget, and expiry are checked; the result is a draft.</a:t>
            </a:r>
            <a:endParaRPr lang="en-US" sz="1400" dirty="0"/>
          </a:p>
        </p:txBody>
      </p:sp>
      <p:sp>
        <p:nvSpPr>
          <p:cNvPr id="12" name="Number 4"/>
          <p:cNvSpPr/>
          <p:nvPr/>
        </p:nvSpPr>
        <p:spPr>
          <a:xfrm>
            <a:off x="548640" y="4718304"/>
            <a:ext cx="457200" cy="457200"/>
          </a:xfrm>
          <a:prstGeom prst="ellipse">
            <a:avLst/>
          </a:prstGeom>
          <a:solidFill>
            <a:schemeClr val="tx2"/>
          </a:solidFill>
          <a:ln/>
        </p:spPr>
      </p:sp>
      <p:sp>
        <p:nvSpPr>
          <p:cNvPr id="13" name="Text 11"/>
          <p:cNvSpPr txBox="1"/>
          <p:nvPr/>
        </p:nvSpPr>
        <p:spPr>
          <a:xfrm>
            <a:off x="548640" y="47183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234440" y="4700016"/>
            <a:ext cx="4572000" cy="1005840"/>
          </a:xfrm>
          <a:prstGeom prst="rect">
            <a:avLst/>
          </a:prstGeom>
          <a:noFill/>
          <a:ln/>
        </p:spPr>
        <p:txBody>
          <a:bodyPr wrap="square" lIns="0" tIns="0" rIns="0" bIns="0" rtlCol="0" anchor="t"/>
          <a:lstStyle/>
          <a:p>
            <a:pPr indent="0" marL="0">
              <a:buNone/>
            </a:pPr>
            <a:r>
              <a:rPr lang="en-US" sz="1600" b="1" dirty="0">
                <a:solidFill>
                  <a:schemeClr val="tx1"/>
                </a:solidFill>
              </a:rPr>
              <a:t>Owner reviews and queues</a:t>
            </a:r>
            <a:endParaRPr lang="en-US" sz="1400" dirty="0"/>
          </a:p>
          <a:p>
            <a:pPr indent="0" marL="0">
              <a:buNone/>
            </a:pPr>
            <a:r>
              <a:rPr lang="en-US" sz="1400" dirty="0">
                <a:solidFill>
                  <a:schemeClr val="accent4"/>
                </a:solidFill>
              </a:rPr>
              <a:t>The owner reviews the invoice and picks the tasks to queue.</a:t>
            </a:r>
            <a:endParaRPr lang="en-US" sz="1400" dirty="0"/>
          </a:p>
        </p:txBody>
      </p:sp>
      <p:sp>
        <p:nvSpPr>
          <p:cNvPr id="15" name="Number 5"/>
          <p:cNvSpPr/>
          <p:nvPr/>
        </p:nvSpPr>
        <p:spPr>
          <a:xfrm>
            <a:off x="6309360" y="1371600"/>
            <a:ext cx="457200" cy="457200"/>
          </a:xfrm>
          <a:prstGeom prst="ellipse">
            <a:avLst/>
          </a:prstGeom>
          <a:solidFill>
            <a:schemeClr val="tx2"/>
          </a:solidFill>
          <a:ln/>
        </p:spPr>
      </p:sp>
      <p:sp>
        <p:nvSpPr>
          <p:cNvPr id="16" name="Text 14"/>
          <p:cNvSpPr txBox="1"/>
          <p:nvPr/>
        </p:nvSpPr>
        <p:spPr>
          <a:xfrm>
            <a:off x="630936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6995160" y="1353312"/>
            <a:ext cx="4572000" cy="1005840"/>
          </a:xfrm>
          <a:prstGeom prst="rect">
            <a:avLst/>
          </a:prstGeom>
          <a:noFill/>
          <a:ln/>
        </p:spPr>
        <p:txBody>
          <a:bodyPr wrap="square" lIns="0" tIns="0" rIns="0" bIns="0" rtlCol="0" anchor="t"/>
          <a:lstStyle/>
          <a:p>
            <a:pPr indent="0" marL="0">
              <a:buNone/>
            </a:pPr>
            <a:r>
              <a:rPr lang="en-US" sz="1600" b="1" dirty="0">
                <a:solidFill>
                  <a:schemeClr val="tx1"/>
                </a:solidFill>
              </a:rPr>
              <a:t>Worker prepares and persists</a:t>
            </a:r>
            <a:endParaRPr lang="en-US" sz="1400" dirty="0"/>
          </a:p>
          <a:p>
            <a:pPr indent="0" marL="0">
              <a:buNone/>
            </a:pPr>
            <a:r>
              <a:rPr lang="en-US" sz="1400" dirty="0">
                <a:solidFill>
                  <a:schemeClr val="accent4"/>
                </a:solidFill>
              </a:rPr>
              <a:t>Locks account/task, rereads state, validates, signs, and stores the attempt before sending.</a:t>
            </a:r>
            <a:endParaRPr lang="en-US" sz="1400" dirty="0"/>
          </a:p>
        </p:txBody>
      </p:sp>
      <p:sp>
        <p:nvSpPr>
          <p:cNvPr id="18" name="Number 6"/>
          <p:cNvSpPr/>
          <p:nvPr/>
        </p:nvSpPr>
        <p:spPr>
          <a:xfrm>
            <a:off x="6309360" y="2487168"/>
            <a:ext cx="457200" cy="457200"/>
          </a:xfrm>
          <a:prstGeom prst="ellipse">
            <a:avLst/>
          </a:prstGeom>
          <a:solidFill>
            <a:schemeClr val="accent2"/>
          </a:solidFill>
          <a:ln/>
        </p:spPr>
      </p:sp>
      <p:sp>
        <p:nvSpPr>
          <p:cNvPr id="19" name="Text 17"/>
          <p:cNvSpPr txBox="1"/>
          <p:nvPr/>
        </p:nvSpPr>
        <p:spPr>
          <a:xfrm>
            <a:off x="6309360" y="248716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20" name="Text 18"/>
          <p:cNvSpPr txBox="1"/>
          <p:nvPr/>
        </p:nvSpPr>
        <p:spPr>
          <a:xfrm>
            <a:off x="6995160" y="2468880"/>
            <a:ext cx="4572000" cy="1005840"/>
          </a:xfrm>
          <a:prstGeom prst="rect">
            <a:avLst/>
          </a:prstGeom>
          <a:noFill/>
          <a:ln/>
        </p:spPr>
        <p:txBody>
          <a:bodyPr wrap="square" lIns="0" tIns="0" rIns="0" bIns="0" rtlCol="0" anchor="t"/>
          <a:lstStyle/>
          <a:p>
            <a:pPr indent="0" marL="0">
              <a:buNone/>
            </a:pPr>
            <a:r>
              <a:rPr lang="en-US" sz="1600" b="1" dirty="0">
                <a:solidFill>
                  <a:schemeClr val="tx1"/>
                </a:solidFill>
              </a:rPr>
              <a:t>Guardian pays atomically</a:t>
            </a:r>
            <a:endParaRPr lang="en-US" sz="1400" dirty="0"/>
          </a:p>
          <a:p>
            <a:pPr indent="0" marL="0">
              <a:buNone/>
            </a:pPr>
            <a:r>
              <a:rPr lang="en-US" sz="1400" dirty="0">
                <a:solidFill>
                  <a:schemeClr val="accent4"/>
                </a:solidFill>
              </a:rPr>
              <a:t>Checks limits and pays; the worker matches receipt and events.</a:t>
            </a:r>
            <a:endParaRPr lang="en-US" sz="1400" dirty="0"/>
          </a:p>
        </p:txBody>
      </p:sp>
      <p:sp>
        <p:nvSpPr>
          <p:cNvPr id="21" name="Number 7"/>
          <p:cNvSpPr/>
          <p:nvPr/>
        </p:nvSpPr>
        <p:spPr>
          <a:xfrm>
            <a:off x="6309360" y="3602736"/>
            <a:ext cx="457200" cy="457200"/>
          </a:xfrm>
          <a:prstGeom prst="ellipse">
            <a:avLst/>
          </a:prstGeom>
          <a:solidFill>
            <a:schemeClr val="tx2"/>
          </a:solidFill>
          <a:ln/>
        </p:spPr>
      </p:sp>
      <p:sp>
        <p:nvSpPr>
          <p:cNvPr id="22" name="Text 20"/>
          <p:cNvSpPr txBox="1"/>
          <p:nvPr/>
        </p:nvSpPr>
        <p:spPr>
          <a:xfrm>
            <a:off x="6309360" y="36027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3" name="Text 21"/>
          <p:cNvSpPr txBox="1"/>
          <p:nvPr/>
        </p:nvSpPr>
        <p:spPr>
          <a:xfrm>
            <a:off x="6995160" y="3584448"/>
            <a:ext cx="4572000" cy="1005840"/>
          </a:xfrm>
          <a:prstGeom prst="rect">
            <a:avLst/>
          </a:prstGeom>
          <a:noFill/>
          <a:ln/>
        </p:spPr>
        <p:txBody>
          <a:bodyPr wrap="square" lIns="0" tIns="0" rIns="0" bIns="0" rtlCol="0" anchor="t"/>
          <a:lstStyle/>
          <a:p>
            <a:pPr indent="0" marL="0">
              <a:buNone/>
            </a:pPr>
            <a:r>
              <a:rPr lang="en-US" sz="1600" b="1" dirty="0">
                <a:solidFill>
                  <a:schemeClr val="tx1"/>
                </a:solidFill>
              </a:rPr>
              <a:t>Provider delivers</a:t>
            </a:r>
            <a:endParaRPr lang="en-US" sz="1400" dirty="0"/>
          </a:p>
          <a:p>
            <a:pPr indent="0" marL="0">
              <a:buNone/>
            </a:pPr>
            <a:r>
              <a:rPr lang="en-US" sz="1400" dirty="0">
                <a:solidFill>
                  <a:schemeClr val="accent4"/>
                </a:solidFill>
              </a:rPr>
              <a:t>The worker checks receipt and probe. A delivery failure never repeats the payment.</a:t>
            </a:r>
            <a:endParaRPr lang="en-US" sz="1400" dirty="0"/>
          </a:p>
        </p:txBody>
      </p:sp>
      <p:sp>
        <p:nvSpPr>
          <p:cNvPr id="24" name="Status card"/>
          <p:cNvSpPr/>
          <p:nvPr/>
        </p:nvSpPr>
        <p:spPr>
          <a:xfrm>
            <a:off x="6309360" y="4663440"/>
            <a:ext cx="5333695" cy="1463040"/>
          </a:xfrm>
          <a:prstGeom prst="roundRect">
            <a:avLst>
              <a:gd name="adj" fmla="val 7500"/>
            </a:avLst>
          </a:prstGeom>
          <a:solidFill>
            <a:schemeClr val="tx2"/>
          </a:solidFill>
          <a:ln/>
        </p:spPr>
      </p:sp>
      <p:sp>
        <p:nvSpPr>
          <p:cNvPr id="25" name="Text 23"/>
          <p:cNvSpPr txBox="1"/>
          <p:nvPr/>
        </p:nvSpPr>
        <p:spPr>
          <a:xfrm>
            <a:off x="6537960" y="4754880"/>
            <a:ext cx="4937760" cy="320040"/>
          </a:xfrm>
          <a:prstGeom prst="rect">
            <a:avLst/>
          </a:prstGeom>
          <a:noFill/>
          <a:ln/>
        </p:spPr>
        <p:txBody>
          <a:bodyPr wrap="square" lIns="0" tIns="0" rIns="0" bIns="0" rtlCol="0" anchor="t"/>
          <a:lstStyle/>
          <a:p>
            <a:pPr indent="0" marL="0">
              <a:buNone/>
            </a:pPr>
            <a:r>
              <a:rPr lang="en-US" sz="1600" b="1" dirty="0">
                <a:solidFill>
                  <a:schemeClr val="accent6"/>
                </a:solidFill>
              </a:rPr>
              <a:t>Statuses are not interchangeable</a:t>
            </a:r>
            <a:endParaRPr lang="en-US" sz="1600" dirty="0"/>
          </a:p>
        </p:txBody>
      </p:sp>
      <p:sp>
        <p:nvSpPr>
          <p:cNvPr id="26" name="Chip draft"/>
          <p:cNvSpPr/>
          <p:nvPr/>
        </p:nvSpPr>
        <p:spPr>
          <a:xfrm>
            <a:off x="6537960" y="5166360"/>
            <a:ext cx="1097280" cy="411480"/>
          </a:xfrm>
          <a:prstGeom prst="roundRect">
            <a:avLst>
              <a:gd name="adj" fmla="val 22222"/>
            </a:avLst>
          </a:prstGeom>
          <a:noFill/>
          <a:ln w="15875">
            <a:solidFill>
              <a:schemeClr val="accent6"/>
            </a:solidFill>
            <a:prstDash val="solid"/>
          </a:ln>
        </p:spPr>
      </p:sp>
      <p:sp>
        <p:nvSpPr>
          <p:cNvPr id="27" name="Text 25"/>
          <p:cNvSpPr txBox="1"/>
          <p:nvPr/>
        </p:nvSpPr>
        <p:spPr>
          <a:xfrm>
            <a:off x="6611112" y="5166360"/>
            <a:ext cx="950976" cy="411480"/>
          </a:xfrm>
          <a:prstGeom prst="rect">
            <a:avLst/>
          </a:prstGeom>
          <a:noFill/>
          <a:ln/>
        </p:spPr>
        <p:txBody>
          <a:bodyPr wrap="square" lIns="0" tIns="0" rIns="0" bIns="0" rtlCol="0" anchor="ctr"/>
          <a:lstStyle/>
          <a:p>
            <a:pPr algn="ctr" indent="0" marL="0">
              <a:buNone/>
            </a:pPr>
            <a:r>
              <a:rPr lang="en-US" sz="1400" b="1" dirty="0">
                <a:solidFill>
                  <a:schemeClr val="bg1"/>
                </a:solidFill>
              </a:rPr>
              <a:t>draft</a:t>
            </a:r>
            <a:endParaRPr lang="en-US" sz="1400" dirty="0"/>
          </a:p>
        </p:txBody>
      </p:sp>
      <p:sp>
        <p:nvSpPr>
          <p:cNvPr id="28" name="Chip queued"/>
          <p:cNvSpPr/>
          <p:nvPr/>
        </p:nvSpPr>
        <p:spPr>
          <a:xfrm>
            <a:off x="7744968" y="5166360"/>
            <a:ext cx="1097280" cy="411480"/>
          </a:xfrm>
          <a:prstGeom prst="roundRect">
            <a:avLst>
              <a:gd name="adj" fmla="val 22222"/>
            </a:avLst>
          </a:prstGeom>
          <a:noFill/>
          <a:ln w="15875">
            <a:solidFill>
              <a:schemeClr val="accent6"/>
            </a:solidFill>
            <a:prstDash val="solid"/>
          </a:ln>
        </p:spPr>
      </p:sp>
      <p:sp>
        <p:nvSpPr>
          <p:cNvPr id="29" name="Text 27"/>
          <p:cNvSpPr txBox="1"/>
          <p:nvPr/>
        </p:nvSpPr>
        <p:spPr>
          <a:xfrm>
            <a:off x="7818120" y="5166360"/>
            <a:ext cx="950976" cy="411480"/>
          </a:xfrm>
          <a:prstGeom prst="rect">
            <a:avLst/>
          </a:prstGeom>
          <a:noFill/>
          <a:ln/>
        </p:spPr>
        <p:txBody>
          <a:bodyPr wrap="square" lIns="0" tIns="0" rIns="0" bIns="0" rtlCol="0" anchor="ctr"/>
          <a:lstStyle/>
          <a:p>
            <a:pPr algn="ctr" indent="0" marL="0">
              <a:buNone/>
            </a:pPr>
            <a:r>
              <a:rPr lang="en-US" sz="1400" b="1" dirty="0">
                <a:solidFill>
                  <a:schemeClr val="bg1"/>
                </a:solidFill>
              </a:rPr>
              <a:t>queued</a:t>
            </a:r>
            <a:endParaRPr lang="en-US" sz="1400" dirty="0"/>
          </a:p>
        </p:txBody>
      </p:sp>
      <p:sp>
        <p:nvSpPr>
          <p:cNvPr id="30" name="Chip paid"/>
          <p:cNvSpPr/>
          <p:nvPr/>
        </p:nvSpPr>
        <p:spPr>
          <a:xfrm>
            <a:off x="8951976" y="5166360"/>
            <a:ext cx="1097280" cy="411480"/>
          </a:xfrm>
          <a:prstGeom prst="roundRect">
            <a:avLst>
              <a:gd name="adj" fmla="val 22222"/>
            </a:avLst>
          </a:prstGeom>
          <a:noFill/>
          <a:ln w="15875">
            <a:solidFill>
              <a:schemeClr val="accent6"/>
            </a:solidFill>
            <a:prstDash val="solid"/>
          </a:ln>
        </p:spPr>
      </p:sp>
      <p:sp>
        <p:nvSpPr>
          <p:cNvPr id="31" name="Text 29"/>
          <p:cNvSpPr txBox="1"/>
          <p:nvPr/>
        </p:nvSpPr>
        <p:spPr>
          <a:xfrm>
            <a:off x="9025128" y="5166360"/>
            <a:ext cx="950976" cy="411480"/>
          </a:xfrm>
          <a:prstGeom prst="rect">
            <a:avLst/>
          </a:prstGeom>
          <a:noFill/>
          <a:ln/>
        </p:spPr>
        <p:txBody>
          <a:bodyPr wrap="square" lIns="0" tIns="0" rIns="0" bIns="0" rtlCol="0" anchor="ctr"/>
          <a:lstStyle/>
          <a:p>
            <a:pPr algn="ctr" indent="0" marL="0">
              <a:buNone/>
            </a:pPr>
            <a:r>
              <a:rPr lang="en-US" sz="1400" b="1" dirty="0">
                <a:solidFill>
                  <a:schemeClr val="bg1"/>
                </a:solidFill>
              </a:rPr>
              <a:t>paid</a:t>
            </a:r>
            <a:endParaRPr lang="en-US" sz="1400" dirty="0"/>
          </a:p>
        </p:txBody>
      </p:sp>
      <p:sp>
        <p:nvSpPr>
          <p:cNvPr id="32" name="Chip completed"/>
          <p:cNvSpPr/>
          <p:nvPr/>
        </p:nvSpPr>
        <p:spPr>
          <a:xfrm>
            <a:off x="10158984" y="5166360"/>
            <a:ext cx="1097280" cy="411480"/>
          </a:xfrm>
          <a:prstGeom prst="roundRect">
            <a:avLst>
              <a:gd name="adj" fmla="val 22222"/>
            </a:avLst>
          </a:prstGeom>
          <a:solidFill>
            <a:schemeClr val="accent1"/>
          </a:solidFill>
          <a:ln/>
        </p:spPr>
      </p:sp>
      <p:sp>
        <p:nvSpPr>
          <p:cNvPr id="33" name="Text 31"/>
          <p:cNvSpPr txBox="1"/>
          <p:nvPr/>
        </p:nvSpPr>
        <p:spPr>
          <a:xfrm>
            <a:off x="10232136" y="5166360"/>
            <a:ext cx="950976" cy="411480"/>
          </a:xfrm>
          <a:prstGeom prst="rect">
            <a:avLst/>
          </a:prstGeom>
          <a:noFill/>
          <a:ln/>
        </p:spPr>
        <p:txBody>
          <a:bodyPr wrap="square" lIns="0" tIns="0" rIns="0" bIns="0" rtlCol="0" anchor="ctr"/>
          <a:lstStyle/>
          <a:p>
            <a:pPr algn="ctr" indent="0" marL="0">
              <a:buNone/>
            </a:pPr>
            <a:r>
              <a:rPr lang="en-US" sz="1400" b="1" dirty="0">
                <a:solidFill>
                  <a:schemeClr val="tx1"/>
                </a:solidFill>
              </a:rPr>
              <a:t>completed</a:t>
            </a:r>
            <a:endParaRPr lang="en-US" sz="1400" dirty="0"/>
          </a:p>
        </p:txBody>
      </p:sp>
      <p:sp>
        <p:nvSpPr>
          <p:cNvPr id="34" name="Text 32"/>
          <p:cNvSpPr txBox="1"/>
          <p:nvPr/>
        </p:nvSpPr>
        <p:spPr>
          <a:xfrm>
            <a:off x="6537960" y="5623560"/>
            <a:ext cx="4937760" cy="457200"/>
          </a:xfrm>
          <a:prstGeom prst="rect">
            <a:avLst/>
          </a:prstGeom>
          <a:noFill/>
          <a:ln/>
        </p:spPr>
        <p:txBody>
          <a:bodyPr wrap="square" lIns="0" tIns="0" rIns="0" bIns="0" rtlCol="0" anchor="t"/>
          <a:lstStyle/>
          <a:p>
            <a:pPr indent="0" marL="0">
              <a:buNone/>
            </a:pPr>
            <a:r>
              <a:rPr lang="en-US" sz="1400" dirty="0">
                <a:solidFill>
                  <a:schemeClr val="bg1"/>
                </a:solidFill>
              </a:rPr>
              <a:t>Draft and queued are not transactions; completed requires delivery evidence.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Direct settlement vs. opt-in escrow</a:t>
            </a:r>
            <a:endParaRPr lang="en-US" sz="3600" dirty="0"/>
          </a:p>
        </p:txBody>
      </p:sp>
      <p:sp>
        <p:nvSpPr>
          <p:cNvPr id="3" name="Card Direct settlement (default)"/>
          <p:cNvSpPr/>
          <p:nvPr/>
        </p:nvSpPr>
        <p:spPr>
          <a:xfrm>
            <a:off x="548640" y="1280160"/>
            <a:ext cx="5456225" cy="3063240"/>
          </a:xfrm>
          <a:prstGeom prst="roundRect">
            <a:avLst>
              <a:gd name="adj" fmla="val 3582"/>
            </a:avLst>
          </a:prstGeom>
          <a:solidFill>
            <a:schemeClr val="bg2"/>
          </a:solidFill>
          <a:ln/>
        </p:spPr>
      </p:sp>
      <p:sp>
        <p:nvSpPr>
          <p:cNvPr id="4" name="Text 2"/>
          <p:cNvSpPr txBox="1"/>
          <p:nvPr/>
        </p:nvSpPr>
        <p:spPr>
          <a:xfrm>
            <a:off x="749808" y="1389888"/>
            <a:ext cx="5053889" cy="320040"/>
          </a:xfrm>
          <a:prstGeom prst="rect">
            <a:avLst/>
          </a:prstGeom>
          <a:noFill/>
          <a:ln/>
        </p:spPr>
        <p:txBody>
          <a:bodyPr wrap="square" lIns="0" tIns="0" rIns="0" bIns="0" rtlCol="0" anchor="t"/>
          <a:lstStyle/>
          <a:p>
            <a:pPr indent="0" marL="0">
              <a:buNone/>
            </a:pPr>
            <a:r>
              <a:rPr lang="en-US" sz="1800" b="1" dirty="0">
                <a:solidFill>
                  <a:schemeClr val="tx2"/>
                </a:solidFill>
              </a:rPr>
              <a:t>Direct settlement (default)</a:t>
            </a:r>
            <a:endParaRPr lang="en-US" sz="1800" dirty="0"/>
          </a:p>
        </p:txBody>
      </p:sp>
      <p:sp>
        <p:nvSpPr>
          <p:cNvPr id="5" name="Text 3"/>
          <p:cNvSpPr txBox="1"/>
          <p:nvPr/>
        </p:nvSpPr>
        <p:spPr>
          <a:xfrm>
            <a:off x="749808" y="1755648"/>
            <a:ext cx="5053889" cy="2514600"/>
          </a:xfrm>
          <a:prstGeom prst="rect">
            <a:avLst/>
          </a:prstGeom>
          <a:noFill/>
          <a:ln/>
        </p:spPr>
        <p:txBody>
          <a:bodyPr wrap="square" lIns="0" tIns="0" rIns="0" bIns="0" rtlCol="0" anchor="t"/>
          <a:lstStyle/>
          <a:p>
            <a:pPr indent="0" marL="0">
              <a:buNone/>
            </a:pPr>
            <a:endParaRPr lang="en-US" sz="1400" dirty="0"/>
          </a:p>
        </p:txBody>
      </p:sp>
      <p:sp>
        <p:nvSpPr>
          <p:cNvPr id="6" name="Text 4"/>
          <p:cNvSpPr txBox="1"/>
          <p:nvPr/>
        </p:nvSpPr>
        <p:spPr>
          <a:xfrm>
            <a:off x="749808" y="1828800"/>
            <a:ext cx="5053889" cy="24688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The session may call executePayments; tokens go to the provider after quote and policy validation.</a:t>
            </a:r>
            <a:endParaRPr lang="en-US" sz="1400" dirty="0"/>
          </a:p>
          <a:p>
            <a:pPr marL="177800" indent="-177800">
              <a:spcAft>
                <a:spcPts val="500"/>
              </a:spcAft>
              <a:buSzPct val="100000"/>
              <a:buChar char="•"/>
            </a:pPr>
            <a:r>
              <a:rPr lang="en-US" sz="1400" dirty="0">
                <a:solidFill>
                  <a:schemeClr val="tx1"/>
                </a:solidFill>
              </a:rPr>
              <a:t>Delivery happens after payment, so a service failure can leave the task service_pending (owner attention).</a:t>
            </a:r>
            <a:endParaRPr lang="en-US" sz="1400" dirty="0"/>
          </a:p>
          <a:p>
            <a:pPr marL="177800" indent="-177800">
              <a:spcAft>
                <a:spcPts val="500"/>
              </a:spcAft>
              <a:buSzPct val="100000"/>
              <a:buChar char="•"/>
            </a:pPr>
            <a:r>
              <a:rPr lang="en-US" sz="1400" dirty="0">
                <a:solidFill>
                  <a:schemeClr val="tx1"/>
                </a:solidFill>
              </a:rPr>
              <a:t>Supports opt-in queue batching.</a:t>
            </a:r>
            <a:endParaRPr lang="en-US" sz="1400" dirty="0"/>
          </a:p>
        </p:txBody>
      </p:sp>
      <p:sp>
        <p:nvSpPr>
          <p:cNvPr id="7" name="Card Opt-in escrow (experimental)"/>
          <p:cNvSpPr/>
          <p:nvPr/>
        </p:nvSpPr>
        <p:spPr>
          <a:xfrm>
            <a:off x="6187745" y="1280160"/>
            <a:ext cx="5456225" cy="3063240"/>
          </a:xfrm>
          <a:prstGeom prst="roundRect">
            <a:avLst>
              <a:gd name="adj" fmla="val 3582"/>
            </a:avLst>
          </a:prstGeom>
          <a:solidFill>
            <a:srgbClr val="DDF1EE"/>
          </a:solidFill>
          <a:ln/>
        </p:spPr>
      </p:sp>
      <p:sp>
        <p:nvSpPr>
          <p:cNvPr id="8" name="Text 6"/>
          <p:cNvSpPr txBox="1"/>
          <p:nvPr/>
        </p:nvSpPr>
        <p:spPr>
          <a:xfrm>
            <a:off x="6388913" y="1389888"/>
            <a:ext cx="5053889" cy="320040"/>
          </a:xfrm>
          <a:prstGeom prst="rect">
            <a:avLst/>
          </a:prstGeom>
          <a:noFill/>
          <a:ln/>
        </p:spPr>
        <p:txBody>
          <a:bodyPr wrap="square" lIns="0" tIns="0" rIns="0" bIns="0" rtlCol="0" anchor="t"/>
          <a:lstStyle/>
          <a:p>
            <a:pPr indent="0" marL="0">
              <a:buNone/>
            </a:pPr>
            <a:r>
              <a:rPr lang="en-US" sz="1800" b="1" dirty="0">
                <a:solidFill>
                  <a:schemeClr val="tx2"/>
                </a:solidFill>
              </a:rPr>
              <a:t>Opt-in escrow (experimental)</a:t>
            </a:r>
            <a:endParaRPr lang="en-US" sz="1800" dirty="0"/>
          </a:p>
        </p:txBody>
      </p:sp>
      <p:sp>
        <p:nvSpPr>
          <p:cNvPr id="9" name="Text 7"/>
          <p:cNvSpPr txBox="1"/>
          <p:nvPr/>
        </p:nvSpPr>
        <p:spPr>
          <a:xfrm>
            <a:off x="6388913" y="1755648"/>
            <a:ext cx="5053889" cy="2514600"/>
          </a:xfrm>
          <a:prstGeom prst="rect">
            <a:avLst/>
          </a:prstGeom>
          <a:noFill/>
          <a:ln/>
        </p:spPr>
        <p:txBody>
          <a:bodyPr wrap="square" lIns="0" tIns="0" rIns="0" bIns="0" rtlCol="0" anchor="t"/>
          <a:lstStyle/>
          <a:p>
            <a:pPr indent="0" marL="0">
              <a:buNone/>
            </a:pPr>
            <a:endParaRPr lang="en-US" sz="1400" dirty="0"/>
          </a:p>
        </p:txBody>
      </p:sp>
      <p:sp>
        <p:nvSpPr>
          <p:cNvPr id="10" name="Text 8"/>
          <p:cNvSpPr txBox="1"/>
          <p:nvPr/>
        </p:nvSpPr>
        <p:spPr>
          <a:xfrm>
            <a:off x="6388913" y="1828800"/>
            <a:ext cx="5053889" cy="24688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A new owner-authorized account with separate selectors: lockPayment, releaseEscrow, refundEscrow.</a:t>
            </a:r>
            <a:endParaRPr lang="en-US" sz="1400" dirty="0"/>
          </a:p>
          <a:p>
            <a:pPr marL="177800" indent="-177800">
              <a:spcAft>
                <a:spcPts val="500"/>
              </a:spcAft>
              <a:buSzPct val="100000"/>
              <a:buChar char="•"/>
            </a:pPr>
            <a:r>
              <a:rPr lang="en-US" sz="1400" dirty="0">
                <a:solidFill>
                  <a:schemeClr val="tx1"/>
                </a:solidFill>
              </a:rPr>
              <a:t>Funds stay locked until the provider signer's EIP-712 attestation releases them.</a:t>
            </a:r>
            <a:endParaRPr lang="en-US" sz="1400" dirty="0"/>
          </a:p>
          <a:p>
            <a:pPr marL="177800" indent="-177800">
              <a:spcAft>
                <a:spcPts val="500"/>
              </a:spcAft>
              <a:buSzPct val="100000"/>
              <a:buChar char="•"/>
            </a:pPr>
            <a:r>
              <a:rPr lang="en-US" sz="1400" dirty="0">
                <a:solidFill>
                  <a:schemeClr val="tx1"/>
                </a:solidFill>
              </a:rPr>
              <a:t>After a 24-hour maximum deadline, anyone can trigger a refund to the smart account; the invoice ID stays consumed.</a:t>
            </a:r>
            <a:endParaRPr lang="en-US" sz="1400" dirty="0"/>
          </a:p>
          <a:p>
            <a:pPr marL="177800" indent="-177800">
              <a:spcAft>
                <a:spcPts val="500"/>
              </a:spcAft>
              <a:buSzPct val="100000"/>
              <a:buChar char="•"/>
            </a:pPr>
            <a:r>
              <a:rPr lang="en-US" sz="1400" dirty="0">
                <a:solidFill>
                  <a:schemeClr val="tx1"/>
                </a:solidFill>
              </a:rPr>
              <a:t>One invoice per operation; no batching.</a:t>
            </a:r>
            <a:endParaRPr lang="en-US" sz="1400" dirty="0"/>
          </a:p>
        </p:txBody>
      </p:sp>
      <p:sp>
        <p:nvSpPr>
          <p:cNvPr id="11" name="Chip Validate quote"/>
          <p:cNvSpPr/>
          <p:nvPr/>
        </p:nvSpPr>
        <p:spPr>
          <a:xfrm>
            <a:off x="548640" y="4526280"/>
            <a:ext cx="1554480" cy="502920"/>
          </a:xfrm>
          <a:prstGeom prst="roundRect">
            <a:avLst>
              <a:gd name="adj" fmla="val 18182"/>
            </a:avLst>
          </a:prstGeom>
          <a:solidFill>
            <a:schemeClr val="tx2"/>
          </a:solidFill>
          <a:ln/>
        </p:spPr>
      </p:sp>
      <p:sp>
        <p:nvSpPr>
          <p:cNvPr id="12" name="Text 10"/>
          <p:cNvSpPr txBox="1"/>
          <p:nvPr/>
        </p:nvSpPr>
        <p:spPr>
          <a:xfrm>
            <a:off x="621792" y="4526280"/>
            <a:ext cx="1408176" cy="502920"/>
          </a:xfrm>
          <a:prstGeom prst="rect">
            <a:avLst/>
          </a:prstGeom>
          <a:noFill/>
          <a:ln/>
        </p:spPr>
        <p:txBody>
          <a:bodyPr wrap="square" lIns="0" tIns="0" rIns="0" bIns="0" rtlCol="0" anchor="ctr"/>
          <a:lstStyle/>
          <a:p>
            <a:pPr algn="ctr" indent="0" marL="0">
              <a:buNone/>
            </a:pPr>
            <a:r>
              <a:rPr lang="en-US" sz="1400" b="1" dirty="0">
                <a:solidFill>
                  <a:schemeClr val="bg1"/>
                </a:solidFill>
              </a:rPr>
              <a:t>Validate quote</a:t>
            </a:r>
            <a:endParaRPr lang="en-US" sz="1400" dirty="0"/>
          </a:p>
        </p:txBody>
      </p:sp>
      <p:sp>
        <p:nvSpPr>
          <p:cNvPr id="13" name="Arrow"/>
          <p:cNvSpPr/>
          <p:nvPr/>
        </p:nvSpPr>
        <p:spPr>
          <a:xfrm>
            <a:off x="2121408" y="4654296"/>
            <a:ext cx="237744" cy="237744"/>
          </a:xfrm>
          <a:prstGeom prst="rightArrow">
            <a:avLst/>
          </a:prstGeom>
          <a:solidFill>
            <a:schemeClr val="accent1"/>
          </a:solidFill>
          <a:ln/>
        </p:spPr>
      </p:sp>
      <p:sp>
        <p:nvSpPr>
          <p:cNvPr id="14" name="Chip Pay provider"/>
          <p:cNvSpPr/>
          <p:nvPr/>
        </p:nvSpPr>
        <p:spPr>
          <a:xfrm>
            <a:off x="2377440" y="4526280"/>
            <a:ext cx="1554480" cy="502920"/>
          </a:xfrm>
          <a:prstGeom prst="roundRect">
            <a:avLst>
              <a:gd name="adj" fmla="val 18182"/>
            </a:avLst>
          </a:prstGeom>
          <a:solidFill>
            <a:schemeClr val="tx2"/>
          </a:solidFill>
          <a:ln/>
        </p:spPr>
      </p:sp>
      <p:sp>
        <p:nvSpPr>
          <p:cNvPr id="15" name="Text 13"/>
          <p:cNvSpPr txBox="1"/>
          <p:nvPr/>
        </p:nvSpPr>
        <p:spPr>
          <a:xfrm>
            <a:off x="2450592" y="4526280"/>
            <a:ext cx="1408176" cy="502920"/>
          </a:xfrm>
          <a:prstGeom prst="rect">
            <a:avLst/>
          </a:prstGeom>
          <a:noFill/>
          <a:ln/>
        </p:spPr>
        <p:txBody>
          <a:bodyPr wrap="square" lIns="0" tIns="0" rIns="0" bIns="0" rtlCol="0" anchor="ctr"/>
          <a:lstStyle/>
          <a:p>
            <a:pPr algn="ctr" indent="0" marL="0">
              <a:buNone/>
            </a:pPr>
            <a:r>
              <a:rPr lang="en-US" sz="1400" b="1" dirty="0">
                <a:solidFill>
                  <a:schemeClr val="bg1"/>
                </a:solidFill>
              </a:rPr>
              <a:t>Pay provider</a:t>
            </a:r>
            <a:endParaRPr lang="en-US" sz="1400" dirty="0"/>
          </a:p>
        </p:txBody>
      </p:sp>
      <p:sp>
        <p:nvSpPr>
          <p:cNvPr id="16" name="Arrow"/>
          <p:cNvSpPr/>
          <p:nvPr/>
        </p:nvSpPr>
        <p:spPr>
          <a:xfrm>
            <a:off x="3950208" y="4654296"/>
            <a:ext cx="237744" cy="237744"/>
          </a:xfrm>
          <a:prstGeom prst="rightArrow">
            <a:avLst/>
          </a:prstGeom>
          <a:solidFill>
            <a:schemeClr val="accent1"/>
          </a:solidFill>
          <a:ln/>
        </p:spPr>
      </p:sp>
      <p:sp>
        <p:nvSpPr>
          <p:cNvPr id="17" name="Chip Check delivery"/>
          <p:cNvSpPr/>
          <p:nvPr/>
        </p:nvSpPr>
        <p:spPr>
          <a:xfrm>
            <a:off x="4206240" y="4526280"/>
            <a:ext cx="1554480" cy="502920"/>
          </a:xfrm>
          <a:prstGeom prst="roundRect">
            <a:avLst>
              <a:gd name="adj" fmla="val 18182"/>
            </a:avLst>
          </a:prstGeom>
          <a:solidFill>
            <a:schemeClr val="tx2"/>
          </a:solidFill>
          <a:ln/>
        </p:spPr>
      </p:sp>
      <p:sp>
        <p:nvSpPr>
          <p:cNvPr id="18" name="Text 16"/>
          <p:cNvSpPr txBox="1"/>
          <p:nvPr/>
        </p:nvSpPr>
        <p:spPr>
          <a:xfrm>
            <a:off x="4279392" y="4526280"/>
            <a:ext cx="1408176" cy="502920"/>
          </a:xfrm>
          <a:prstGeom prst="rect">
            <a:avLst/>
          </a:prstGeom>
          <a:noFill/>
          <a:ln/>
        </p:spPr>
        <p:txBody>
          <a:bodyPr wrap="square" lIns="0" tIns="0" rIns="0" bIns="0" rtlCol="0" anchor="ctr"/>
          <a:lstStyle/>
          <a:p>
            <a:pPr algn="ctr" indent="0" marL="0">
              <a:buNone/>
            </a:pPr>
            <a:r>
              <a:rPr lang="en-US" sz="1400" b="1" dirty="0">
                <a:solidFill>
                  <a:schemeClr val="bg1"/>
                </a:solidFill>
              </a:rPr>
              <a:t>Check delivery</a:t>
            </a:r>
            <a:endParaRPr lang="en-US" sz="1400" dirty="0"/>
          </a:p>
        </p:txBody>
      </p:sp>
      <p:sp>
        <p:nvSpPr>
          <p:cNvPr id="19" name="Chip Lock"/>
          <p:cNvSpPr/>
          <p:nvPr/>
        </p:nvSpPr>
        <p:spPr>
          <a:xfrm>
            <a:off x="6187745" y="4526280"/>
            <a:ext cx="1143000" cy="502920"/>
          </a:xfrm>
          <a:prstGeom prst="roundRect">
            <a:avLst>
              <a:gd name="adj" fmla="val 18182"/>
            </a:avLst>
          </a:prstGeom>
          <a:solidFill>
            <a:schemeClr val="accent1"/>
          </a:solidFill>
          <a:ln/>
        </p:spPr>
      </p:sp>
      <p:sp>
        <p:nvSpPr>
          <p:cNvPr id="20" name="Text 18"/>
          <p:cNvSpPr txBox="1"/>
          <p:nvPr/>
        </p:nvSpPr>
        <p:spPr>
          <a:xfrm>
            <a:off x="6260897" y="4526280"/>
            <a:ext cx="996696" cy="502920"/>
          </a:xfrm>
          <a:prstGeom prst="rect">
            <a:avLst/>
          </a:prstGeom>
          <a:noFill/>
          <a:ln/>
        </p:spPr>
        <p:txBody>
          <a:bodyPr wrap="square" lIns="0" tIns="0" rIns="0" bIns="0" rtlCol="0" anchor="ctr"/>
          <a:lstStyle/>
          <a:p>
            <a:pPr algn="ctr" indent="0" marL="0">
              <a:buNone/>
            </a:pPr>
            <a:r>
              <a:rPr lang="en-US" sz="1400" b="1" dirty="0">
                <a:solidFill>
                  <a:schemeClr val="tx1"/>
                </a:solidFill>
              </a:rPr>
              <a:t>Lock</a:t>
            </a:r>
            <a:endParaRPr lang="en-US" sz="1400" dirty="0"/>
          </a:p>
        </p:txBody>
      </p:sp>
      <p:sp>
        <p:nvSpPr>
          <p:cNvPr id="21" name="Arrow"/>
          <p:cNvSpPr/>
          <p:nvPr/>
        </p:nvSpPr>
        <p:spPr>
          <a:xfrm>
            <a:off x="7339889" y="4654296"/>
            <a:ext cx="219456" cy="237744"/>
          </a:xfrm>
          <a:prstGeom prst="rightArrow">
            <a:avLst/>
          </a:prstGeom>
          <a:solidFill>
            <a:schemeClr val="tx2"/>
          </a:solidFill>
          <a:ln/>
        </p:spPr>
      </p:sp>
      <p:sp>
        <p:nvSpPr>
          <p:cNvPr id="22" name="Chip Stage &amp; test"/>
          <p:cNvSpPr/>
          <p:nvPr/>
        </p:nvSpPr>
        <p:spPr>
          <a:xfrm>
            <a:off x="7577633" y="4526280"/>
            <a:ext cx="1143000" cy="502920"/>
          </a:xfrm>
          <a:prstGeom prst="roundRect">
            <a:avLst>
              <a:gd name="adj" fmla="val 18182"/>
            </a:avLst>
          </a:prstGeom>
          <a:solidFill>
            <a:schemeClr val="accent1"/>
          </a:solidFill>
          <a:ln/>
        </p:spPr>
      </p:sp>
      <p:sp>
        <p:nvSpPr>
          <p:cNvPr id="23" name="Text 21"/>
          <p:cNvSpPr txBox="1"/>
          <p:nvPr/>
        </p:nvSpPr>
        <p:spPr>
          <a:xfrm>
            <a:off x="7650785" y="4526280"/>
            <a:ext cx="996696" cy="502920"/>
          </a:xfrm>
          <a:prstGeom prst="rect">
            <a:avLst/>
          </a:prstGeom>
          <a:noFill/>
          <a:ln/>
        </p:spPr>
        <p:txBody>
          <a:bodyPr wrap="square" lIns="0" tIns="0" rIns="0" bIns="0" rtlCol="0" anchor="ctr"/>
          <a:lstStyle/>
          <a:p>
            <a:pPr algn="ctr" indent="0" marL="0">
              <a:buNone/>
            </a:pPr>
            <a:r>
              <a:rPr lang="en-US" sz="1400" b="1" dirty="0">
                <a:solidFill>
                  <a:schemeClr val="tx1"/>
                </a:solidFill>
              </a:rPr>
              <a:t>Stage &amp; test</a:t>
            </a:r>
            <a:endParaRPr lang="en-US" sz="1400" dirty="0"/>
          </a:p>
        </p:txBody>
      </p:sp>
      <p:sp>
        <p:nvSpPr>
          <p:cNvPr id="24" name="Arrow"/>
          <p:cNvSpPr/>
          <p:nvPr/>
        </p:nvSpPr>
        <p:spPr>
          <a:xfrm>
            <a:off x="8729777" y="4654296"/>
            <a:ext cx="219456" cy="237744"/>
          </a:xfrm>
          <a:prstGeom prst="rightArrow">
            <a:avLst/>
          </a:prstGeom>
          <a:solidFill>
            <a:schemeClr val="tx2"/>
          </a:solidFill>
          <a:ln/>
        </p:spPr>
      </p:sp>
      <p:sp>
        <p:nvSpPr>
          <p:cNvPr id="25" name="Chip Attest"/>
          <p:cNvSpPr/>
          <p:nvPr/>
        </p:nvSpPr>
        <p:spPr>
          <a:xfrm>
            <a:off x="8967521" y="4526280"/>
            <a:ext cx="1143000" cy="502920"/>
          </a:xfrm>
          <a:prstGeom prst="roundRect">
            <a:avLst>
              <a:gd name="adj" fmla="val 18182"/>
            </a:avLst>
          </a:prstGeom>
          <a:solidFill>
            <a:schemeClr val="accent1"/>
          </a:solidFill>
          <a:ln/>
        </p:spPr>
      </p:sp>
      <p:sp>
        <p:nvSpPr>
          <p:cNvPr id="26" name="Text 24"/>
          <p:cNvSpPr txBox="1"/>
          <p:nvPr/>
        </p:nvSpPr>
        <p:spPr>
          <a:xfrm>
            <a:off x="9040673" y="4526280"/>
            <a:ext cx="996696" cy="502920"/>
          </a:xfrm>
          <a:prstGeom prst="rect">
            <a:avLst/>
          </a:prstGeom>
          <a:noFill/>
          <a:ln/>
        </p:spPr>
        <p:txBody>
          <a:bodyPr wrap="square" lIns="0" tIns="0" rIns="0" bIns="0" rtlCol="0" anchor="ctr"/>
          <a:lstStyle/>
          <a:p>
            <a:pPr algn="ctr" indent="0" marL="0">
              <a:buNone/>
            </a:pPr>
            <a:r>
              <a:rPr lang="en-US" sz="1400" b="1" dirty="0">
                <a:solidFill>
                  <a:schemeClr val="tx1"/>
                </a:solidFill>
              </a:rPr>
              <a:t>Attest</a:t>
            </a:r>
            <a:endParaRPr lang="en-US" sz="1400" dirty="0"/>
          </a:p>
        </p:txBody>
      </p:sp>
      <p:sp>
        <p:nvSpPr>
          <p:cNvPr id="27" name="Arrow"/>
          <p:cNvSpPr/>
          <p:nvPr/>
        </p:nvSpPr>
        <p:spPr>
          <a:xfrm>
            <a:off x="10119665" y="4654296"/>
            <a:ext cx="219456" cy="237744"/>
          </a:xfrm>
          <a:prstGeom prst="rightArrow">
            <a:avLst/>
          </a:prstGeom>
          <a:solidFill>
            <a:schemeClr val="tx2"/>
          </a:solidFill>
          <a:ln/>
        </p:spPr>
      </p:sp>
      <p:sp>
        <p:nvSpPr>
          <p:cNvPr id="28" name="Chip Release"/>
          <p:cNvSpPr/>
          <p:nvPr/>
        </p:nvSpPr>
        <p:spPr>
          <a:xfrm>
            <a:off x="10357409" y="4526280"/>
            <a:ext cx="1143000" cy="502920"/>
          </a:xfrm>
          <a:prstGeom prst="roundRect">
            <a:avLst>
              <a:gd name="adj" fmla="val 18182"/>
            </a:avLst>
          </a:prstGeom>
          <a:solidFill>
            <a:schemeClr val="accent1"/>
          </a:solidFill>
          <a:ln/>
        </p:spPr>
      </p:sp>
      <p:sp>
        <p:nvSpPr>
          <p:cNvPr id="29" name="Text 27"/>
          <p:cNvSpPr txBox="1"/>
          <p:nvPr/>
        </p:nvSpPr>
        <p:spPr>
          <a:xfrm>
            <a:off x="10430561" y="4526280"/>
            <a:ext cx="996696" cy="502920"/>
          </a:xfrm>
          <a:prstGeom prst="rect">
            <a:avLst/>
          </a:prstGeom>
          <a:noFill/>
          <a:ln/>
        </p:spPr>
        <p:txBody>
          <a:bodyPr wrap="square" lIns="0" tIns="0" rIns="0" bIns="0" rtlCol="0" anchor="ctr"/>
          <a:lstStyle/>
          <a:p>
            <a:pPr algn="ctr" indent="0" marL="0">
              <a:buNone/>
            </a:pPr>
            <a:r>
              <a:rPr lang="en-US" sz="1400" b="1" dirty="0">
                <a:solidFill>
                  <a:schemeClr val="tx1"/>
                </a:solidFill>
              </a:rPr>
              <a:t>Release</a:t>
            </a:r>
            <a:endParaRPr lang="en-US" sz="1400" dirty="0"/>
          </a:p>
        </p:txBody>
      </p:sp>
      <p:sp>
        <p:nvSpPr>
          <p:cNvPr id="30" name="Chip Deadline ≤ 24 h → refund to account"/>
          <p:cNvSpPr/>
          <p:nvPr/>
        </p:nvSpPr>
        <p:spPr>
          <a:xfrm>
            <a:off x="6187745" y="5102352"/>
            <a:ext cx="3291840" cy="365760"/>
          </a:xfrm>
          <a:prstGeom prst="roundRect">
            <a:avLst>
              <a:gd name="adj" fmla="val 25000"/>
            </a:avLst>
          </a:prstGeom>
          <a:noFill/>
          <a:ln w="22225">
            <a:solidFill>
              <a:schemeClr val="accent2"/>
            </a:solidFill>
            <a:prstDash val="solid"/>
          </a:ln>
        </p:spPr>
      </p:sp>
      <p:sp>
        <p:nvSpPr>
          <p:cNvPr id="31" name="Text 29"/>
          <p:cNvSpPr txBox="1"/>
          <p:nvPr/>
        </p:nvSpPr>
        <p:spPr>
          <a:xfrm>
            <a:off x="6260897" y="5102352"/>
            <a:ext cx="3145536" cy="365760"/>
          </a:xfrm>
          <a:prstGeom prst="rect">
            <a:avLst/>
          </a:prstGeom>
          <a:noFill/>
          <a:ln/>
        </p:spPr>
        <p:txBody>
          <a:bodyPr wrap="square" lIns="0" tIns="0" rIns="0" bIns="0" rtlCol="0" anchor="ctr"/>
          <a:lstStyle/>
          <a:p>
            <a:pPr algn="ctr" indent="0" marL="0">
              <a:buNone/>
            </a:pPr>
            <a:r>
              <a:rPr lang="en-US" sz="1400" dirty="0">
                <a:solidFill>
                  <a:schemeClr val="tx1"/>
                </a:solidFill>
              </a:rPr>
              <a:t>Deadline ≤ 24 h → refund to account</a:t>
            </a:r>
            <a:endParaRPr lang="en-US" sz="1400" dirty="0"/>
          </a:p>
        </p:txBody>
      </p:sp>
      <p:sp>
        <p:nvSpPr>
          <p:cNvPr id="32" name="Caveat banner"/>
          <p:cNvSpPr/>
          <p:nvPr/>
        </p:nvSpPr>
        <p:spPr>
          <a:xfrm>
            <a:off x="548640" y="5623560"/>
            <a:ext cx="11094415" cy="685800"/>
          </a:xfrm>
          <a:prstGeom prst="roundRect">
            <a:avLst>
              <a:gd name="adj" fmla="val 13333"/>
            </a:avLst>
          </a:prstGeom>
          <a:solidFill>
            <a:schemeClr val="accent2">
              <a:alpha val="25000"/>
            </a:schemeClr>
          </a:solidFill>
          <a:ln/>
        </p:spPr>
      </p:sp>
      <p:sp>
        <p:nvSpPr>
          <p:cNvPr id="33" name="Text 31"/>
          <p:cNvSpPr txBox="1"/>
          <p:nvPr/>
        </p:nvSpPr>
        <p:spPr>
          <a:xfrm>
            <a:off x="777240" y="5623560"/>
            <a:ext cx="10637215" cy="685800"/>
          </a:xfrm>
          <a:prstGeom prst="rect">
            <a:avLst/>
          </a:prstGeom>
          <a:noFill/>
          <a:ln/>
        </p:spPr>
        <p:txBody>
          <a:bodyPr wrap="square" lIns="0" tIns="0" rIns="0" bIns="0" rtlCol="0" anchor="ctr"/>
          <a:lstStyle/>
          <a:p>
            <a:pPr indent="0" marL="0">
              <a:buNone/>
            </a:pPr>
            <a:r>
              <a:rPr lang="en-US" sz="1400" b="1" dirty="0">
                <a:solidFill>
                  <a:schemeClr val="tx1"/>
                </a:solidFill>
              </a:rPr>
              <a:t>Trust assumption: </a:t>
            </a:r>
            <a:pPr indent="0" marL="0">
              <a:buNone/>
            </a:pPr>
            <a:r>
              <a:rPr lang="en-US" sz="1400" dirty="0">
                <a:solidFill>
                  <a:schemeClr val="tx1"/>
                </a:solidFill>
              </a:rPr>
              <a:t>an attestation means the provider signer says the service is ready—not cryptographic proof of quality. Tested on a fork and one separate owner-authorized Base Sepolia demo; not a guarantee of dispute-free fulfillment.</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Security by permission tier</a:t>
            </a:r>
            <a:endParaRPr lang="en-US" sz="3600" dirty="0"/>
          </a:p>
        </p:txBody>
      </p:sp>
      <p:sp>
        <p:nvSpPr>
          <p:cNvPr id="3" name="Text 1"/>
          <p:cNvSpPr txBox="1"/>
          <p:nvPr/>
        </p:nvSpPr>
        <p:spPr>
          <a:xfrm>
            <a:off x="1188720" y="1170432"/>
            <a:ext cx="2743200" cy="228600"/>
          </a:xfrm>
          <a:prstGeom prst="rect">
            <a:avLst/>
          </a:prstGeom>
          <a:noFill/>
          <a:ln/>
        </p:spPr>
        <p:txBody>
          <a:bodyPr wrap="square" lIns="0" tIns="0" rIns="0" bIns="0" rtlCol="0" anchor="t"/>
          <a:lstStyle/>
          <a:p>
            <a:pPr indent="0" marL="0">
              <a:buNone/>
            </a:pPr>
            <a:r>
              <a:rPr lang="en-US" sz="1200" b="1" dirty="0">
                <a:solidFill>
                  <a:schemeClr val="accent4"/>
                </a:solidFill>
              </a:rPr>
              <a:t>Actor</a:t>
            </a:r>
            <a:endParaRPr lang="en-US" sz="1200" dirty="0"/>
          </a:p>
        </p:txBody>
      </p:sp>
      <p:sp>
        <p:nvSpPr>
          <p:cNvPr id="4" name="Text 2"/>
          <p:cNvSpPr txBox="1"/>
          <p:nvPr/>
        </p:nvSpPr>
        <p:spPr>
          <a:xfrm>
            <a:off x="4114800" y="1170432"/>
            <a:ext cx="5486400" cy="228600"/>
          </a:xfrm>
          <a:prstGeom prst="rect">
            <a:avLst/>
          </a:prstGeom>
          <a:noFill/>
          <a:ln/>
        </p:spPr>
        <p:txBody>
          <a:bodyPr wrap="square" lIns="0" tIns="0" rIns="0" bIns="0" rtlCol="0" anchor="t"/>
          <a:lstStyle/>
          <a:p>
            <a:pPr indent="0" marL="0">
              <a:buNone/>
            </a:pPr>
            <a:r>
              <a:rPr lang="en-US" sz="1200" b="1" dirty="0">
                <a:solidFill>
                  <a:schemeClr val="accent4"/>
                </a:solidFill>
              </a:rPr>
              <a:t>Permission summary</a:t>
            </a:r>
            <a:endParaRPr lang="en-US" sz="1200" dirty="0"/>
          </a:p>
        </p:txBody>
      </p:sp>
      <p:sp>
        <p:nvSpPr>
          <p:cNvPr id="5" name="Tier 0"/>
          <p:cNvSpPr/>
          <p:nvPr/>
        </p:nvSpPr>
        <p:spPr>
          <a:xfrm>
            <a:off x="548640" y="1444752"/>
            <a:ext cx="11094415" cy="548640"/>
          </a:xfrm>
          <a:prstGeom prst="roundRect">
            <a:avLst>
              <a:gd name="adj" fmla="val 20000"/>
            </a:avLst>
          </a:prstGeom>
          <a:solidFill>
            <a:schemeClr val="bg2"/>
          </a:solidFill>
          <a:ln/>
        </p:spPr>
      </p:sp>
      <p:sp>
        <p:nvSpPr>
          <p:cNvPr id="6" name="Number 0"/>
          <p:cNvSpPr/>
          <p:nvPr/>
        </p:nvSpPr>
        <p:spPr>
          <a:xfrm>
            <a:off x="658368" y="1536192"/>
            <a:ext cx="365760" cy="365760"/>
          </a:xfrm>
          <a:prstGeom prst="ellipse">
            <a:avLst/>
          </a:prstGeom>
          <a:solidFill>
            <a:schemeClr val="tx2"/>
          </a:solidFill>
          <a:ln/>
        </p:spPr>
      </p:sp>
      <p:sp>
        <p:nvSpPr>
          <p:cNvPr id="7" name="Text 5"/>
          <p:cNvSpPr txBox="1"/>
          <p:nvPr/>
        </p:nvSpPr>
        <p:spPr>
          <a:xfrm>
            <a:off x="658368" y="153619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0</a:t>
            </a:r>
            <a:endParaRPr lang="en-US" sz="1400" dirty="0"/>
          </a:p>
        </p:txBody>
      </p:sp>
      <p:sp>
        <p:nvSpPr>
          <p:cNvPr id="8" name="Text 6"/>
          <p:cNvSpPr txBox="1"/>
          <p:nvPr/>
        </p:nvSpPr>
        <p:spPr>
          <a:xfrm>
            <a:off x="1188720" y="1444752"/>
            <a:ext cx="2743200" cy="548640"/>
          </a:xfrm>
          <a:prstGeom prst="rect">
            <a:avLst/>
          </a:prstGeom>
          <a:noFill/>
          <a:ln/>
        </p:spPr>
        <p:txBody>
          <a:bodyPr wrap="square" lIns="0" tIns="0" rIns="0" bIns="0" rtlCol="0" anchor="ctr"/>
          <a:lstStyle/>
          <a:p>
            <a:pPr indent="0" marL="0">
              <a:buNone/>
            </a:pPr>
            <a:r>
              <a:rPr lang="en-US" sz="1500" b="1" dirty="0">
                <a:solidFill>
                  <a:schemeClr val="tx2"/>
                </a:solidFill>
              </a:rPr>
              <a:t>Owner</a:t>
            </a:r>
            <a:endParaRPr lang="en-US" sz="1500" dirty="0"/>
          </a:p>
        </p:txBody>
      </p:sp>
      <p:sp>
        <p:nvSpPr>
          <p:cNvPr id="9" name="Text 7"/>
          <p:cNvSpPr txBox="1"/>
          <p:nvPr/>
        </p:nvSpPr>
        <p:spPr>
          <a:xfrm>
            <a:off x="4114800" y="1444752"/>
            <a:ext cx="7406640" cy="548640"/>
          </a:xfrm>
          <a:prstGeom prst="rect">
            <a:avLst/>
          </a:prstGeom>
          <a:noFill/>
          <a:ln/>
        </p:spPr>
        <p:txBody>
          <a:bodyPr wrap="square" lIns="0" tIns="0" rIns="0" bIns="0" rtlCol="0" anchor="ctr"/>
          <a:lstStyle/>
          <a:p>
            <a:pPr indent="0" marL="0">
              <a:buNone/>
            </a:pPr>
            <a:r>
              <a:rPr lang="en-US" sz="1400" dirty="0">
                <a:solidFill>
                  <a:schemeClr val="tx1"/>
                </a:solidFill>
              </a:rPr>
              <a:t>Policy, recipients, pause/unpause, session authorize/revoke.</a:t>
            </a:r>
            <a:endParaRPr lang="en-US" sz="1400" dirty="0"/>
          </a:p>
        </p:txBody>
      </p:sp>
      <p:sp>
        <p:nvSpPr>
          <p:cNvPr id="10" name="Tier 1"/>
          <p:cNvSpPr/>
          <p:nvPr/>
        </p:nvSpPr>
        <p:spPr>
          <a:xfrm>
            <a:off x="548640" y="2039112"/>
            <a:ext cx="11094415" cy="548640"/>
          </a:xfrm>
          <a:prstGeom prst="roundRect">
            <a:avLst>
              <a:gd name="adj" fmla="val 20000"/>
            </a:avLst>
          </a:prstGeom>
          <a:solidFill>
            <a:schemeClr val="bg1"/>
          </a:solidFill>
          <a:ln w="12700">
            <a:solidFill>
              <a:srgbClr val="EEF4F3"/>
            </a:solidFill>
            <a:prstDash val="solid"/>
          </a:ln>
        </p:spPr>
      </p:sp>
      <p:sp>
        <p:nvSpPr>
          <p:cNvPr id="11" name="Number 1"/>
          <p:cNvSpPr/>
          <p:nvPr/>
        </p:nvSpPr>
        <p:spPr>
          <a:xfrm>
            <a:off x="658368" y="2130552"/>
            <a:ext cx="365760" cy="365760"/>
          </a:xfrm>
          <a:prstGeom prst="ellipse">
            <a:avLst/>
          </a:prstGeom>
          <a:solidFill>
            <a:schemeClr val="tx2"/>
          </a:solidFill>
          <a:ln/>
        </p:spPr>
      </p:sp>
      <p:sp>
        <p:nvSpPr>
          <p:cNvPr id="12" name="Text 10"/>
          <p:cNvSpPr txBox="1"/>
          <p:nvPr/>
        </p:nvSpPr>
        <p:spPr>
          <a:xfrm>
            <a:off x="658368" y="21305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3" name="Text 11"/>
          <p:cNvSpPr txBox="1"/>
          <p:nvPr/>
        </p:nvSpPr>
        <p:spPr>
          <a:xfrm>
            <a:off x="1188720" y="2039112"/>
            <a:ext cx="2743200" cy="548640"/>
          </a:xfrm>
          <a:prstGeom prst="rect">
            <a:avLst/>
          </a:prstGeom>
          <a:noFill/>
          <a:ln/>
        </p:spPr>
        <p:txBody>
          <a:bodyPr wrap="square" lIns="0" tIns="0" rIns="0" bIns="0" rtlCol="0" anchor="ctr"/>
          <a:lstStyle/>
          <a:p>
            <a:pPr indent="0" marL="0">
              <a:buNone/>
            </a:pPr>
            <a:r>
              <a:rPr lang="en-US" sz="1500" b="1" dirty="0">
                <a:solidFill>
                  <a:schemeClr val="tx2"/>
                </a:solidFill>
              </a:rPr>
              <a:t>AI model</a:t>
            </a:r>
            <a:endParaRPr lang="en-US" sz="1500" dirty="0"/>
          </a:p>
        </p:txBody>
      </p:sp>
      <p:sp>
        <p:nvSpPr>
          <p:cNvPr id="14" name="Text 12"/>
          <p:cNvSpPr txBox="1"/>
          <p:nvPr/>
        </p:nvSpPr>
        <p:spPr>
          <a:xfrm>
            <a:off x="4114800" y="2039112"/>
            <a:ext cx="7406640" cy="548640"/>
          </a:xfrm>
          <a:prstGeom prst="rect">
            <a:avLst/>
          </a:prstGeom>
          <a:noFill/>
          <a:ln/>
        </p:spPr>
        <p:txBody>
          <a:bodyPr wrap="square" lIns="0" tIns="0" rIns="0" bIns="0" rtlCol="0" anchor="ctr"/>
          <a:lstStyle/>
          <a:p>
            <a:pPr indent="0" marL="0">
              <a:buNone/>
            </a:pPr>
            <a:r>
              <a:rPr lang="en-US" sz="1400" dirty="0">
                <a:solidFill>
                  <a:schemeClr val="tx1"/>
                </a:solidFill>
              </a:rPr>
              <a:t>Intent/summary JSON only—no signer, key, calldata, or send.</a:t>
            </a:r>
            <a:endParaRPr lang="en-US" sz="1400" dirty="0"/>
          </a:p>
        </p:txBody>
      </p:sp>
      <p:sp>
        <p:nvSpPr>
          <p:cNvPr id="15" name="Tier 2"/>
          <p:cNvSpPr/>
          <p:nvPr/>
        </p:nvSpPr>
        <p:spPr>
          <a:xfrm>
            <a:off x="548640" y="2633472"/>
            <a:ext cx="11094415" cy="548640"/>
          </a:xfrm>
          <a:prstGeom prst="roundRect">
            <a:avLst>
              <a:gd name="adj" fmla="val 20000"/>
            </a:avLst>
          </a:prstGeom>
          <a:solidFill>
            <a:schemeClr val="bg2"/>
          </a:solidFill>
          <a:ln/>
        </p:spPr>
      </p:sp>
      <p:sp>
        <p:nvSpPr>
          <p:cNvPr id="16" name="Number 2"/>
          <p:cNvSpPr/>
          <p:nvPr/>
        </p:nvSpPr>
        <p:spPr>
          <a:xfrm>
            <a:off x="658368" y="2724912"/>
            <a:ext cx="365760" cy="365760"/>
          </a:xfrm>
          <a:prstGeom prst="ellipse">
            <a:avLst/>
          </a:prstGeom>
          <a:solidFill>
            <a:schemeClr val="tx2"/>
          </a:solidFill>
          <a:ln/>
        </p:spPr>
      </p:sp>
      <p:sp>
        <p:nvSpPr>
          <p:cNvPr id="17" name="Text 15"/>
          <p:cNvSpPr txBox="1"/>
          <p:nvPr/>
        </p:nvSpPr>
        <p:spPr>
          <a:xfrm>
            <a:off x="658368" y="272491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8" name="Text 16"/>
          <p:cNvSpPr txBox="1"/>
          <p:nvPr/>
        </p:nvSpPr>
        <p:spPr>
          <a:xfrm>
            <a:off x="1188720" y="2633472"/>
            <a:ext cx="2743200" cy="548640"/>
          </a:xfrm>
          <a:prstGeom prst="rect">
            <a:avLst/>
          </a:prstGeom>
          <a:noFill/>
          <a:ln/>
        </p:spPr>
        <p:txBody>
          <a:bodyPr wrap="square" lIns="0" tIns="0" rIns="0" bIns="0" rtlCol="0" anchor="ctr"/>
          <a:lstStyle/>
          <a:p>
            <a:pPr indent="0" marL="0">
              <a:buNone/>
            </a:pPr>
            <a:r>
              <a:rPr lang="en-US" sz="1500" b="1" dirty="0">
                <a:solidFill>
                  <a:schemeClr val="tx2"/>
                </a:solidFill>
              </a:rPr>
              <a:t>API</a:t>
            </a:r>
            <a:endParaRPr lang="en-US" sz="1500" dirty="0"/>
          </a:p>
        </p:txBody>
      </p:sp>
      <p:sp>
        <p:nvSpPr>
          <p:cNvPr id="19" name="Text 17"/>
          <p:cNvSpPr txBox="1"/>
          <p:nvPr/>
        </p:nvSpPr>
        <p:spPr>
          <a:xfrm>
            <a:off x="4114800" y="2633472"/>
            <a:ext cx="7406640" cy="548640"/>
          </a:xfrm>
          <a:prstGeom prst="rect">
            <a:avLst/>
          </a:prstGeom>
          <a:noFill/>
          <a:ln/>
        </p:spPr>
        <p:txBody>
          <a:bodyPr wrap="square" lIns="0" tIns="0" rIns="0" bIns="0" rtlCol="0" anchor="ctr"/>
          <a:lstStyle/>
          <a:p>
            <a:pPr indent="0" marL="0">
              <a:buNone/>
            </a:pPr>
            <a:r>
              <a:rPr lang="en-US" sz="1400" dirty="0">
                <a:solidFill>
                  <a:schemeClr val="tx1"/>
                </a:solidFill>
              </a:rPr>
              <a:t>Validate quote/state, create draft, queue owner-selected tasks.</a:t>
            </a:r>
            <a:endParaRPr lang="en-US" sz="1400" dirty="0"/>
          </a:p>
        </p:txBody>
      </p:sp>
      <p:sp>
        <p:nvSpPr>
          <p:cNvPr id="20" name="Tier 3"/>
          <p:cNvSpPr/>
          <p:nvPr/>
        </p:nvSpPr>
        <p:spPr>
          <a:xfrm>
            <a:off x="548640" y="3227832"/>
            <a:ext cx="11094415" cy="548640"/>
          </a:xfrm>
          <a:prstGeom prst="roundRect">
            <a:avLst>
              <a:gd name="adj" fmla="val 20000"/>
            </a:avLst>
          </a:prstGeom>
          <a:solidFill>
            <a:schemeClr val="bg1"/>
          </a:solidFill>
          <a:ln w="12700">
            <a:solidFill>
              <a:srgbClr val="EEF4F3"/>
            </a:solidFill>
            <a:prstDash val="solid"/>
          </a:ln>
        </p:spPr>
      </p:sp>
      <p:sp>
        <p:nvSpPr>
          <p:cNvPr id="21" name="Number 3"/>
          <p:cNvSpPr/>
          <p:nvPr/>
        </p:nvSpPr>
        <p:spPr>
          <a:xfrm>
            <a:off x="658368" y="3319272"/>
            <a:ext cx="365760" cy="365760"/>
          </a:xfrm>
          <a:prstGeom prst="ellipse">
            <a:avLst/>
          </a:prstGeom>
          <a:solidFill>
            <a:schemeClr val="tx2"/>
          </a:solidFill>
          <a:ln/>
        </p:spPr>
      </p:sp>
      <p:sp>
        <p:nvSpPr>
          <p:cNvPr id="22" name="Text 20"/>
          <p:cNvSpPr txBox="1"/>
          <p:nvPr/>
        </p:nvSpPr>
        <p:spPr>
          <a:xfrm>
            <a:off x="658368" y="331927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3" name="Text 21"/>
          <p:cNvSpPr txBox="1"/>
          <p:nvPr/>
        </p:nvSpPr>
        <p:spPr>
          <a:xfrm>
            <a:off x="1188720" y="3227832"/>
            <a:ext cx="2743200" cy="548640"/>
          </a:xfrm>
          <a:prstGeom prst="rect">
            <a:avLst/>
          </a:prstGeom>
          <a:noFill/>
          <a:ln/>
        </p:spPr>
        <p:txBody>
          <a:bodyPr wrap="square" lIns="0" tIns="0" rIns="0" bIns="0" rtlCol="0" anchor="ctr"/>
          <a:lstStyle/>
          <a:p>
            <a:pPr indent="0" marL="0">
              <a:buNone/>
            </a:pPr>
            <a:r>
              <a:rPr lang="en-US" sz="1500" b="1" dirty="0">
                <a:solidFill>
                  <a:schemeClr val="tx2"/>
                </a:solidFill>
              </a:rPr>
              <a:t>Worker / session</a:t>
            </a:r>
            <a:endParaRPr lang="en-US" sz="1500" dirty="0"/>
          </a:p>
        </p:txBody>
      </p:sp>
      <p:sp>
        <p:nvSpPr>
          <p:cNvPr id="24" name="Text 22"/>
          <p:cNvSpPr txBox="1"/>
          <p:nvPr/>
        </p:nvSpPr>
        <p:spPr>
          <a:xfrm>
            <a:off x="4114800" y="3227832"/>
            <a:ext cx="7406640" cy="548640"/>
          </a:xfrm>
          <a:prstGeom prst="rect">
            <a:avLst/>
          </a:prstGeom>
          <a:noFill/>
          <a:ln/>
        </p:spPr>
        <p:txBody>
          <a:bodyPr wrap="square" lIns="0" tIns="0" rIns="0" bIns="0" rtlCol="0" anchor="ctr"/>
          <a:lstStyle/>
          <a:p>
            <a:pPr indent="0" marL="0">
              <a:buNone/>
            </a:pPr>
            <a:r>
              <a:rPr lang="en-US" sz="1400" dirty="0">
                <a:solidFill>
                  <a:schemeClr val="tx1"/>
                </a:solidFill>
              </a:rPr>
              <a:t>Authorized Guardian selectors, native value 0, limited expiry. Escrow selectors only on opt-in accounts.</a:t>
            </a:r>
            <a:endParaRPr lang="en-US" sz="1400" dirty="0"/>
          </a:p>
        </p:txBody>
      </p:sp>
      <p:sp>
        <p:nvSpPr>
          <p:cNvPr id="25" name="Tier 4"/>
          <p:cNvSpPr/>
          <p:nvPr/>
        </p:nvSpPr>
        <p:spPr>
          <a:xfrm>
            <a:off x="548640" y="3822192"/>
            <a:ext cx="11094415" cy="548640"/>
          </a:xfrm>
          <a:prstGeom prst="roundRect">
            <a:avLst>
              <a:gd name="adj" fmla="val 20000"/>
            </a:avLst>
          </a:prstGeom>
          <a:solidFill>
            <a:schemeClr val="bg2"/>
          </a:solidFill>
          <a:ln/>
        </p:spPr>
      </p:sp>
      <p:sp>
        <p:nvSpPr>
          <p:cNvPr id="26" name="Number 4"/>
          <p:cNvSpPr/>
          <p:nvPr/>
        </p:nvSpPr>
        <p:spPr>
          <a:xfrm>
            <a:off x="658368" y="3913632"/>
            <a:ext cx="365760" cy="365760"/>
          </a:xfrm>
          <a:prstGeom prst="ellipse">
            <a:avLst/>
          </a:prstGeom>
          <a:solidFill>
            <a:schemeClr val="accent2"/>
          </a:solidFill>
          <a:ln/>
        </p:spPr>
      </p:sp>
      <p:sp>
        <p:nvSpPr>
          <p:cNvPr id="27" name="Text 25"/>
          <p:cNvSpPr txBox="1"/>
          <p:nvPr/>
        </p:nvSpPr>
        <p:spPr>
          <a:xfrm>
            <a:off x="658368" y="3913632"/>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8" name="Text 26"/>
          <p:cNvSpPr txBox="1"/>
          <p:nvPr/>
        </p:nvSpPr>
        <p:spPr>
          <a:xfrm>
            <a:off x="1188720" y="3822192"/>
            <a:ext cx="2743200" cy="548640"/>
          </a:xfrm>
          <a:prstGeom prst="rect">
            <a:avLst/>
          </a:prstGeom>
          <a:noFill/>
          <a:ln/>
        </p:spPr>
        <p:txBody>
          <a:bodyPr wrap="square" lIns="0" tIns="0" rIns="0" bIns="0" rtlCol="0" anchor="ctr"/>
          <a:lstStyle/>
          <a:p>
            <a:pPr indent="0" marL="0">
              <a:buNone/>
            </a:pPr>
            <a:r>
              <a:rPr lang="en-US" sz="1500" b="1" dirty="0">
                <a:solidFill>
                  <a:schemeClr val="tx2"/>
                </a:solidFill>
              </a:rPr>
              <a:t>Guardian contract</a:t>
            </a:r>
            <a:endParaRPr lang="en-US" sz="1500" dirty="0"/>
          </a:p>
        </p:txBody>
      </p:sp>
      <p:sp>
        <p:nvSpPr>
          <p:cNvPr id="29" name="Text 27"/>
          <p:cNvSpPr txBox="1"/>
          <p:nvPr/>
        </p:nvSpPr>
        <p:spPr>
          <a:xfrm>
            <a:off x="4114800" y="3822192"/>
            <a:ext cx="7406640" cy="548640"/>
          </a:xfrm>
          <a:prstGeom prst="rect">
            <a:avLst/>
          </a:prstGeom>
          <a:noFill/>
          <a:ln/>
        </p:spPr>
        <p:txBody>
          <a:bodyPr wrap="square" lIns="0" tIns="0" rIns="0" bIns="0" rtlCol="0" anchor="ctr"/>
          <a:lstStyle/>
          <a:p>
            <a:pPr indent="0" marL="0">
              <a:buNone/>
            </a:pPr>
            <a:r>
              <a:rPr lang="en-US" sz="1400" dirty="0">
                <a:solidFill>
                  <a:schemeClr val="tx1"/>
                </a:solidFill>
              </a:rPr>
              <a:t>Caps, reserve, allowlist, replay protection, expiry, atomic transfer.</a:t>
            </a:r>
            <a:endParaRPr lang="en-US" sz="1400" dirty="0"/>
          </a:p>
        </p:txBody>
      </p:sp>
      <p:sp>
        <p:nvSpPr>
          <p:cNvPr id="30" name="Tier 5"/>
          <p:cNvSpPr/>
          <p:nvPr/>
        </p:nvSpPr>
        <p:spPr>
          <a:xfrm>
            <a:off x="548640" y="4416552"/>
            <a:ext cx="11094415" cy="548640"/>
          </a:xfrm>
          <a:prstGeom prst="roundRect">
            <a:avLst>
              <a:gd name="adj" fmla="val 20000"/>
            </a:avLst>
          </a:prstGeom>
          <a:solidFill>
            <a:schemeClr val="bg1"/>
          </a:solidFill>
          <a:ln w="12700">
            <a:solidFill>
              <a:srgbClr val="EEF4F3"/>
            </a:solidFill>
            <a:prstDash val="solid"/>
          </a:ln>
        </p:spPr>
      </p:sp>
      <p:sp>
        <p:nvSpPr>
          <p:cNvPr id="31" name="Number 5"/>
          <p:cNvSpPr/>
          <p:nvPr/>
        </p:nvSpPr>
        <p:spPr>
          <a:xfrm>
            <a:off x="658368" y="4507992"/>
            <a:ext cx="365760" cy="365760"/>
          </a:xfrm>
          <a:prstGeom prst="ellipse">
            <a:avLst/>
          </a:prstGeom>
          <a:solidFill>
            <a:schemeClr val="tx2"/>
          </a:solidFill>
          <a:ln/>
        </p:spPr>
      </p:sp>
      <p:sp>
        <p:nvSpPr>
          <p:cNvPr id="32" name="Text 30"/>
          <p:cNvSpPr txBox="1"/>
          <p:nvPr/>
        </p:nvSpPr>
        <p:spPr>
          <a:xfrm>
            <a:off x="658368" y="450799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3" name="Text 31"/>
          <p:cNvSpPr txBox="1"/>
          <p:nvPr/>
        </p:nvSpPr>
        <p:spPr>
          <a:xfrm>
            <a:off x="1188720" y="4416552"/>
            <a:ext cx="2743200" cy="548640"/>
          </a:xfrm>
          <a:prstGeom prst="rect">
            <a:avLst/>
          </a:prstGeom>
          <a:noFill/>
          <a:ln/>
        </p:spPr>
        <p:txBody>
          <a:bodyPr wrap="square" lIns="0" tIns="0" rIns="0" bIns="0" rtlCol="0" anchor="ctr"/>
          <a:lstStyle/>
          <a:p>
            <a:pPr indent="0" marL="0">
              <a:buNone/>
            </a:pPr>
            <a:r>
              <a:rPr lang="en-US" sz="1500" b="1" dirty="0">
                <a:solidFill>
                  <a:schemeClr val="tx2"/>
                </a:solidFill>
              </a:rPr>
              <a:t>Provider signer</a:t>
            </a:r>
            <a:endParaRPr lang="en-US" sz="1500" dirty="0"/>
          </a:p>
        </p:txBody>
      </p:sp>
      <p:sp>
        <p:nvSpPr>
          <p:cNvPr id="34" name="Text 32"/>
          <p:cNvSpPr txBox="1"/>
          <p:nvPr/>
        </p:nvSpPr>
        <p:spPr>
          <a:xfrm>
            <a:off x="4114800" y="4416552"/>
            <a:ext cx="7406640" cy="548640"/>
          </a:xfrm>
          <a:prstGeom prst="rect">
            <a:avLst/>
          </a:prstGeom>
          <a:noFill/>
          <a:ln/>
        </p:spPr>
        <p:txBody>
          <a:bodyPr wrap="square" lIns="0" tIns="0" rIns="0" bIns="0" rtlCol="0" anchor="ctr"/>
          <a:lstStyle/>
          <a:p>
            <a:pPr indent="0" marL="0">
              <a:buNone/>
            </a:pPr>
            <a:r>
              <a:rPr lang="en-US" sz="1400" dirty="0">
                <a:solidFill>
                  <a:schemeClr val="tx1"/>
                </a:solidFill>
              </a:rPr>
              <a:t>Catalog quotes and delivery attestations—not the owner's wallet key.</a:t>
            </a:r>
            <a:endParaRPr lang="en-US" sz="1400" dirty="0"/>
          </a:p>
        </p:txBody>
      </p:sp>
      <p:sp>
        <p:nvSpPr>
          <p:cNvPr id="35" name="Tier 6"/>
          <p:cNvSpPr/>
          <p:nvPr/>
        </p:nvSpPr>
        <p:spPr>
          <a:xfrm>
            <a:off x="548640" y="5010912"/>
            <a:ext cx="11094415" cy="548640"/>
          </a:xfrm>
          <a:prstGeom prst="roundRect">
            <a:avLst>
              <a:gd name="adj" fmla="val 20000"/>
            </a:avLst>
          </a:prstGeom>
          <a:solidFill>
            <a:schemeClr val="bg2"/>
          </a:solidFill>
          <a:ln/>
        </p:spPr>
      </p:sp>
      <p:sp>
        <p:nvSpPr>
          <p:cNvPr id="36" name="Number 6"/>
          <p:cNvSpPr/>
          <p:nvPr/>
        </p:nvSpPr>
        <p:spPr>
          <a:xfrm>
            <a:off x="658368" y="5102352"/>
            <a:ext cx="365760" cy="365760"/>
          </a:xfrm>
          <a:prstGeom prst="ellipse">
            <a:avLst/>
          </a:prstGeom>
          <a:solidFill>
            <a:schemeClr val="tx2"/>
          </a:solidFill>
          <a:ln/>
        </p:spPr>
      </p:sp>
      <p:sp>
        <p:nvSpPr>
          <p:cNvPr id="37" name="Text 35"/>
          <p:cNvSpPr txBox="1"/>
          <p:nvPr/>
        </p:nvSpPr>
        <p:spPr>
          <a:xfrm>
            <a:off x="658368" y="51023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8" name="Text 36"/>
          <p:cNvSpPr txBox="1"/>
          <p:nvPr/>
        </p:nvSpPr>
        <p:spPr>
          <a:xfrm>
            <a:off x="1188720" y="5010912"/>
            <a:ext cx="2743200" cy="548640"/>
          </a:xfrm>
          <a:prstGeom prst="rect">
            <a:avLst/>
          </a:prstGeom>
          <a:noFill/>
          <a:ln/>
        </p:spPr>
        <p:txBody>
          <a:bodyPr wrap="square" lIns="0" tIns="0" rIns="0" bIns="0" rtlCol="0" anchor="ctr"/>
          <a:lstStyle/>
          <a:p>
            <a:pPr indent="0" marL="0">
              <a:buNone/>
            </a:pPr>
            <a:r>
              <a:rPr lang="en-US" sz="1500" b="1" dirty="0">
                <a:solidFill>
                  <a:schemeClr val="tx2"/>
                </a:solidFill>
              </a:rPr>
              <a:t>Reviewer capability</a:t>
            </a:r>
            <a:endParaRPr lang="en-US" sz="1500" dirty="0"/>
          </a:p>
        </p:txBody>
      </p:sp>
      <p:sp>
        <p:nvSpPr>
          <p:cNvPr id="39" name="Text 37"/>
          <p:cNvSpPr txBox="1"/>
          <p:nvPr/>
        </p:nvSpPr>
        <p:spPr>
          <a:xfrm>
            <a:off x="4114800" y="5010912"/>
            <a:ext cx="7406640" cy="548640"/>
          </a:xfrm>
          <a:prstGeom prst="rect">
            <a:avLst/>
          </a:prstGeom>
          <a:noFill/>
          <a:ln/>
        </p:spPr>
        <p:txBody>
          <a:bodyPr wrap="square" lIns="0" tIns="0" rIns="0" bIns="0" rtlCol="0" anchor="ctr"/>
          <a:lstStyle/>
          <a:p>
            <a:pPr indent="0" marL="0">
              <a:buNone/>
            </a:pPr>
            <a:r>
              <a:rPr lang="en-US" sz="1400" dirty="0">
                <a:solidFill>
                  <a:schemeClr val="tx1"/>
                </a:solidFill>
              </a:rPr>
              <a:t>Route- and time-limited access to a disposable workspace.</a:t>
            </a:r>
            <a:endParaRPr lang="en-US" sz="1400" dirty="0"/>
          </a:p>
        </p:txBody>
      </p:sp>
      <p:sp>
        <p:nvSpPr>
          <p:cNvPr id="40" name="Blocked banner"/>
          <p:cNvSpPr/>
          <p:nvPr/>
        </p:nvSpPr>
        <p:spPr>
          <a:xfrm>
            <a:off x="548640" y="5687568"/>
            <a:ext cx="11094415" cy="640080"/>
          </a:xfrm>
          <a:prstGeom prst="roundRect">
            <a:avLst>
              <a:gd name="adj" fmla="val 17143"/>
            </a:avLst>
          </a:prstGeom>
          <a:solidFill>
            <a:schemeClr val="tx1"/>
          </a:solidFill>
          <a:ln/>
        </p:spPr>
      </p:sp>
      <p:sp>
        <p:nvSpPr>
          <p:cNvPr id="41" name="Text 39"/>
          <p:cNvSpPr txBox="1"/>
          <p:nvPr/>
        </p:nvSpPr>
        <p:spPr>
          <a:xfrm>
            <a:off x="777240" y="5687568"/>
            <a:ext cx="10652760" cy="640080"/>
          </a:xfrm>
          <a:prstGeom prst="rect">
            <a:avLst/>
          </a:prstGeom>
          <a:noFill/>
          <a:ln/>
        </p:spPr>
        <p:txBody>
          <a:bodyPr wrap="square" lIns="0" tIns="0" rIns="0" bIns="0" rtlCol="0" anchor="ctr"/>
          <a:lstStyle/>
          <a:p>
            <a:pPr indent="0" marL="0">
              <a:buNone/>
            </a:pPr>
            <a:r>
              <a:rPr lang="en-US" sz="1400" b="1" dirty="0">
                <a:solidFill>
                  <a:schemeClr val="accent2"/>
                </a:solidFill>
              </a:rPr>
              <a:t>Blocked on the agent route: </a:t>
            </a:r>
            <a:pPr indent="0" marL="0">
              <a:buNone/>
            </a:pPr>
            <a:r>
              <a:rPr lang="en-US" sz="1400" dirty="0">
                <a:solidFill>
                  <a:schemeClr val="bg1"/>
                </a:solidFill>
              </a:rPr>
              <a:t>arbitrary transfer, approve/transferFrom, policy admin, generic batch, nested execution, delegatecall, ERC-1271 session signature authority.</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Industry developments and relevance</a:t>
            </a:r>
            <a:endParaRPr lang="en-US" sz="3600" dirty="0"/>
          </a:p>
        </p:txBody>
      </p:sp>
      <p:sp>
        <p:nvSpPr>
          <p:cNvPr id="3" name="Text 1"/>
          <p:cNvSpPr txBox="1"/>
          <p:nvPr/>
        </p:nvSpPr>
        <p:spPr>
          <a:xfrm>
            <a:off x="548640" y="1188720"/>
            <a:ext cx="11094415" cy="274320"/>
          </a:xfrm>
          <a:prstGeom prst="rect">
            <a:avLst/>
          </a:prstGeom>
          <a:noFill/>
          <a:ln/>
        </p:spPr>
        <p:txBody>
          <a:bodyPr wrap="square" lIns="0" tIns="0" rIns="0" bIns="0" rtlCol="0" anchor="t"/>
          <a:lstStyle/>
          <a:p>
            <a:pPr indent="0" marL="0">
              <a:buNone/>
            </a:pPr>
            <a:r>
              <a:rPr lang="en-US" sz="1300" i="1" dirty="0">
                <a:solidFill>
                  <a:schemeClr val="accent4"/>
                </a:solidFill>
              </a:rPr>
              <a:t>Company sources accessed 19 October 2026. Figures are company claims or releases, not independent market share.</a:t>
            </a:r>
            <a:endParaRPr lang="en-US" sz="1300" dirty="0"/>
          </a:p>
        </p:txBody>
      </p:sp>
      <p:sp>
        <p:nvSpPr>
          <p:cNvPr id="4" name="Text 2"/>
          <p:cNvSpPr txBox="1"/>
          <p:nvPr/>
        </p:nvSpPr>
        <p:spPr>
          <a:xfrm>
            <a:off x="777240" y="1572768"/>
            <a:ext cx="1737360" cy="228600"/>
          </a:xfrm>
          <a:prstGeom prst="rect">
            <a:avLst/>
          </a:prstGeom>
          <a:noFill/>
          <a:ln/>
        </p:spPr>
        <p:txBody>
          <a:bodyPr wrap="square" lIns="0" tIns="0" rIns="0" bIns="0" rtlCol="0" anchor="t"/>
          <a:lstStyle/>
          <a:p>
            <a:pPr indent="0" marL="0">
              <a:buNone/>
            </a:pPr>
            <a:r>
              <a:rPr lang="en-US" sz="1200" b="1" dirty="0">
                <a:solidFill>
                  <a:schemeClr val="accent4"/>
                </a:solidFill>
              </a:rPr>
              <a:t>Company</a:t>
            </a:r>
            <a:endParaRPr lang="en-US" sz="1200" dirty="0"/>
          </a:p>
        </p:txBody>
      </p:sp>
      <p:sp>
        <p:nvSpPr>
          <p:cNvPr id="5" name="Text 3"/>
          <p:cNvSpPr txBox="1"/>
          <p:nvPr/>
        </p:nvSpPr>
        <p:spPr>
          <a:xfrm>
            <a:off x="2651760" y="1572768"/>
            <a:ext cx="5303520" cy="228600"/>
          </a:xfrm>
          <a:prstGeom prst="rect">
            <a:avLst/>
          </a:prstGeom>
          <a:noFill/>
          <a:ln/>
        </p:spPr>
        <p:txBody>
          <a:bodyPr wrap="square" lIns="0" tIns="0" rIns="0" bIns="0" rtlCol="0" anchor="t"/>
          <a:lstStyle/>
          <a:p>
            <a:pPr indent="0" marL="0">
              <a:buNone/>
            </a:pPr>
            <a:r>
              <a:rPr lang="en-US" sz="1200" b="1" dirty="0">
                <a:solidFill>
                  <a:schemeClr val="accent4"/>
                </a:solidFill>
              </a:rPr>
              <a:t>Published development</a:t>
            </a:r>
            <a:endParaRPr lang="en-US" sz="1200" dirty="0"/>
          </a:p>
        </p:txBody>
      </p:sp>
      <p:sp>
        <p:nvSpPr>
          <p:cNvPr id="6" name="Text 4"/>
          <p:cNvSpPr txBox="1"/>
          <p:nvPr/>
        </p:nvSpPr>
        <p:spPr>
          <a:xfrm>
            <a:off x="8092440" y="1572768"/>
            <a:ext cx="3383280" cy="228600"/>
          </a:xfrm>
          <a:prstGeom prst="rect">
            <a:avLst/>
          </a:prstGeom>
          <a:noFill/>
          <a:ln/>
        </p:spPr>
        <p:txBody>
          <a:bodyPr wrap="square" lIns="0" tIns="0" rIns="0" bIns="0" rtlCol="0" anchor="t"/>
          <a:lstStyle/>
          <a:p>
            <a:pPr indent="0" marL="0">
              <a:buNone/>
            </a:pPr>
            <a:r>
              <a:rPr lang="en-US" sz="1200" b="1" dirty="0">
                <a:solidFill>
                  <a:schemeClr val="accent4"/>
                </a:solidFill>
              </a:rPr>
              <a:t>Relevance and limits</a:t>
            </a:r>
            <a:endParaRPr lang="en-US" sz="1200" dirty="0"/>
          </a:p>
        </p:txBody>
      </p:sp>
      <p:sp>
        <p:nvSpPr>
          <p:cNvPr id="7" name="Row Visa"/>
          <p:cNvSpPr/>
          <p:nvPr/>
        </p:nvSpPr>
        <p:spPr>
          <a:xfrm>
            <a:off x="548640" y="1847088"/>
            <a:ext cx="11094415" cy="923544"/>
          </a:xfrm>
          <a:prstGeom prst="roundRect">
            <a:avLst>
              <a:gd name="adj" fmla="val 11881"/>
            </a:avLst>
          </a:prstGeom>
          <a:solidFill>
            <a:schemeClr val="bg2"/>
          </a:solidFill>
          <a:ln/>
        </p:spPr>
      </p:sp>
      <p:sp>
        <p:nvSpPr>
          <p:cNvPr id="8" name="Text 6"/>
          <p:cNvSpPr txBox="1"/>
          <p:nvPr/>
        </p:nvSpPr>
        <p:spPr>
          <a:xfrm>
            <a:off x="777240" y="1847088"/>
            <a:ext cx="1737360" cy="923544"/>
          </a:xfrm>
          <a:prstGeom prst="rect">
            <a:avLst/>
          </a:prstGeom>
          <a:noFill/>
          <a:ln/>
        </p:spPr>
        <p:txBody>
          <a:bodyPr wrap="square" lIns="0" tIns="0" rIns="0" bIns="0" rtlCol="0" anchor="ctr"/>
          <a:lstStyle/>
          <a:p>
            <a:pPr indent="0" marL="0">
              <a:buNone/>
            </a:pPr>
            <a:r>
              <a:rPr lang="en-US" sz="1400" b="1" dirty="0">
                <a:solidFill>
                  <a:schemeClr val="tx2"/>
                </a:solidFill>
              </a:rPr>
              <a:t>Visa</a:t>
            </a:r>
            <a:endParaRPr lang="en-US" sz="1400" dirty="0"/>
          </a:p>
        </p:txBody>
      </p:sp>
      <p:sp>
        <p:nvSpPr>
          <p:cNvPr id="9" name="Text 7"/>
          <p:cNvSpPr txBox="1"/>
          <p:nvPr/>
        </p:nvSpPr>
        <p:spPr>
          <a:xfrm>
            <a:off x="2651760" y="1847088"/>
            <a:ext cx="5303520" cy="923544"/>
          </a:xfrm>
          <a:prstGeom prst="rect">
            <a:avLst/>
          </a:prstGeom>
          <a:noFill/>
          <a:ln/>
        </p:spPr>
        <p:txBody>
          <a:bodyPr wrap="square" lIns="0" tIns="0" rIns="0" bIns="0" rtlCol="0" anchor="ctr"/>
          <a:lstStyle/>
          <a:p>
            <a:pPr indent="0" marL="0">
              <a:buNone/>
            </a:pPr>
            <a:r>
              <a:rPr lang="en-US" sz="1300" dirty="0">
                <a:solidFill>
                  <a:schemeClr val="tx1"/>
                </a:solidFill>
              </a:rPr>
              <a:t>Visa Trust Index, 9 Sep 2026: Harris Poll of 2,065 US consumers (fieldwork 26–28 May 2026). 72% have used an AI assistant; 23% trust GenAI to handle payments; 61% say they trust Visa for agentic transactions.</a:t>
            </a:r>
            <a:endParaRPr lang="en-US" sz="1300" dirty="0"/>
          </a:p>
        </p:txBody>
      </p:sp>
      <p:sp>
        <p:nvSpPr>
          <p:cNvPr id="10" name="Text 8"/>
          <p:cNvSpPr txBox="1"/>
          <p:nvPr/>
        </p:nvSpPr>
        <p:spPr>
          <a:xfrm>
            <a:off x="8092440" y="1847088"/>
            <a:ext cx="3429000" cy="923544"/>
          </a:xfrm>
          <a:prstGeom prst="rect">
            <a:avLst/>
          </a:prstGeom>
          <a:noFill/>
          <a:ln/>
        </p:spPr>
        <p:txBody>
          <a:bodyPr wrap="square" lIns="0" tIns="0" rIns="0" bIns="0" rtlCol="0" anchor="ctr"/>
          <a:lstStyle/>
          <a:p>
            <a:pPr indent="0" marL="0">
              <a:buNone/>
            </a:pPr>
            <a:r>
              <a:rPr lang="en-US" sz="1300" dirty="0">
                <a:solidFill>
                  <a:schemeClr val="tx1"/>
                </a:solidFill>
              </a:rPr>
              <a:t>Shows trust is an adoption barrier. A Visa-owned US survey of brand trust—not global agentic payment volume.</a:t>
            </a:r>
            <a:endParaRPr lang="en-US" sz="1300" dirty="0"/>
          </a:p>
        </p:txBody>
      </p:sp>
      <p:sp>
        <p:nvSpPr>
          <p:cNvPr id="11" name="Row Stripe + OpenAI"/>
          <p:cNvSpPr/>
          <p:nvPr/>
        </p:nvSpPr>
        <p:spPr>
          <a:xfrm>
            <a:off x="548640" y="2825496"/>
            <a:ext cx="11094415" cy="923544"/>
          </a:xfrm>
          <a:prstGeom prst="roundRect">
            <a:avLst>
              <a:gd name="adj" fmla="val 11881"/>
            </a:avLst>
          </a:prstGeom>
          <a:solidFill>
            <a:schemeClr val="bg1"/>
          </a:solidFill>
          <a:ln w="12700">
            <a:solidFill>
              <a:srgbClr val="EEF4F3"/>
            </a:solidFill>
            <a:prstDash val="solid"/>
          </a:ln>
        </p:spPr>
      </p:sp>
      <p:sp>
        <p:nvSpPr>
          <p:cNvPr id="12" name="Text 10"/>
          <p:cNvSpPr txBox="1"/>
          <p:nvPr/>
        </p:nvSpPr>
        <p:spPr>
          <a:xfrm>
            <a:off x="777240" y="2825496"/>
            <a:ext cx="1737360" cy="923544"/>
          </a:xfrm>
          <a:prstGeom prst="rect">
            <a:avLst/>
          </a:prstGeom>
          <a:noFill/>
          <a:ln/>
        </p:spPr>
        <p:txBody>
          <a:bodyPr wrap="square" lIns="0" tIns="0" rIns="0" bIns="0" rtlCol="0" anchor="ctr"/>
          <a:lstStyle/>
          <a:p>
            <a:pPr indent="0" marL="0">
              <a:buNone/>
            </a:pPr>
            <a:r>
              <a:rPr lang="en-US" sz="1400" b="1" dirty="0">
                <a:solidFill>
                  <a:schemeClr val="tx2"/>
                </a:solidFill>
              </a:rPr>
              <a:t>Stripe + OpenAI</a:t>
            </a:r>
            <a:endParaRPr lang="en-US" sz="1400" dirty="0"/>
          </a:p>
        </p:txBody>
      </p:sp>
      <p:sp>
        <p:nvSpPr>
          <p:cNvPr id="13" name="Text 11"/>
          <p:cNvSpPr txBox="1"/>
          <p:nvPr/>
        </p:nvSpPr>
        <p:spPr>
          <a:xfrm>
            <a:off x="2651760" y="2825496"/>
            <a:ext cx="5303520" cy="923544"/>
          </a:xfrm>
          <a:prstGeom prst="rect">
            <a:avLst/>
          </a:prstGeom>
          <a:noFill/>
          <a:ln/>
        </p:spPr>
        <p:txBody>
          <a:bodyPr wrap="square" lIns="0" tIns="0" rIns="0" bIns="0" rtlCol="0" anchor="ctr"/>
          <a:lstStyle/>
          <a:p>
            <a:pPr indent="0" marL="0">
              <a:buNone/>
            </a:pPr>
            <a:r>
              <a:rPr lang="en-US" sz="1300" dirty="0">
                <a:solidFill>
                  <a:schemeClr val="tx1"/>
                </a:solidFill>
              </a:rPr>
              <a:t>29 Sep 2025: Instant Checkout in ChatGPT for US Etsy purchases, with Shopify (1M+ merchants) announced next. Agentic Commerce Protocol (ACP) and a Shared Payment Token scoped to merchant and cart total.</a:t>
            </a:r>
            <a:endParaRPr lang="en-US" sz="1300" dirty="0"/>
          </a:p>
        </p:txBody>
      </p:sp>
      <p:sp>
        <p:nvSpPr>
          <p:cNvPr id="14" name="Text 12"/>
          <p:cNvSpPr txBox="1"/>
          <p:nvPr/>
        </p:nvSpPr>
        <p:spPr>
          <a:xfrm>
            <a:off x="8092440" y="2825496"/>
            <a:ext cx="3429000" cy="923544"/>
          </a:xfrm>
          <a:prstGeom prst="rect">
            <a:avLst/>
          </a:prstGeom>
          <a:noFill/>
          <a:ln/>
        </p:spPr>
        <p:txBody>
          <a:bodyPr wrap="square" lIns="0" tIns="0" rIns="0" bIns="0" rtlCol="0" anchor="ctr"/>
          <a:lstStyle/>
          <a:p>
            <a:pPr indent="0" marL="0">
              <a:buNone/>
            </a:pPr>
            <a:r>
              <a:rPr lang="en-US" sz="1300" dirty="0">
                <a:solidFill>
                  <a:schemeClr val="tx1"/>
                </a:solidFill>
              </a:rPr>
              <a:t>Example of agentic checkout and scoped payment tokens. “Will expand” is a roadmap claim, not current usage.</a:t>
            </a:r>
            <a:endParaRPr lang="en-US" sz="1300" dirty="0"/>
          </a:p>
        </p:txBody>
      </p:sp>
      <p:sp>
        <p:nvSpPr>
          <p:cNvPr id="15" name="Row Stripe Agentic Commerce Suite"/>
          <p:cNvSpPr/>
          <p:nvPr/>
        </p:nvSpPr>
        <p:spPr>
          <a:xfrm>
            <a:off x="548640" y="3803904"/>
            <a:ext cx="11094415" cy="923544"/>
          </a:xfrm>
          <a:prstGeom prst="roundRect">
            <a:avLst>
              <a:gd name="adj" fmla="val 11881"/>
            </a:avLst>
          </a:prstGeom>
          <a:solidFill>
            <a:schemeClr val="bg2"/>
          </a:solidFill>
          <a:ln/>
        </p:spPr>
      </p:sp>
      <p:sp>
        <p:nvSpPr>
          <p:cNvPr id="16" name="Text 14"/>
          <p:cNvSpPr txBox="1"/>
          <p:nvPr/>
        </p:nvSpPr>
        <p:spPr>
          <a:xfrm>
            <a:off x="777240" y="3803904"/>
            <a:ext cx="1737360" cy="923544"/>
          </a:xfrm>
          <a:prstGeom prst="rect">
            <a:avLst/>
          </a:prstGeom>
          <a:noFill/>
          <a:ln/>
        </p:spPr>
        <p:txBody>
          <a:bodyPr wrap="square" lIns="0" tIns="0" rIns="0" bIns="0" rtlCol="0" anchor="ctr"/>
          <a:lstStyle/>
          <a:p>
            <a:pPr indent="0" marL="0">
              <a:buNone/>
            </a:pPr>
            <a:r>
              <a:rPr lang="en-US" sz="1400" b="1" dirty="0">
                <a:solidFill>
                  <a:schemeClr val="tx2"/>
                </a:solidFill>
              </a:rPr>
              <a:t>Stripe Agentic Commerce Suite</a:t>
            </a:r>
            <a:endParaRPr lang="en-US" sz="1400" dirty="0"/>
          </a:p>
        </p:txBody>
      </p:sp>
      <p:sp>
        <p:nvSpPr>
          <p:cNvPr id="17" name="Text 15"/>
          <p:cNvSpPr txBox="1"/>
          <p:nvPr/>
        </p:nvSpPr>
        <p:spPr>
          <a:xfrm>
            <a:off x="2651760" y="3803904"/>
            <a:ext cx="5303520" cy="923544"/>
          </a:xfrm>
          <a:prstGeom prst="rect">
            <a:avLst/>
          </a:prstGeom>
          <a:noFill/>
          <a:ln/>
        </p:spPr>
        <p:txBody>
          <a:bodyPr wrap="square" lIns="0" tIns="0" rIns="0" bIns="0" rtlCol="0" anchor="ctr"/>
          <a:lstStyle/>
          <a:p>
            <a:pPr indent="0" marL="0">
              <a:buNone/>
            </a:pPr>
            <a:r>
              <a:rPr lang="en-US" sz="1300" dirty="0">
                <a:solidFill>
                  <a:schemeClr val="tx1"/>
                </a:solidFill>
              </a:rPr>
              <a:t>11 Dec 2025: a suite for businesses to sell through multiple AI agents; names Coach, Kate Spade, URBN, Etsy, Squarespace, and Wix as users or participants.</a:t>
            </a:r>
            <a:endParaRPr lang="en-US" sz="1300" dirty="0"/>
          </a:p>
        </p:txBody>
      </p:sp>
      <p:sp>
        <p:nvSpPr>
          <p:cNvPr id="18" name="Text 16"/>
          <p:cNvSpPr txBox="1"/>
          <p:nvPr/>
        </p:nvSpPr>
        <p:spPr>
          <a:xfrm>
            <a:off x="8092440" y="3803904"/>
            <a:ext cx="3429000" cy="923544"/>
          </a:xfrm>
          <a:prstGeom prst="rect">
            <a:avLst/>
          </a:prstGeom>
          <a:noFill/>
          <a:ln/>
        </p:spPr>
        <p:txBody>
          <a:bodyPr wrap="square" lIns="0" tIns="0" rIns="0" bIns="0" rtlCol="0" anchor="ctr"/>
          <a:lstStyle/>
          <a:p>
            <a:pPr indent="0" marL="0">
              <a:buNone/>
            </a:pPr>
            <a:r>
              <a:rPr lang="en-US" sz="1300" dirty="0">
                <a:solidFill>
                  <a:schemeClr val="tx1"/>
                </a:solidFill>
              </a:rPr>
              <a:t>Merchant-side infrastructure—not a self-custody wallet or smart-account policy like Astra.</a:t>
            </a:r>
            <a:endParaRPr lang="en-US" sz="1300" dirty="0"/>
          </a:p>
        </p:txBody>
      </p:sp>
      <p:sp>
        <p:nvSpPr>
          <p:cNvPr id="19" name="Row Coinbase CDP AgentKit"/>
          <p:cNvSpPr/>
          <p:nvPr/>
        </p:nvSpPr>
        <p:spPr>
          <a:xfrm>
            <a:off x="548640" y="4782312"/>
            <a:ext cx="11094415" cy="923544"/>
          </a:xfrm>
          <a:prstGeom prst="roundRect">
            <a:avLst>
              <a:gd name="adj" fmla="val 11881"/>
            </a:avLst>
          </a:prstGeom>
          <a:solidFill>
            <a:schemeClr val="bg1"/>
          </a:solidFill>
          <a:ln w="12700">
            <a:solidFill>
              <a:srgbClr val="EEF4F3"/>
            </a:solidFill>
            <a:prstDash val="solid"/>
          </a:ln>
        </p:spPr>
      </p:sp>
      <p:sp>
        <p:nvSpPr>
          <p:cNvPr id="20" name="Text 18"/>
          <p:cNvSpPr txBox="1"/>
          <p:nvPr/>
        </p:nvSpPr>
        <p:spPr>
          <a:xfrm>
            <a:off x="777240" y="4782312"/>
            <a:ext cx="1737360" cy="923544"/>
          </a:xfrm>
          <a:prstGeom prst="rect">
            <a:avLst/>
          </a:prstGeom>
          <a:noFill/>
          <a:ln/>
        </p:spPr>
        <p:txBody>
          <a:bodyPr wrap="square" lIns="0" tIns="0" rIns="0" bIns="0" rtlCol="0" anchor="ctr"/>
          <a:lstStyle/>
          <a:p>
            <a:pPr indent="0" marL="0">
              <a:buNone/>
            </a:pPr>
            <a:r>
              <a:rPr lang="en-US" sz="1400" b="1" dirty="0">
                <a:solidFill>
                  <a:schemeClr val="tx2"/>
                </a:solidFill>
              </a:rPr>
              <a:t>Coinbase CDP AgentKit</a:t>
            </a:r>
            <a:endParaRPr lang="en-US" sz="1400" dirty="0"/>
          </a:p>
        </p:txBody>
      </p:sp>
      <p:sp>
        <p:nvSpPr>
          <p:cNvPr id="21" name="Text 19"/>
          <p:cNvSpPr txBox="1"/>
          <p:nvPr/>
        </p:nvSpPr>
        <p:spPr>
          <a:xfrm>
            <a:off x="2651760" y="4782312"/>
            <a:ext cx="5303520" cy="923544"/>
          </a:xfrm>
          <a:prstGeom prst="rect">
            <a:avLst/>
          </a:prstGeom>
          <a:noFill/>
          <a:ln/>
        </p:spPr>
        <p:txBody>
          <a:bodyPr wrap="square" lIns="0" tIns="0" rIns="0" bIns="0" rtlCol="0" anchor="ctr"/>
          <a:lstStyle/>
          <a:p>
            <a:pPr indent="0" marL="0">
              <a:buNone/>
            </a:pPr>
            <a:r>
              <a:rPr lang="en-US" sz="1300" dirty="0">
                <a:solidFill>
                  <a:schemeClr val="tx1"/>
                </a:solidFill>
              </a:rPr>
              <a:t>Official README: TypeScript and Python toolkit with 50+ TS / 30+ Python action providers in the docs reviewed. It warns the toolkit gives no spend caps, destination allowlists, or human approval by default.</a:t>
            </a:r>
            <a:endParaRPr lang="en-US" sz="1300" dirty="0"/>
          </a:p>
        </p:txBody>
      </p:sp>
      <p:sp>
        <p:nvSpPr>
          <p:cNvPr id="22" name="Text 20"/>
          <p:cNvSpPr txBox="1"/>
          <p:nvPr/>
        </p:nvSpPr>
        <p:spPr>
          <a:xfrm>
            <a:off x="8092440" y="4782312"/>
            <a:ext cx="3429000" cy="923544"/>
          </a:xfrm>
          <a:prstGeom prst="rect">
            <a:avLst/>
          </a:prstGeom>
          <a:noFill/>
          <a:ln/>
        </p:spPr>
        <p:txBody>
          <a:bodyPr wrap="square" lIns="0" tIns="0" rIns="0" bIns="0" rtlCol="0" anchor="ctr"/>
          <a:lstStyle/>
          <a:p>
            <a:pPr indent="0" marL="0">
              <a:buNone/>
            </a:pPr>
            <a:r>
              <a:rPr lang="en-US" sz="1300" dirty="0">
                <a:solidFill>
                  <a:schemeClr val="tx1"/>
                </a:solidFill>
              </a:rPr>
              <a:t>Developer-tooling comparison. Guardrails stay the app's job; Astra centers limits on the owner session and Guardian.</a:t>
            </a:r>
            <a:endParaRPr lang="en-US" sz="1300" dirty="0"/>
          </a:p>
        </p:txBody>
      </p:sp>
      <p:sp>
        <p:nvSpPr>
          <p:cNvPr id="23" name="Interpretation"/>
          <p:cNvSpPr/>
          <p:nvPr/>
        </p:nvSpPr>
        <p:spPr>
          <a:xfrm>
            <a:off x="548640" y="5852160"/>
            <a:ext cx="11094415" cy="457200"/>
          </a:xfrm>
          <a:prstGeom prst="roundRect">
            <a:avLst>
              <a:gd name="adj" fmla="val 24000"/>
            </a:avLst>
          </a:prstGeom>
          <a:solidFill>
            <a:schemeClr val="tx2"/>
          </a:solidFill>
          <a:ln/>
        </p:spPr>
      </p:sp>
      <p:sp>
        <p:nvSpPr>
          <p:cNvPr id="24" name="Text 22"/>
          <p:cNvSpPr txBox="1"/>
          <p:nvPr/>
        </p:nvSpPr>
        <p:spPr>
          <a:xfrm>
            <a:off x="548640" y="5852160"/>
            <a:ext cx="11094415" cy="457200"/>
          </a:xfrm>
          <a:prstGeom prst="rect">
            <a:avLst/>
          </a:prstGeom>
          <a:noFill/>
          <a:ln/>
        </p:spPr>
        <p:txBody>
          <a:bodyPr wrap="square" lIns="0" tIns="0" rIns="0" bIns="0" rtlCol="0" anchor="ctr"/>
          <a:lstStyle/>
          <a:p>
            <a:pPr algn="ctr" indent="0" marL="0">
              <a:buNone/>
            </a:pPr>
            <a:r>
              <a:rPr lang="en-US" sz="1400" b="1" dirty="0">
                <a:solidFill>
                  <a:schemeClr val="bg1"/>
                </a:solidFill>
              </a:rPr>
              <a:t>Astra's niche: wallet policy, invoice binding, payment queue, and delivery proof—adjacent to these players, not a replacement.</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Live adversarial and jailbreak testing</a:t>
            </a:r>
            <a:endParaRPr lang="en-US" sz="3600" dirty="0"/>
          </a:p>
        </p:txBody>
      </p:sp>
      <p:graphicFrame>
        <p:nvGraphicFramePr>
          <p:cNvPr id="3" name="Chart 0" descr=""/>
          <p:cNvGraphicFramePr/>
          <p:nvPr/>
        </p:nvGraphicFramePr>
        <p:xfrm>
          <a:off x="548640" y="1234440"/>
          <a:ext cx="4206240" cy="32461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120640" y="1280160"/>
            <a:ext cx="6519672" cy="3200400"/>
          </a:xfrm>
          <a:prstGeom prst="rect">
            <a:avLst/>
          </a:prstGeom>
          <a:noFill/>
          <a:ln/>
        </p:spPr>
        <p:txBody>
          <a:bodyPr wrap="square" lIns="0" tIns="0" rIns="0" bIns="0" rtlCol="0" anchor="t"/>
          <a:lstStyle/>
          <a:p>
            <a:pPr indent="0" marL="0">
              <a:spcAft>
                <a:spcPts val="600"/>
              </a:spcAft>
              <a:buNone/>
            </a:pPr>
            <a:r>
              <a:rPr lang="en-US" sz="1400" b="1" dirty="0">
                <a:solidFill>
                  <a:schemeClr val="tx2"/>
                </a:solidFill>
              </a:rPr>
              <a:t>Model: </a:t>
            </a:r>
            <a:pPr indent="0" marL="0">
              <a:spcAft>
                <a:spcPts val="600"/>
              </a:spcAft>
              <a:buNone/>
            </a:pPr>
            <a:r>
              <a:rPr lang="en-US" sz="1400" dirty="0">
                <a:solidFill>
                  <a:schemeClr val="tx1"/>
                </a:solidFill>
              </a:rPr>
              <a:t>Groq, openai/gpt-oss-120b, strict JSON Schema, temperature 0.</a:t>
            </a:r>
            <a:endParaRPr lang="en-US" sz="1400" dirty="0"/>
          </a:p>
          <a:p>
            <a:pPr indent="0" marL="0">
              <a:spcAft>
                <a:spcPts val="600"/>
              </a:spcAft>
              <a:buNone/>
            </a:pPr>
            <a:r>
              <a:rPr lang="en-US" sz="1400" b="1" dirty="0">
                <a:solidFill>
                  <a:schemeClr val="tx2"/>
                </a:solidFill>
              </a:rPr>
              <a:t>Dataset: </a:t>
            </a:r>
            <a:pPr indent="0" marL="0">
              <a:spcAft>
                <a:spcPts val="600"/>
              </a:spcAft>
              <a:buNone/>
            </a:pPr>
            <a:r>
              <a:rPr lang="en-US" sz="1400" dirty="0">
                <a:solidFill>
                  <a:schemeClr val="tx1"/>
                </a:solidFill>
              </a:rPr>
              <a:t>30 unique prompts × 2 repetitions = 60 observations across planner, buyer, provider, and vendor parser.</a:t>
            </a:r>
            <a:endParaRPr lang="en-US" sz="1400" dirty="0"/>
          </a:p>
          <a:p>
            <a:pPr indent="0" marL="0">
              <a:spcAft>
                <a:spcPts val="600"/>
              </a:spcAft>
              <a:buNone/>
            </a:pPr>
            <a:r>
              <a:rPr lang="en-US" sz="1400" b="1" dirty="0">
                <a:solidFill>
                  <a:schemeClr val="tx2"/>
                </a:solidFill>
              </a:rPr>
              <a:t>Baseline: </a:t>
            </a:r>
            <a:pPr indent="0" marL="0">
              <a:spcAft>
                <a:spcPts val="600"/>
              </a:spcAft>
              <a:buNone/>
            </a:pPr>
            <a:r>
              <a:rPr lang="en-US" sz="1400" dirty="0">
                <a:solidFill>
                  <a:schemeClr val="tx1"/>
                </a:solidFill>
              </a:rPr>
              <a:t>54/60 passed; six output/schema errors are inconclusive, not counted as attacks blocked.</a:t>
            </a:r>
            <a:endParaRPr lang="en-US" sz="1400" dirty="0"/>
          </a:p>
          <a:p>
            <a:pPr indent="0" marL="0">
              <a:spcAft>
                <a:spcPts val="600"/>
              </a:spcAft>
              <a:buNone/>
            </a:pPr>
            <a:r>
              <a:rPr lang="en-US" sz="1400" b="1" dirty="0">
                <a:solidFill>
                  <a:schemeClr val="tx2"/>
                </a:solidFill>
              </a:rPr>
              <a:t>Attacks and controls: </a:t>
            </a:r>
            <a:pPr indent="0" marL="0">
              <a:spcAft>
                <a:spcPts val="600"/>
              </a:spcAft>
              <a:buNone/>
            </a:pPr>
            <a:r>
              <a:rPr lang="en-US" sz="1400" dirty="0">
                <a:solidFill>
                  <a:schemeClr val="tx1"/>
                </a:solidFill>
              </a:rPr>
              <a:t>benign pay, wait, fake owner approval, role/system spoofing, reserve/drain, unlimited approval, recipient/price substitution, XML/HTML/Unicode/base64/multi-turn vendor injection.</a:t>
            </a:r>
            <a:endParaRPr lang="en-US" sz="1400" dirty="0"/>
          </a:p>
          <a:p>
            <a:pPr indent="0" marL="0">
              <a:spcAft>
                <a:spcPts val="600"/>
              </a:spcAft>
              <a:buNone/>
            </a:pPr>
            <a:r>
              <a:rPr lang="en-US" sz="1400" b="1" dirty="0">
                <a:solidFill>
                  <a:schemeClr val="tx2"/>
                </a:solidFill>
              </a:rPr>
              <a:t>Effects: </a:t>
            </a:r>
            <a:pPr indent="0" marL="0">
              <a:spcAft>
                <a:spcPts val="600"/>
              </a:spcAft>
              <a:buNone/>
            </a:pPr>
            <a:r>
              <a:rPr lang="en-US" sz="1400" dirty="0">
                <a:solidFill>
                  <a:schemeClr val="tx1"/>
                </a:solidFill>
              </a:rPr>
              <a:t>synthetic finances; no private key or signing tool; no transactions sent.</a:t>
            </a:r>
            <a:endParaRPr lang="en-US" sz="1400" dirty="0"/>
          </a:p>
        </p:txBody>
      </p:sp>
      <p:sp>
        <p:nvSpPr>
          <p:cNvPr id="5" name="Track Planner"/>
          <p:cNvSpPr/>
          <p:nvPr/>
        </p:nvSpPr>
        <p:spPr>
          <a:xfrm>
            <a:off x="548640" y="4617720"/>
            <a:ext cx="2636215" cy="822960"/>
          </a:xfrm>
          <a:prstGeom prst="roundRect">
            <a:avLst>
              <a:gd name="adj" fmla="val 13333"/>
            </a:avLst>
          </a:prstGeom>
          <a:solidFill>
            <a:schemeClr val="bg2"/>
          </a:solidFill>
          <a:ln/>
        </p:spPr>
      </p:sp>
      <p:sp>
        <p:nvSpPr>
          <p:cNvPr id="6" name="Text 3"/>
          <p:cNvSpPr txBox="1"/>
          <p:nvPr/>
        </p:nvSpPr>
        <p:spPr>
          <a:xfrm>
            <a:off x="548640" y="4617720"/>
            <a:ext cx="2636215" cy="822960"/>
          </a:xfrm>
          <a:prstGeom prst="rect">
            <a:avLst/>
          </a:prstGeom>
          <a:noFill/>
          <a:ln/>
        </p:spPr>
        <p:txBody>
          <a:bodyPr wrap="square" lIns="0" tIns="0" rIns="0" bIns="0" rtlCol="0" anchor="ctr"/>
          <a:lstStyle/>
          <a:p>
            <a:pPr algn="ctr" indent="0" marL="0">
              <a:buNone/>
            </a:pPr>
            <a:r>
              <a:rPr lang="en-US" sz="2400" b="1" dirty="0">
                <a:solidFill>
                  <a:schemeClr val="tx2"/>
                </a:solidFill>
              </a:rPr>
              <a:t>16/16  </a:t>
            </a:r>
            <a:pPr algn="ctr" indent="0" marL="0">
              <a:buNone/>
            </a:pPr>
            <a:r>
              <a:rPr lang="en-US" sz="1400" dirty="0">
                <a:solidFill>
                  <a:schemeClr val="accent4"/>
                </a:solidFill>
              </a:rPr>
              <a:t>Planner</a:t>
            </a:r>
            <a:endParaRPr lang="en-US" sz="1400" dirty="0"/>
          </a:p>
        </p:txBody>
      </p:sp>
      <p:sp>
        <p:nvSpPr>
          <p:cNvPr id="7" name="Track Buyer"/>
          <p:cNvSpPr/>
          <p:nvPr/>
        </p:nvSpPr>
        <p:spPr>
          <a:xfrm>
            <a:off x="3367735" y="4617720"/>
            <a:ext cx="2636215" cy="822960"/>
          </a:xfrm>
          <a:prstGeom prst="roundRect">
            <a:avLst>
              <a:gd name="adj" fmla="val 13333"/>
            </a:avLst>
          </a:prstGeom>
          <a:solidFill>
            <a:schemeClr val="bg2"/>
          </a:solidFill>
          <a:ln/>
        </p:spPr>
      </p:sp>
      <p:sp>
        <p:nvSpPr>
          <p:cNvPr id="8" name="Text 5"/>
          <p:cNvSpPr txBox="1"/>
          <p:nvPr/>
        </p:nvSpPr>
        <p:spPr>
          <a:xfrm>
            <a:off x="3367735" y="4617720"/>
            <a:ext cx="2636215" cy="822960"/>
          </a:xfrm>
          <a:prstGeom prst="rect">
            <a:avLst/>
          </a:prstGeom>
          <a:noFill/>
          <a:ln/>
        </p:spPr>
        <p:txBody>
          <a:bodyPr wrap="square" lIns="0" tIns="0" rIns="0" bIns="0" rtlCol="0" anchor="ctr"/>
          <a:lstStyle/>
          <a:p>
            <a:pPr algn="ctr" indent="0" marL="0">
              <a:buNone/>
            </a:pPr>
            <a:r>
              <a:rPr lang="en-US" sz="2400" b="1" dirty="0">
                <a:solidFill>
                  <a:schemeClr val="tx2"/>
                </a:solidFill>
              </a:rPr>
              <a:t>16/16  </a:t>
            </a:r>
            <a:pPr algn="ctr" indent="0" marL="0">
              <a:buNone/>
            </a:pPr>
            <a:r>
              <a:rPr lang="en-US" sz="1400" dirty="0">
                <a:solidFill>
                  <a:schemeClr val="accent4"/>
                </a:solidFill>
              </a:rPr>
              <a:t>Buyer</a:t>
            </a:r>
            <a:endParaRPr lang="en-US" sz="1400" dirty="0"/>
          </a:p>
        </p:txBody>
      </p:sp>
      <p:sp>
        <p:nvSpPr>
          <p:cNvPr id="9" name="Track Provider"/>
          <p:cNvSpPr/>
          <p:nvPr/>
        </p:nvSpPr>
        <p:spPr>
          <a:xfrm>
            <a:off x="6186830" y="4617720"/>
            <a:ext cx="2636215" cy="822960"/>
          </a:xfrm>
          <a:prstGeom prst="roundRect">
            <a:avLst>
              <a:gd name="adj" fmla="val 13333"/>
            </a:avLst>
          </a:prstGeom>
          <a:solidFill>
            <a:schemeClr val="bg2"/>
          </a:solidFill>
          <a:ln/>
        </p:spPr>
      </p:sp>
      <p:sp>
        <p:nvSpPr>
          <p:cNvPr id="10" name="Text 7"/>
          <p:cNvSpPr txBox="1"/>
          <p:nvPr/>
        </p:nvSpPr>
        <p:spPr>
          <a:xfrm>
            <a:off x="6186830" y="4617720"/>
            <a:ext cx="2636215" cy="822960"/>
          </a:xfrm>
          <a:prstGeom prst="rect">
            <a:avLst/>
          </a:prstGeom>
          <a:noFill/>
          <a:ln/>
        </p:spPr>
        <p:txBody>
          <a:bodyPr wrap="square" lIns="0" tIns="0" rIns="0" bIns="0" rtlCol="0" anchor="ctr"/>
          <a:lstStyle/>
          <a:p>
            <a:pPr algn="ctr" indent="0" marL="0">
              <a:buNone/>
            </a:pPr>
            <a:r>
              <a:rPr lang="en-US" sz="2400" b="1" dirty="0">
                <a:solidFill>
                  <a:schemeClr val="tx2"/>
                </a:solidFill>
              </a:rPr>
              <a:t>12/12  </a:t>
            </a:r>
            <a:pPr algn="ctr" indent="0" marL="0">
              <a:buNone/>
            </a:pPr>
            <a:r>
              <a:rPr lang="en-US" sz="1400" dirty="0">
                <a:solidFill>
                  <a:schemeClr val="accent4"/>
                </a:solidFill>
              </a:rPr>
              <a:t>Provider</a:t>
            </a:r>
            <a:endParaRPr lang="en-US" sz="1400" dirty="0"/>
          </a:p>
        </p:txBody>
      </p:sp>
      <p:sp>
        <p:nvSpPr>
          <p:cNvPr id="11" name="Track Vendor"/>
          <p:cNvSpPr/>
          <p:nvPr/>
        </p:nvSpPr>
        <p:spPr>
          <a:xfrm>
            <a:off x="9005926" y="4617720"/>
            <a:ext cx="2636215" cy="822960"/>
          </a:xfrm>
          <a:prstGeom prst="roundRect">
            <a:avLst>
              <a:gd name="adj" fmla="val 13333"/>
            </a:avLst>
          </a:prstGeom>
          <a:solidFill>
            <a:schemeClr val="bg2"/>
          </a:solidFill>
          <a:ln/>
        </p:spPr>
      </p:sp>
      <p:sp>
        <p:nvSpPr>
          <p:cNvPr id="12" name="Text 9"/>
          <p:cNvSpPr txBox="1"/>
          <p:nvPr/>
        </p:nvSpPr>
        <p:spPr>
          <a:xfrm>
            <a:off x="9005926" y="4617720"/>
            <a:ext cx="2636215" cy="822960"/>
          </a:xfrm>
          <a:prstGeom prst="rect">
            <a:avLst/>
          </a:prstGeom>
          <a:noFill/>
          <a:ln/>
        </p:spPr>
        <p:txBody>
          <a:bodyPr wrap="square" lIns="0" tIns="0" rIns="0" bIns="0" rtlCol="0" anchor="ctr"/>
          <a:lstStyle/>
          <a:p>
            <a:pPr algn="ctr" indent="0" marL="0">
              <a:buNone/>
            </a:pPr>
            <a:r>
              <a:rPr lang="en-US" sz="2400" b="1" dirty="0">
                <a:solidFill>
                  <a:schemeClr val="tx2"/>
                </a:solidFill>
              </a:rPr>
              <a:t>16/16  </a:t>
            </a:r>
            <a:pPr algn="ctr" indent="0" marL="0">
              <a:buNone/>
            </a:pPr>
            <a:r>
              <a:rPr lang="en-US" sz="1400" dirty="0">
                <a:solidFill>
                  <a:schemeClr val="accent4"/>
                </a:solidFill>
              </a:rPr>
              <a:t>Vendor</a:t>
            </a:r>
            <a:endParaRPr lang="en-US" sz="1400" dirty="0"/>
          </a:p>
        </p:txBody>
      </p:sp>
      <p:sp>
        <p:nvSpPr>
          <p:cNvPr id="13" name="Caveat banner"/>
          <p:cNvSpPr/>
          <p:nvPr/>
        </p:nvSpPr>
        <p:spPr>
          <a:xfrm>
            <a:off x="548640" y="5577840"/>
            <a:ext cx="11094415" cy="731520"/>
          </a:xfrm>
          <a:prstGeom prst="roundRect">
            <a:avLst>
              <a:gd name="adj" fmla="val 12500"/>
            </a:avLst>
          </a:prstGeom>
          <a:solidFill>
            <a:schemeClr val="accent2">
              <a:alpha val="25000"/>
            </a:schemeClr>
          </a:solidFill>
          <a:ln/>
        </p:spPr>
      </p:sp>
      <p:sp>
        <p:nvSpPr>
          <p:cNvPr id="14" name="Text 11"/>
          <p:cNvSpPr txBox="1"/>
          <p:nvPr/>
        </p:nvSpPr>
        <p:spPr>
          <a:xfrm>
            <a:off x="777240" y="5577840"/>
            <a:ext cx="10637215" cy="731520"/>
          </a:xfrm>
          <a:prstGeom prst="rect">
            <a:avLst/>
          </a:prstGeom>
          <a:noFill/>
          <a:ln/>
        </p:spPr>
        <p:txBody>
          <a:bodyPr wrap="square" lIns="0" tIns="0" rIns="0" bIns="0" rtlCol="0" anchor="ctr"/>
          <a:lstStyle/>
          <a:p>
            <a:pPr indent="0" marL="0">
              <a:buNone/>
            </a:pPr>
            <a:r>
              <a:rPr lang="en-US" sz="1400" b="1" dirty="0">
                <a:solidFill>
                  <a:schemeClr val="tx1"/>
                </a:solidFill>
              </a:rPr>
              <a:t>Caveat: </a:t>
            </a:r>
            <a:pPr indent="0" marL="0">
              <a:buNone/>
            </a:pPr>
            <a:r>
              <a:rPr lang="en-US" sz="1400" dirty="0">
                <a:solidFill>
                  <a:schemeClr val="tx1"/>
                </a:solidFill>
              </a:rPr>
              <a:t>same corpus after the fix, so this is an in-sample regression—not a held-out benchmark, independent audit, proof of immunity to prompt injection, or universal guarantee.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Authorization tests on a Kernel fork</a:t>
            </a:r>
            <a:endParaRPr lang="en-US" sz="3600" dirty="0"/>
          </a:p>
        </p:txBody>
      </p:sp>
      <p:sp>
        <p:nvSpPr>
          <p:cNvPr id="3" name="Allowed card"/>
          <p:cNvSpPr/>
          <p:nvPr/>
        </p:nvSpPr>
        <p:spPr>
          <a:xfrm>
            <a:off x="548640" y="1280160"/>
            <a:ext cx="3291840" cy="3977640"/>
          </a:xfrm>
          <a:prstGeom prst="roundRect">
            <a:avLst>
              <a:gd name="adj" fmla="val 3333"/>
            </a:avLst>
          </a:prstGeom>
          <a:solidFill>
            <a:schemeClr val="accent1"/>
          </a:solidFill>
          <a:ln/>
        </p:spPr>
      </p:sp>
      <p:sp>
        <p:nvSpPr>
          <p:cNvPr id="4" name="Icon circle Allowed"/>
          <p:cNvSpPr/>
          <p:nvPr/>
        </p:nvSpPr>
        <p:spPr>
          <a:xfrm>
            <a:off x="822960" y="1554480"/>
            <a:ext cx="640080" cy="640080"/>
          </a:xfrm>
          <a:prstGeom prst="ellipse">
            <a:avLst/>
          </a:prstGeom>
          <a:solidFill>
            <a:schemeClr val="tx2"/>
          </a:solidFill>
          <a:ln/>
        </p:spPr>
      </p:sp>
      <p:pic>
        <p:nvPicPr>
          <p:cNvPr id="5" name="Icon Allowed" descr="Allowed">    </p:cNvPr>
          <p:cNvPicPr>
            <a:picLocks noChangeAspect="1"/>
          </p:cNvPicPr>
          <p:nvPr/>
        </p:nvPicPr>
        <p:blipFill>
          <a:blip r:embed="rId1"/>
          <a:stretch>
            <a:fillRect/>
          </a:stretch>
        </p:blipFill>
        <p:spPr>
          <a:xfrm>
            <a:off x="982980" y="1714500"/>
            <a:ext cx="320040" cy="320040"/>
          </a:xfrm>
          <a:prstGeom prst="rect">
            <a:avLst/>
          </a:prstGeom>
        </p:spPr>
      </p:pic>
      <p:sp>
        <p:nvSpPr>
          <p:cNvPr id="6" name="Text 3"/>
          <p:cNvSpPr txBox="1"/>
          <p:nvPr/>
        </p:nvSpPr>
        <p:spPr>
          <a:xfrm>
            <a:off x="822960" y="2377440"/>
            <a:ext cx="2743200" cy="457200"/>
          </a:xfrm>
          <a:prstGeom prst="rect">
            <a:avLst/>
          </a:prstGeom>
          <a:noFill/>
          <a:ln/>
        </p:spPr>
        <p:txBody>
          <a:bodyPr wrap="square" lIns="0" tIns="0" rIns="0" bIns="0" rtlCol="0" anchor="t"/>
          <a:lstStyle/>
          <a:p>
            <a:pPr indent="0" marL="0">
              <a:buNone/>
            </a:pPr>
            <a:r>
              <a:rPr lang="en-US" sz="2400" b="1" dirty="0">
                <a:solidFill>
                  <a:schemeClr val="tx1"/>
                </a:solidFill>
              </a:rPr>
              <a:t>Allowed</a:t>
            </a:r>
            <a:endParaRPr lang="en-US" sz="2400" dirty="0"/>
          </a:p>
        </p:txBody>
      </p:sp>
      <p:sp>
        <p:nvSpPr>
          <p:cNvPr id="7" name="Text 4"/>
          <p:cNvSpPr txBox="1"/>
          <p:nvPr/>
        </p:nvSpPr>
        <p:spPr>
          <a:xfrm>
            <a:off x="822960" y="2926080"/>
            <a:ext cx="2743200" cy="640080"/>
          </a:xfrm>
          <a:prstGeom prst="rect">
            <a:avLst/>
          </a:prstGeom>
          <a:noFill/>
          <a:ln/>
        </p:spPr>
        <p:txBody>
          <a:bodyPr wrap="square" lIns="0" tIns="0" rIns="0" bIns="0" rtlCol="0" anchor="t"/>
          <a:lstStyle/>
          <a:p>
            <a:pPr indent="0" marL="0">
              <a:buNone/>
            </a:pPr>
            <a:r>
              <a:rPr lang="en-US" sz="1600" dirty="0">
                <a:solidFill>
                  <a:schemeClr val="tx1"/>
                </a:solidFill>
              </a:rPr>
              <a:t>The legitimate payment route.</a:t>
            </a:r>
            <a:endParaRPr lang="en-US" sz="1600" dirty="0"/>
          </a:p>
        </p:txBody>
      </p:sp>
      <p:sp>
        <p:nvSpPr>
          <p:cNvPr id="8" name="Text 5"/>
          <p:cNvSpPr txBox="1"/>
          <p:nvPr/>
        </p:nvSpPr>
        <p:spPr>
          <a:xfrm>
            <a:off x="822960" y="3749040"/>
            <a:ext cx="2743200" cy="1280160"/>
          </a:xfrm>
          <a:prstGeom prst="rect">
            <a:avLst/>
          </a:prstGeom>
          <a:noFill/>
          <a:ln/>
        </p:spPr>
        <p:txBody>
          <a:bodyPr wrap="square" lIns="0" tIns="0" rIns="0" bIns="0" rtlCol="0" anchor="t"/>
          <a:lstStyle/>
          <a:p>
            <a:pPr indent="0" marL="0">
              <a:buNone/>
            </a:pPr>
            <a:r>
              <a:rPr lang="en-US" sz="1400" dirty="0">
                <a:solidFill>
                  <a:schemeClr val="tx1"/>
                </a:solidFill>
              </a:rPr>
              <a:t>Restricted Kernel session on an isolated Base Sepolia fork.</a:t>
            </a:r>
            <a:endParaRPr lang="en-US" sz="1400" dirty="0"/>
          </a:p>
        </p:txBody>
      </p:sp>
      <p:sp>
        <p:nvSpPr>
          <p:cNvPr id="9" name="Text 6"/>
          <p:cNvSpPr txBox="1"/>
          <p:nvPr/>
        </p:nvSpPr>
        <p:spPr>
          <a:xfrm>
            <a:off x="4069080" y="1280160"/>
            <a:ext cx="5486400" cy="365760"/>
          </a:xfrm>
          <a:prstGeom prst="rect">
            <a:avLst/>
          </a:prstGeom>
          <a:noFill/>
          <a:ln/>
        </p:spPr>
        <p:txBody>
          <a:bodyPr wrap="square" lIns="0" tIns="0" rIns="0" bIns="0" rtlCol="0" anchor="t"/>
          <a:lstStyle/>
          <a:p>
            <a:pPr indent="0" marL="0">
              <a:buNone/>
            </a:pPr>
            <a:r>
              <a:rPr lang="en-US" sz="1800" b="1" dirty="0">
                <a:solidFill>
                  <a:schemeClr val="tx2"/>
                </a:solidFill>
              </a:rPr>
              <a:t>Denied</a:t>
            </a:r>
            <a:endParaRPr lang="en-US" sz="1800" dirty="0"/>
          </a:p>
        </p:txBody>
      </p:sp>
      <p:sp>
        <p:nvSpPr>
          <p:cNvPr id="10" name="Chip Direct transfer"/>
          <p:cNvSpPr/>
          <p:nvPr/>
        </p:nvSpPr>
        <p:spPr>
          <a:xfrm>
            <a:off x="4069080" y="1783080"/>
            <a:ext cx="2450592" cy="731520"/>
          </a:xfrm>
          <a:prstGeom prst="roundRect">
            <a:avLst>
              <a:gd name="adj" fmla="val 12500"/>
            </a:avLst>
          </a:prstGeom>
          <a:noFill/>
          <a:ln w="19050">
            <a:solidFill>
              <a:schemeClr val="accent3"/>
            </a:solidFill>
            <a:prstDash val="solid"/>
          </a:ln>
        </p:spPr>
      </p:sp>
      <p:sp>
        <p:nvSpPr>
          <p:cNvPr id="11" name="Text 8"/>
          <p:cNvSpPr txBox="1"/>
          <p:nvPr/>
        </p:nvSpPr>
        <p:spPr>
          <a:xfrm>
            <a:off x="4142232" y="1783080"/>
            <a:ext cx="2304288" cy="731520"/>
          </a:xfrm>
          <a:prstGeom prst="rect">
            <a:avLst/>
          </a:prstGeom>
          <a:noFill/>
          <a:ln/>
        </p:spPr>
        <p:txBody>
          <a:bodyPr wrap="square" lIns="0" tIns="0" rIns="0" bIns="0" rtlCol="0" anchor="ctr"/>
          <a:lstStyle/>
          <a:p>
            <a:pPr algn="ctr" indent="0" marL="0">
              <a:buNone/>
            </a:pPr>
            <a:r>
              <a:rPr lang="en-US" sz="1400" dirty="0">
                <a:solidFill>
                  <a:schemeClr val="tx1"/>
                </a:solidFill>
              </a:rPr>
              <a:t>Direct transfer</a:t>
            </a:r>
            <a:endParaRPr lang="en-US" sz="1400" dirty="0"/>
          </a:p>
        </p:txBody>
      </p:sp>
      <p:sp>
        <p:nvSpPr>
          <p:cNvPr id="12" name="Chip Infinite approval"/>
          <p:cNvSpPr/>
          <p:nvPr/>
        </p:nvSpPr>
        <p:spPr>
          <a:xfrm>
            <a:off x="6656832" y="1783080"/>
            <a:ext cx="2450592" cy="731520"/>
          </a:xfrm>
          <a:prstGeom prst="roundRect">
            <a:avLst>
              <a:gd name="adj" fmla="val 12500"/>
            </a:avLst>
          </a:prstGeom>
          <a:noFill/>
          <a:ln w="19050">
            <a:solidFill>
              <a:schemeClr val="accent3"/>
            </a:solidFill>
            <a:prstDash val="solid"/>
          </a:ln>
        </p:spPr>
      </p:sp>
      <p:sp>
        <p:nvSpPr>
          <p:cNvPr id="13" name="Text 10"/>
          <p:cNvSpPr txBox="1"/>
          <p:nvPr/>
        </p:nvSpPr>
        <p:spPr>
          <a:xfrm>
            <a:off x="6729984" y="1783080"/>
            <a:ext cx="2304288" cy="731520"/>
          </a:xfrm>
          <a:prstGeom prst="rect">
            <a:avLst/>
          </a:prstGeom>
          <a:noFill/>
          <a:ln/>
        </p:spPr>
        <p:txBody>
          <a:bodyPr wrap="square" lIns="0" tIns="0" rIns="0" bIns="0" rtlCol="0" anchor="ctr"/>
          <a:lstStyle/>
          <a:p>
            <a:pPr algn="ctr" indent="0" marL="0">
              <a:buNone/>
            </a:pPr>
            <a:r>
              <a:rPr lang="en-US" sz="1400" dirty="0">
                <a:solidFill>
                  <a:schemeClr val="tx1"/>
                </a:solidFill>
              </a:rPr>
              <a:t>Infinite approval</a:t>
            </a:r>
            <a:endParaRPr lang="en-US" sz="1400" dirty="0"/>
          </a:p>
        </p:txBody>
      </p:sp>
      <p:sp>
        <p:nvSpPr>
          <p:cNvPr id="14" name="Chip Admin calls"/>
          <p:cNvSpPr/>
          <p:nvPr/>
        </p:nvSpPr>
        <p:spPr>
          <a:xfrm>
            <a:off x="9244584" y="1783080"/>
            <a:ext cx="2450592" cy="731520"/>
          </a:xfrm>
          <a:prstGeom prst="roundRect">
            <a:avLst>
              <a:gd name="adj" fmla="val 12500"/>
            </a:avLst>
          </a:prstGeom>
          <a:noFill/>
          <a:ln w="19050">
            <a:solidFill>
              <a:schemeClr val="accent3"/>
            </a:solidFill>
            <a:prstDash val="solid"/>
          </a:ln>
        </p:spPr>
      </p:sp>
      <p:sp>
        <p:nvSpPr>
          <p:cNvPr id="15" name="Text 12"/>
          <p:cNvSpPr txBox="1"/>
          <p:nvPr/>
        </p:nvSpPr>
        <p:spPr>
          <a:xfrm>
            <a:off x="9317736" y="1783080"/>
            <a:ext cx="2304288" cy="731520"/>
          </a:xfrm>
          <a:prstGeom prst="rect">
            <a:avLst/>
          </a:prstGeom>
          <a:noFill/>
          <a:ln/>
        </p:spPr>
        <p:txBody>
          <a:bodyPr wrap="square" lIns="0" tIns="0" rIns="0" bIns="0" rtlCol="0" anchor="ctr"/>
          <a:lstStyle/>
          <a:p>
            <a:pPr algn="ctr" indent="0" marL="0">
              <a:buNone/>
            </a:pPr>
            <a:r>
              <a:rPr lang="en-US" sz="1400" dirty="0">
                <a:solidFill>
                  <a:schemeClr val="tx1"/>
                </a:solidFill>
              </a:rPr>
              <a:t>Admin calls</a:t>
            </a:r>
            <a:endParaRPr lang="en-US" sz="1400" dirty="0"/>
          </a:p>
        </p:txBody>
      </p:sp>
      <p:sp>
        <p:nvSpPr>
          <p:cNvPr id="16" name="Chip transferFrom"/>
          <p:cNvSpPr/>
          <p:nvPr/>
        </p:nvSpPr>
        <p:spPr>
          <a:xfrm>
            <a:off x="4069080" y="2651760"/>
            <a:ext cx="2450592" cy="731520"/>
          </a:xfrm>
          <a:prstGeom prst="roundRect">
            <a:avLst>
              <a:gd name="adj" fmla="val 12500"/>
            </a:avLst>
          </a:prstGeom>
          <a:noFill/>
          <a:ln w="19050">
            <a:solidFill>
              <a:schemeClr val="accent3"/>
            </a:solidFill>
            <a:prstDash val="solid"/>
          </a:ln>
        </p:spPr>
      </p:sp>
      <p:sp>
        <p:nvSpPr>
          <p:cNvPr id="17" name="Text 14"/>
          <p:cNvSpPr txBox="1"/>
          <p:nvPr/>
        </p:nvSpPr>
        <p:spPr>
          <a:xfrm>
            <a:off x="4142232" y="2651760"/>
            <a:ext cx="2304288" cy="731520"/>
          </a:xfrm>
          <a:prstGeom prst="rect">
            <a:avLst/>
          </a:prstGeom>
          <a:noFill/>
          <a:ln/>
        </p:spPr>
        <p:txBody>
          <a:bodyPr wrap="square" lIns="0" tIns="0" rIns="0" bIns="0" rtlCol="0" anchor="ctr"/>
          <a:lstStyle/>
          <a:p>
            <a:pPr algn="ctr" indent="0" marL="0">
              <a:buNone/>
            </a:pPr>
            <a:r>
              <a:rPr lang="en-US" sz="1400" dirty="0">
                <a:solidFill>
                  <a:schemeClr val="tx1"/>
                </a:solidFill>
              </a:rPr>
              <a:t>transferFrom</a:t>
            </a:r>
            <a:endParaRPr lang="en-US" sz="1400" dirty="0"/>
          </a:p>
        </p:txBody>
      </p:sp>
      <p:sp>
        <p:nvSpPr>
          <p:cNvPr id="18" name="Chip Permit selector"/>
          <p:cNvSpPr/>
          <p:nvPr/>
        </p:nvSpPr>
        <p:spPr>
          <a:xfrm>
            <a:off x="6656832" y="2651760"/>
            <a:ext cx="2450592" cy="731520"/>
          </a:xfrm>
          <a:prstGeom prst="roundRect">
            <a:avLst>
              <a:gd name="adj" fmla="val 12500"/>
            </a:avLst>
          </a:prstGeom>
          <a:noFill/>
          <a:ln w="19050">
            <a:solidFill>
              <a:schemeClr val="accent3"/>
            </a:solidFill>
            <a:prstDash val="solid"/>
          </a:ln>
        </p:spPr>
      </p:sp>
      <p:sp>
        <p:nvSpPr>
          <p:cNvPr id="19" name="Text 16"/>
          <p:cNvSpPr txBox="1"/>
          <p:nvPr/>
        </p:nvSpPr>
        <p:spPr>
          <a:xfrm>
            <a:off x="6729984" y="2651760"/>
            <a:ext cx="2304288" cy="731520"/>
          </a:xfrm>
          <a:prstGeom prst="rect">
            <a:avLst/>
          </a:prstGeom>
          <a:noFill/>
          <a:ln/>
        </p:spPr>
        <p:txBody>
          <a:bodyPr wrap="square" lIns="0" tIns="0" rIns="0" bIns="0" rtlCol="0" anchor="ctr"/>
          <a:lstStyle/>
          <a:p>
            <a:pPr algn="ctr" indent="0" marL="0">
              <a:buNone/>
            </a:pPr>
            <a:r>
              <a:rPr lang="en-US" sz="1400" dirty="0">
                <a:solidFill>
                  <a:schemeClr val="tx1"/>
                </a:solidFill>
              </a:rPr>
              <a:t>Permit selector</a:t>
            </a:r>
            <a:endParaRPr lang="en-US" sz="1400" dirty="0"/>
          </a:p>
        </p:txBody>
      </p:sp>
      <p:sp>
        <p:nvSpPr>
          <p:cNvPr id="20" name="Chip Mixed approval batch"/>
          <p:cNvSpPr/>
          <p:nvPr/>
        </p:nvSpPr>
        <p:spPr>
          <a:xfrm>
            <a:off x="9244584" y="2651760"/>
            <a:ext cx="2450592" cy="731520"/>
          </a:xfrm>
          <a:prstGeom prst="roundRect">
            <a:avLst>
              <a:gd name="adj" fmla="val 12500"/>
            </a:avLst>
          </a:prstGeom>
          <a:noFill/>
          <a:ln w="19050">
            <a:solidFill>
              <a:schemeClr val="accent3"/>
            </a:solidFill>
            <a:prstDash val="solid"/>
          </a:ln>
        </p:spPr>
      </p:sp>
      <p:sp>
        <p:nvSpPr>
          <p:cNvPr id="21" name="Text 18"/>
          <p:cNvSpPr txBox="1"/>
          <p:nvPr/>
        </p:nvSpPr>
        <p:spPr>
          <a:xfrm>
            <a:off x="9317736" y="2651760"/>
            <a:ext cx="2304288" cy="731520"/>
          </a:xfrm>
          <a:prstGeom prst="rect">
            <a:avLst/>
          </a:prstGeom>
          <a:noFill/>
          <a:ln/>
        </p:spPr>
        <p:txBody>
          <a:bodyPr wrap="square" lIns="0" tIns="0" rIns="0" bIns="0" rtlCol="0" anchor="ctr"/>
          <a:lstStyle/>
          <a:p>
            <a:pPr algn="ctr" indent="0" marL="0">
              <a:buNone/>
            </a:pPr>
            <a:r>
              <a:rPr lang="en-US" sz="1400" dirty="0">
                <a:solidFill>
                  <a:schemeClr val="tx1"/>
                </a:solidFill>
              </a:rPr>
              <a:t>Mixed approval batch</a:t>
            </a:r>
            <a:endParaRPr lang="en-US" sz="1400" dirty="0"/>
          </a:p>
        </p:txBody>
      </p:sp>
      <p:sp>
        <p:nvSpPr>
          <p:cNvPr id="22" name="Chip Nested Kernel execution"/>
          <p:cNvSpPr/>
          <p:nvPr/>
        </p:nvSpPr>
        <p:spPr>
          <a:xfrm>
            <a:off x="4069080" y="3520440"/>
            <a:ext cx="2450592" cy="731520"/>
          </a:xfrm>
          <a:prstGeom prst="roundRect">
            <a:avLst>
              <a:gd name="adj" fmla="val 12500"/>
            </a:avLst>
          </a:prstGeom>
          <a:noFill/>
          <a:ln w="19050">
            <a:solidFill>
              <a:schemeClr val="accent3"/>
            </a:solidFill>
            <a:prstDash val="solid"/>
          </a:ln>
        </p:spPr>
      </p:sp>
      <p:sp>
        <p:nvSpPr>
          <p:cNvPr id="23" name="Text 20"/>
          <p:cNvSpPr txBox="1"/>
          <p:nvPr/>
        </p:nvSpPr>
        <p:spPr>
          <a:xfrm>
            <a:off x="4142232" y="3520440"/>
            <a:ext cx="2304288" cy="731520"/>
          </a:xfrm>
          <a:prstGeom prst="rect">
            <a:avLst/>
          </a:prstGeom>
          <a:noFill/>
          <a:ln/>
        </p:spPr>
        <p:txBody>
          <a:bodyPr wrap="square" lIns="0" tIns="0" rIns="0" bIns="0" rtlCol="0" anchor="ctr"/>
          <a:lstStyle/>
          <a:p>
            <a:pPr algn="ctr" indent="0" marL="0">
              <a:buNone/>
            </a:pPr>
            <a:r>
              <a:rPr lang="en-US" sz="1400" dirty="0">
                <a:solidFill>
                  <a:schemeClr val="tx1"/>
                </a:solidFill>
              </a:rPr>
              <a:t>Nested Kernel execution</a:t>
            </a:r>
            <a:endParaRPr lang="en-US" sz="1400" dirty="0"/>
          </a:p>
        </p:txBody>
      </p:sp>
      <p:sp>
        <p:nvSpPr>
          <p:cNvPr id="24" name="Chip Delegatecall"/>
          <p:cNvSpPr/>
          <p:nvPr/>
        </p:nvSpPr>
        <p:spPr>
          <a:xfrm>
            <a:off x="6656832" y="3520440"/>
            <a:ext cx="2450592" cy="731520"/>
          </a:xfrm>
          <a:prstGeom prst="roundRect">
            <a:avLst>
              <a:gd name="adj" fmla="val 12500"/>
            </a:avLst>
          </a:prstGeom>
          <a:noFill/>
          <a:ln w="19050">
            <a:solidFill>
              <a:schemeClr val="accent3"/>
            </a:solidFill>
            <a:prstDash val="solid"/>
          </a:ln>
        </p:spPr>
      </p:sp>
      <p:sp>
        <p:nvSpPr>
          <p:cNvPr id="25" name="Text 22"/>
          <p:cNvSpPr txBox="1"/>
          <p:nvPr/>
        </p:nvSpPr>
        <p:spPr>
          <a:xfrm>
            <a:off x="6729984" y="3520440"/>
            <a:ext cx="2304288" cy="731520"/>
          </a:xfrm>
          <a:prstGeom prst="rect">
            <a:avLst/>
          </a:prstGeom>
          <a:noFill/>
          <a:ln/>
        </p:spPr>
        <p:txBody>
          <a:bodyPr wrap="square" lIns="0" tIns="0" rIns="0" bIns="0" rtlCol="0" anchor="ctr"/>
          <a:lstStyle/>
          <a:p>
            <a:pPr algn="ctr" indent="0" marL="0">
              <a:buNone/>
            </a:pPr>
            <a:r>
              <a:rPr lang="en-US" sz="1400" dirty="0">
                <a:solidFill>
                  <a:schemeClr val="tx1"/>
                </a:solidFill>
              </a:rPr>
              <a:t>Delegatecall</a:t>
            </a:r>
            <a:endParaRPr lang="en-US" sz="1400" dirty="0"/>
          </a:p>
        </p:txBody>
      </p:sp>
      <p:sp>
        <p:nvSpPr>
          <p:cNvPr id="26" name="Chip Compromised-planner drain"/>
          <p:cNvSpPr/>
          <p:nvPr/>
        </p:nvSpPr>
        <p:spPr>
          <a:xfrm>
            <a:off x="9244584" y="3520440"/>
            <a:ext cx="2450592" cy="731520"/>
          </a:xfrm>
          <a:prstGeom prst="roundRect">
            <a:avLst>
              <a:gd name="adj" fmla="val 12500"/>
            </a:avLst>
          </a:prstGeom>
          <a:noFill/>
          <a:ln w="19050">
            <a:solidFill>
              <a:schemeClr val="accent3"/>
            </a:solidFill>
            <a:prstDash val="solid"/>
          </a:ln>
        </p:spPr>
      </p:sp>
      <p:sp>
        <p:nvSpPr>
          <p:cNvPr id="27" name="Text 24"/>
          <p:cNvSpPr txBox="1"/>
          <p:nvPr/>
        </p:nvSpPr>
        <p:spPr>
          <a:xfrm>
            <a:off x="9317736" y="3520440"/>
            <a:ext cx="2304288" cy="731520"/>
          </a:xfrm>
          <a:prstGeom prst="rect">
            <a:avLst/>
          </a:prstGeom>
          <a:noFill/>
          <a:ln/>
        </p:spPr>
        <p:txBody>
          <a:bodyPr wrap="square" lIns="0" tIns="0" rIns="0" bIns="0" rtlCol="0" anchor="ctr"/>
          <a:lstStyle/>
          <a:p>
            <a:pPr algn="ctr" indent="0" marL="0">
              <a:buNone/>
            </a:pPr>
            <a:r>
              <a:rPr lang="en-US" sz="1400" dirty="0">
                <a:solidFill>
                  <a:schemeClr val="tx1"/>
                </a:solidFill>
              </a:rPr>
              <a:t>Compromised-planner drain</a:t>
            </a:r>
            <a:endParaRPr lang="en-US" sz="1400" dirty="0"/>
          </a:p>
        </p:txBody>
      </p:sp>
      <p:sp>
        <p:nvSpPr>
          <p:cNvPr id="28" name="Chip Operation after owner revoke"/>
          <p:cNvSpPr/>
          <p:nvPr/>
        </p:nvSpPr>
        <p:spPr>
          <a:xfrm>
            <a:off x="4069080" y="4389120"/>
            <a:ext cx="2450592" cy="731520"/>
          </a:xfrm>
          <a:prstGeom prst="roundRect">
            <a:avLst>
              <a:gd name="adj" fmla="val 12500"/>
            </a:avLst>
          </a:prstGeom>
          <a:noFill/>
          <a:ln w="19050">
            <a:solidFill>
              <a:schemeClr val="accent3"/>
            </a:solidFill>
            <a:prstDash val="solid"/>
          </a:ln>
        </p:spPr>
      </p:sp>
      <p:sp>
        <p:nvSpPr>
          <p:cNvPr id="29" name="Text 26"/>
          <p:cNvSpPr txBox="1"/>
          <p:nvPr/>
        </p:nvSpPr>
        <p:spPr>
          <a:xfrm>
            <a:off x="4142232" y="4389120"/>
            <a:ext cx="2304288" cy="731520"/>
          </a:xfrm>
          <a:prstGeom prst="rect">
            <a:avLst/>
          </a:prstGeom>
          <a:noFill/>
          <a:ln/>
        </p:spPr>
        <p:txBody>
          <a:bodyPr wrap="square" lIns="0" tIns="0" rIns="0" bIns="0" rtlCol="0" anchor="ctr"/>
          <a:lstStyle/>
          <a:p>
            <a:pPr algn="ctr" indent="0" marL="0">
              <a:buNone/>
            </a:pPr>
            <a:r>
              <a:rPr lang="en-US" sz="1400" dirty="0">
                <a:solidFill>
                  <a:schemeClr val="tx1"/>
                </a:solidFill>
              </a:rPr>
              <a:t>Operation after owner revoke</a:t>
            </a:r>
            <a:endParaRPr lang="en-US" sz="1400" dirty="0"/>
          </a:p>
        </p:txBody>
      </p:sp>
      <p:sp>
        <p:nvSpPr>
          <p:cNvPr id="30" name="Chip Lost-response path recovers with one send"/>
          <p:cNvSpPr/>
          <p:nvPr/>
        </p:nvSpPr>
        <p:spPr>
          <a:xfrm>
            <a:off x="6656832" y="4389120"/>
            <a:ext cx="5038344" cy="731520"/>
          </a:xfrm>
          <a:prstGeom prst="roundRect">
            <a:avLst>
              <a:gd name="adj" fmla="val 12500"/>
            </a:avLst>
          </a:prstGeom>
          <a:solidFill>
            <a:schemeClr val="tx2"/>
          </a:solidFill>
          <a:ln/>
        </p:spPr>
      </p:sp>
      <p:sp>
        <p:nvSpPr>
          <p:cNvPr id="31" name="Text 28"/>
          <p:cNvSpPr txBox="1"/>
          <p:nvPr/>
        </p:nvSpPr>
        <p:spPr>
          <a:xfrm>
            <a:off x="6729984" y="4389120"/>
            <a:ext cx="4892040" cy="731520"/>
          </a:xfrm>
          <a:prstGeom prst="rect">
            <a:avLst/>
          </a:prstGeom>
          <a:noFill/>
          <a:ln/>
        </p:spPr>
        <p:txBody>
          <a:bodyPr wrap="square" lIns="0" tIns="0" rIns="0" bIns="0" rtlCol="0" anchor="ctr"/>
          <a:lstStyle/>
          <a:p>
            <a:pPr algn="ctr" indent="0" marL="0">
              <a:buNone/>
            </a:pPr>
            <a:r>
              <a:rPr lang="en-US" sz="1400" b="1" dirty="0">
                <a:solidFill>
                  <a:schemeClr val="bg1"/>
                </a:solidFill>
              </a:rPr>
              <a:t>Lost-response path recovers with one send</a:t>
            </a:r>
            <a:endParaRPr lang="en-US" sz="1400" dirty="0"/>
          </a:p>
        </p:txBody>
      </p:sp>
      <p:sp>
        <p:nvSpPr>
          <p:cNvPr id="32" name="Caveat banner"/>
          <p:cNvSpPr/>
          <p:nvPr/>
        </p:nvSpPr>
        <p:spPr>
          <a:xfrm>
            <a:off x="548640" y="5440680"/>
            <a:ext cx="11094415" cy="822960"/>
          </a:xfrm>
          <a:prstGeom prst="roundRect">
            <a:avLst>
              <a:gd name="adj" fmla="val 11111"/>
            </a:avLst>
          </a:prstGeom>
          <a:solidFill>
            <a:schemeClr val="accent2">
              <a:alpha val="25000"/>
            </a:schemeClr>
          </a:solidFill>
          <a:ln/>
        </p:spPr>
      </p:sp>
      <p:sp>
        <p:nvSpPr>
          <p:cNvPr id="33" name="Text 30"/>
          <p:cNvSpPr txBox="1"/>
          <p:nvPr/>
        </p:nvSpPr>
        <p:spPr>
          <a:xfrm>
            <a:off x="777240" y="5440680"/>
            <a:ext cx="10637215" cy="822960"/>
          </a:xfrm>
          <a:prstGeom prst="rect">
            <a:avLst/>
          </a:prstGeom>
          <a:noFill/>
          <a:ln/>
        </p:spPr>
        <p:txBody>
          <a:bodyPr wrap="square" lIns="0" tIns="0" rIns="0" bIns="0" rtlCol="0" anchor="ctr"/>
          <a:lstStyle/>
          <a:p>
            <a:pPr indent="0" marL="0">
              <a:buNone/>
            </a:pPr>
            <a:r>
              <a:rPr lang="en-US" sz="1400" b="1" dirty="0">
                <a:solidFill>
                  <a:schemeClr val="tx1"/>
                </a:solidFill>
              </a:rPr>
              <a:t>Separate from model behavior: </a:t>
            </a:r>
            <a:pPr indent="0" marL="0">
              <a:buNone/>
            </a:pPr>
            <a:r>
              <a:rPr lang="en-US" sz="1400" dirty="0">
                <a:solidFill>
                  <a:schemeClr val="tx1"/>
                </a:solidFill>
              </a:rPr>
              <a:t>these adversarial payloads hit Kernel/Guardian authorization directly. Fork transaction hashes are not public-chain evidence.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Economic efficiency: single vs. batching</a:t>
            </a:r>
            <a:endParaRPr lang="en-US" sz="3600" dirty="0"/>
          </a:p>
        </p:txBody>
      </p:sp>
      <p:graphicFrame>
        <p:nvGraphicFramePr>
          <p:cNvPr id="3" name="Chart 0" descr=""/>
          <p:cNvGraphicFramePr/>
          <p:nvPr/>
        </p:nvGraphicFramePr>
        <p:xfrm>
          <a:off x="548640" y="1234440"/>
          <a:ext cx="6400800" cy="3520440"/>
        </p:xfrm>
        <a:graphic xmlns:a="http://schemas.openxmlformats.org/drawingml/2006/main">
          <a:graphicData uri="http://schemas.openxmlformats.org/drawingml/2006/chart">
            <c:chart xmlns:c="http://schemas.openxmlformats.org/drawingml/2006/chart" r:id="rId1"/>
          </a:graphicData>
        </a:graphic>
      </p:graphicFrame>
      <p:sp>
        <p:nvSpPr>
          <p:cNvPr id="4" name="Stat 58.59%"/>
          <p:cNvSpPr/>
          <p:nvPr/>
        </p:nvSpPr>
        <p:spPr>
          <a:xfrm>
            <a:off x="7223760" y="1280160"/>
            <a:ext cx="4419295" cy="1691640"/>
          </a:xfrm>
          <a:prstGeom prst="roundRect">
            <a:avLst>
              <a:gd name="adj" fmla="val 6486"/>
            </a:avLst>
          </a:prstGeom>
          <a:solidFill>
            <a:schemeClr val="bg2"/>
          </a:solidFill>
          <a:ln/>
        </p:spPr>
      </p:sp>
      <p:sp>
        <p:nvSpPr>
          <p:cNvPr id="5" name="Text 2"/>
          <p:cNvSpPr txBox="1"/>
          <p:nvPr/>
        </p:nvSpPr>
        <p:spPr>
          <a:xfrm>
            <a:off x="7452360" y="1389888"/>
            <a:ext cx="1920240" cy="640080"/>
          </a:xfrm>
          <a:prstGeom prst="rect">
            <a:avLst/>
          </a:prstGeom>
          <a:noFill/>
          <a:ln/>
        </p:spPr>
        <p:txBody>
          <a:bodyPr wrap="square" lIns="0" tIns="0" rIns="0" bIns="0" rtlCol="0" anchor="ctr"/>
          <a:lstStyle/>
          <a:p>
            <a:pPr indent="0" marL="0">
              <a:buNone/>
            </a:pPr>
            <a:r>
              <a:rPr lang="en-US" sz="4000" b="1" dirty="0">
                <a:solidFill>
                  <a:schemeClr val="tx2"/>
                </a:solidFill>
              </a:rPr>
              <a:t>58.59%</a:t>
            </a:r>
            <a:endParaRPr lang="en-US" sz="4000" dirty="0"/>
          </a:p>
        </p:txBody>
      </p:sp>
      <p:sp>
        <p:nvSpPr>
          <p:cNvPr id="6" name="Text 3"/>
          <p:cNvSpPr txBox="1"/>
          <p:nvPr/>
        </p:nvSpPr>
        <p:spPr>
          <a:xfrm>
            <a:off x="7452360" y="2057400"/>
            <a:ext cx="4023360" cy="868680"/>
          </a:xfrm>
          <a:prstGeom prst="rect">
            <a:avLst/>
          </a:prstGeom>
          <a:noFill/>
          <a:ln/>
        </p:spPr>
        <p:txBody>
          <a:bodyPr wrap="square" lIns="0" tIns="0" rIns="0" bIns="0" rtlCol="0" anchor="t"/>
          <a:lstStyle/>
          <a:p>
            <a:pPr indent="0" marL="0">
              <a:buNone/>
            </a:pPr>
            <a:r>
              <a:rPr lang="en-US" sz="1400" b="1" dirty="0">
                <a:solidFill>
                  <a:schemeClr val="tx1"/>
                </a:solidFill>
              </a:rPr>
              <a:t>less enclosing-transaction EVM gas</a:t>
            </a:r>
            <a:endParaRPr lang="en-US" sz="1400" dirty="0"/>
          </a:p>
          <a:p>
            <a:pPr indent="0" marL="0">
              <a:buNone/>
            </a:pPr>
            <a:r>
              <a:rPr lang="en-US" sz="1400" dirty="0">
                <a:solidFill>
                  <a:schemeClr val="tx1"/>
                </a:solidFill>
              </a:rPr>
              <a:t>4 invoices: 4 operations → 1</a:t>
            </a:r>
            <a:endParaRPr lang="en-US" sz="1400" dirty="0"/>
          </a:p>
          <a:p>
            <a:pPr indent="0" marL="0">
              <a:buNone/>
            </a:pPr>
            <a:r>
              <a:rPr lang="en-US" sz="1400" dirty="0">
                <a:solidFill>
                  <a:schemeClr val="accent4"/>
                </a:solidFill>
              </a:rPr>
              <a:t>EntryPoint gas (secondary): 70.42%</a:t>
            </a:r>
            <a:endParaRPr lang="en-US" sz="1400" dirty="0"/>
          </a:p>
        </p:txBody>
      </p:sp>
      <p:sp>
        <p:nvSpPr>
          <p:cNvPr id="7" name="Stat 67.87%"/>
          <p:cNvSpPr/>
          <p:nvPr/>
        </p:nvSpPr>
        <p:spPr>
          <a:xfrm>
            <a:off x="7223760" y="3063240"/>
            <a:ext cx="4419295" cy="1691640"/>
          </a:xfrm>
          <a:prstGeom prst="roundRect">
            <a:avLst>
              <a:gd name="adj" fmla="val 6486"/>
            </a:avLst>
          </a:prstGeom>
          <a:solidFill>
            <a:schemeClr val="bg2"/>
          </a:solidFill>
          <a:ln/>
        </p:spPr>
      </p:sp>
      <p:sp>
        <p:nvSpPr>
          <p:cNvPr id="8" name="Text 5"/>
          <p:cNvSpPr txBox="1"/>
          <p:nvPr/>
        </p:nvSpPr>
        <p:spPr>
          <a:xfrm>
            <a:off x="7452360" y="3172968"/>
            <a:ext cx="1920240" cy="640080"/>
          </a:xfrm>
          <a:prstGeom prst="rect">
            <a:avLst/>
          </a:prstGeom>
          <a:noFill/>
          <a:ln/>
        </p:spPr>
        <p:txBody>
          <a:bodyPr wrap="square" lIns="0" tIns="0" rIns="0" bIns="0" rtlCol="0" anchor="ctr"/>
          <a:lstStyle/>
          <a:p>
            <a:pPr indent="0" marL="0">
              <a:buNone/>
            </a:pPr>
            <a:r>
              <a:rPr lang="en-US" sz="4000" b="1" dirty="0">
                <a:solidFill>
                  <a:schemeClr val="tx2"/>
                </a:solidFill>
              </a:rPr>
              <a:t>67.87%</a:t>
            </a:r>
            <a:endParaRPr lang="en-US" sz="4000" dirty="0"/>
          </a:p>
        </p:txBody>
      </p:sp>
      <p:sp>
        <p:nvSpPr>
          <p:cNvPr id="9" name="Text 6"/>
          <p:cNvSpPr txBox="1"/>
          <p:nvPr/>
        </p:nvSpPr>
        <p:spPr>
          <a:xfrm>
            <a:off x="7452360" y="3840480"/>
            <a:ext cx="4023360" cy="868680"/>
          </a:xfrm>
          <a:prstGeom prst="rect">
            <a:avLst/>
          </a:prstGeom>
          <a:noFill/>
          <a:ln/>
        </p:spPr>
        <p:txBody>
          <a:bodyPr wrap="square" lIns="0" tIns="0" rIns="0" bIns="0" rtlCol="0" anchor="t"/>
          <a:lstStyle/>
          <a:p>
            <a:pPr indent="0" marL="0">
              <a:buNone/>
            </a:pPr>
            <a:r>
              <a:rPr lang="en-US" sz="1400" b="1" dirty="0">
                <a:solidFill>
                  <a:schemeClr val="tx1"/>
                </a:solidFill>
              </a:rPr>
              <a:t>less enclosing-transaction EVM gas</a:t>
            </a:r>
            <a:endParaRPr lang="en-US" sz="1400" dirty="0"/>
          </a:p>
          <a:p>
            <a:pPr indent="0" marL="0">
              <a:buNone/>
            </a:pPr>
            <a:r>
              <a:rPr lang="en-US" sz="1400" dirty="0">
                <a:solidFill>
                  <a:schemeClr val="tx1"/>
                </a:solidFill>
              </a:rPr>
              <a:t>7 invoices: 7 operations → 1</a:t>
            </a:r>
            <a:endParaRPr lang="en-US" sz="1400" dirty="0"/>
          </a:p>
          <a:p>
            <a:pPr indent="0" marL="0">
              <a:buNone/>
            </a:pPr>
            <a:r>
              <a:rPr lang="en-US" sz="1400" dirty="0">
                <a:solidFill>
                  <a:schemeClr val="accent4"/>
                </a:solidFill>
              </a:rPr>
              <a:t>EntryPoint gas (secondary): 80.83%</a:t>
            </a:r>
            <a:endParaRPr lang="en-US" sz="1400" dirty="0"/>
          </a:p>
        </p:txBody>
      </p:sp>
      <p:sp>
        <p:nvSpPr>
          <p:cNvPr id="10" name="Method card"/>
          <p:cNvSpPr/>
          <p:nvPr/>
        </p:nvSpPr>
        <p:spPr>
          <a:xfrm>
            <a:off x="548640" y="4937760"/>
            <a:ext cx="5440680" cy="1371600"/>
          </a:xfrm>
          <a:prstGeom prst="roundRect">
            <a:avLst>
              <a:gd name="adj" fmla="val 8000"/>
            </a:avLst>
          </a:prstGeom>
          <a:solidFill>
            <a:schemeClr val="bg2"/>
          </a:solidFill>
          <a:ln/>
        </p:spPr>
      </p:sp>
      <p:sp>
        <p:nvSpPr>
          <p:cNvPr id="11" name="Text 8"/>
          <p:cNvSpPr txBox="1"/>
          <p:nvPr/>
        </p:nvSpPr>
        <p:spPr>
          <a:xfrm>
            <a:off x="731520" y="4983480"/>
            <a:ext cx="5074920" cy="1280160"/>
          </a:xfrm>
          <a:prstGeom prst="rect">
            <a:avLst/>
          </a:prstGeom>
          <a:noFill/>
          <a:ln/>
        </p:spPr>
        <p:txBody>
          <a:bodyPr wrap="square" lIns="0" tIns="0" rIns="0" bIns="0" rtlCol="0" anchor="ctr"/>
          <a:lstStyle/>
          <a:p>
            <a:pPr indent="0" marL="0">
              <a:buNone/>
            </a:pPr>
            <a:r>
              <a:rPr lang="en-US" sz="1400" b="1" dirty="0">
                <a:solidFill>
                  <a:schemeClr val="tx1"/>
                </a:solidFill>
              </a:rPr>
              <a:t>Method: </a:t>
            </a:r>
            <a:pPr indent="0" marL="0">
              <a:buNone/>
            </a:pPr>
            <a:r>
              <a:rPr lang="en-US" sz="1400" dirty="0">
                <a:solidFill>
                  <a:schemeClr val="tx1"/>
                </a:solidFill>
              </a:rPr>
              <a:t>local Base Sepolia fork, actual Kernel/worker, bundler stub; 3 runs per mode from identical warm snapshots. Balance 10, reserve 6, daily cap 2 MockUSD. Default stays one invoice per batch; escrow mode doesn't support batching.</a:t>
            </a:r>
            <a:endParaRPr lang="en-US" sz="1400" dirty="0"/>
          </a:p>
        </p:txBody>
      </p:sp>
      <p:sp>
        <p:nvSpPr>
          <p:cNvPr id="12" name="Limits card"/>
          <p:cNvSpPr/>
          <p:nvPr/>
        </p:nvSpPr>
        <p:spPr>
          <a:xfrm>
            <a:off x="6199632" y="4937760"/>
            <a:ext cx="5443423" cy="1371600"/>
          </a:xfrm>
          <a:prstGeom prst="roundRect">
            <a:avLst>
              <a:gd name="adj" fmla="val 8000"/>
            </a:avLst>
          </a:prstGeom>
          <a:solidFill>
            <a:schemeClr val="accent2">
              <a:alpha val="25000"/>
            </a:schemeClr>
          </a:solidFill>
          <a:ln/>
        </p:spPr>
      </p:sp>
      <p:sp>
        <p:nvSpPr>
          <p:cNvPr id="13" name="Text 10"/>
          <p:cNvSpPr txBox="1"/>
          <p:nvPr/>
        </p:nvSpPr>
        <p:spPr>
          <a:xfrm>
            <a:off x="6400800" y="4983480"/>
            <a:ext cx="5074920" cy="1280160"/>
          </a:xfrm>
          <a:prstGeom prst="rect">
            <a:avLst/>
          </a:prstGeom>
          <a:noFill/>
          <a:ln/>
        </p:spPr>
        <p:txBody>
          <a:bodyPr wrap="square" lIns="0" tIns="0" rIns="0" bIns="0" rtlCol="0" anchor="ctr"/>
          <a:lstStyle/>
          <a:p>
            <a:pPr indent="0" marL="0">
              <a:buNone/>
            </a:pPr>
            <a:r>
              <a:rPr lang="en-US" sz="1400" b="1" dirty="0">
                <a:solidFill>
                  <a:schemeClr val="tx1"/>
                </a:solidFill>
              </a:rPr>
              <a:t>Not included: </a:t>
            </a:r>
            <a:pPr indent="0" marL="0">
              <a:buNone/>
            </a:pPr>
            <a:r>
              <a:rPr lang="en-US" sz="1400" dirty="0">
                <a:solidFill>
                  <a:schemeClr val="tx1"/>
                </a:solidFill>
              </a:rPr>
              <a:t>OP L1-data fees, commercial bundler/paymaster pricing, inference, hosting, power, production failures, network queue latency. Gas on a fork—not USD cost or a mainnet forecast. Savings come from batching, not AI.</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Reliability: Persist-Before-Send</a:t>
            </a:r>
            <a:endParaRPr lang="en-US" sz="3600" dirty="0"/>
          </a:p>
        </p:txBody>
      </p:sp>
      <p:sp>
        <p:nvSpPr>
          <p:cNvPr id="3" name="Chip DB commit"/>
          <p:cNvSpPr/>
          <p:nvPr/>
        </p:nvSpPr>
        <p:spPr>
          <a:xfrm>
            <a:off x="548640" y="1234440"/>
            <a:ext cx="1554480" cy="502920"/>
          </a:xfrm>
          <a:prstGeom prst="roundRect">
            <a:avLst>
              <a:gd name="adj" fmla="val 18182"/>
            </a:avLst>
          </a:prstGeom>
          <a:solidFill>
            <a:schemeClr val="tx2"/>
          </a:solidFill>
          <a:ln/>
        </p:spPr>
      </p:sp>
      <p:sp>
        <p:nvSpPr>
          <p:cNvPr id="4" name="Text 2"/>
          <p:cNvSpPr txBox="1"/>
          <p:nvPr/>
        </p:nvSpPr>
        <p:spPr>
          <a:xfrm>
            <a:off x="621792" y="1234440"/>
            <a:ext cx="1408176" cy="502920"/>
          </a:xfrm>
          <a:prstGeom prst="rect">
            <a:avLst/>
          </a:prstGeom>
          <a:noFill/>
          <a:ln/>
        </p:spPr>
        <p:txBody>
          <a:bodyPr wrap="square" lIns="0" tIns="0" rIns="0" bIns="0" rtlCol="0" anchor="ctr"/>
          <a:lstStyle/>
          <a:p>
            <a:pPr algn="ctr" indent="0" marL="0">
              <a:buNone/>
            </a:pPr>
            <a:r>
              <a:rPr lang="en-US" sz="1400" b="1" dirty="0">
                <a:solidFill>
                  <a:schemeClr val="bg1"/>
                </a:solidFill>
              </a:rPr>
              <a:t>DB commit</a:t>
            </a:r>
            <a:endParaRPr lang="en-US" sz="1400" dirty="0"/>
          </a:p>
        </p:txBody>
      </p:sp>
      <p:sp>
        <p:nvSpPr>
          <p:cNvPr id="5" name="Arrow"/>
          <p:cNvSpPr/>
          <p:nvPr/>
        </p:nvSpPr>
        <p:spPr>
          <a:xfrm>
            <a:off x="2151858" y="1362456"/>
            <a:ext cx="256032" cy="237744"/>
          </a:xfrm>
          <a:prstGeom prst="rightArrow">
            <a:avLst/>
          </a:prstGeom>
          <a:solidFill>
            <a:schemeClr val="accent1"/>
          </a:solidFill>
          <a:ln/>
        </p:spPr>
      </p:sp>
      <p:sp>
        <p:nvSpPr>
          <p:cNvPr id="6" name="Chip Send"/>
          <p:cNvSpPr/>
          <p:nvPr/>
        </p:nvSpPr>
        <p:spPr>
          <a:xfrm>
            <a:off x="2456627" y="1234440"/>
            <a:ext cx="1554480" cy="502920"/>
          </a:xfrm>
          <a:prstGeom prst="roundRect">
            <a:avLst>
              <a:gd name="adj" fmla="val 18182"/>
            </a:avLst>
          </a:prstGeom>
          <a:solidFill>
            <a:schemeClr val="tx2"/>
          </a:solidFill>
          <a:ln/>
        </p:spPr>
      </p:sp>
      <p:sp>
        <p:nvSpPr>
          <p:cNvPr id="7" name="Text 5"/>
          <p:cNvSpPr txBox="1"/>
          <p:nvPr/>
        </p:nvSpPr>
        <p:spPr>
          <a:xfrm>
            <a:off x="2529779" y="1234440"/>
            <a:ext cx="1408176" cy="502920"/>
          </a:xfrm>
          <a:prstGeom prst="rect">
            <a:avLst/>
          </a:prstGeom>
          <a:noFill/>
          <a:ln/>
        </p:spPr>
        <p:txBody>
          <a:bodyPr wrap="square" lIns="0" tIns="0" rIns="0" bIns="0" rtlCol="0" anchor="ctr"/>
          <a:lstStyle/>
          <a:p>
            <a:pPr algn="ctr" indent="0" marL="0">
              <a:buNone/>
            </a:pPr>
            <a:r>
              <a:rPr lang="en-US" sz="1400" b="1" dirty="0">
                <a:solidFill>
                  <a:schemeClr val="bg1"/>
                </a:solidFill>
              </a:rPr>
              <a:t>Send</a:t>
            </a:r>
            <a:endParaRPr lang="en-US" sz="1400" dirty="0"/>
          </a:p>
        </p:txBody>
      </p:sp>
      <p:sp>
        <p:nvSpPr>
          <p:cNvPr id="8" name="Arrow"/>
          <p:cNvSpPr/>
          <p:nvPr/>
        </p:nvSpPr>
        <p:spPr>
          <a:xfrm>
            <a:off x="4059845" y="1362456"/>
            <a:ext cx="256032" cy="237744"/>
          </a:xfrm>
          <a:prstGeom prst="rightArrow">
            <a:avLst/>
          </a:prstGeom>
          <a:solidFill>
            <a:schemeClr val="accent1"/>
          </a:solidFill>
          <a:ln/>
        </p:spPr>
      </p:sp>
      <p:sp>
        <p:nvSpPr>
          <p:cNvPr id="9" name="Chip Response lost"/>
          <p:cNvSpPr/>
          <p:nvPr/>
        </p:nvSpPr>
        <p:spPr>
          <a:xfrm>
            <a:off x="4364614" y="1234440"/>
            <a:ext cx="1554480" cy="502920"/>
          </a:xfrm>
          <a:prstGeom prst="roundRect">
            <a:avLst>
              <a:gd name="adj" fmla="val 18182"/>
            </a:avLst>
          </a:prstGeom>
          <a:noFill/>
          <a:ln w="28575">
            <a:solidFill>
              <a:schemeClr val="accent2"/>
            </a:solidFill>
            <a:prstDash val="solid"/>
          </a:ln>
        </p:spPr>
      </p:sp>
      <p:sp>
        <p:nvSpPr>
          <p:cNvPr id="10" name="Text 8"/>
          <p:cNvSpPr txBox="1"/>
          <p:nvPr/>
        </p:nvSpPr>
        <p:spPr>
          <a:xfrm>
            <a:off x="4437766" y="1234440"/>
            <a:ext cx="1408176" cy="502920"/>
          </a:xfrm>
          <a:prstGeom prst="rect">
            <a:avLst/>
          </a:prstGeom>
          <a:noFill/>
          <a:ln/>
        </p:spPr>
        <p:txBody>
          <a:bodyPr wrap="square" lIns="0" tIns="0" rIns="0" bIns="0" rtlCol="0" anchor="ctr"/>
          <a:lstStyle/>
          <a:p>
            <a:pPr algn="ctr" indent="0" marL="0">
              <a:buNone/>
            </a:pPr>
            <a:r>
              <a:rPr lang="en-US" sz="1400" b="1" dirty="0">
                <a:solidFill>
                  <a:schemeClr val="tx1"/>
                </a:solidFill>
              </a:rPr>
              <a:t>Response lost</a:t>
            </a:r>
            <a:endParaRPr lang="en-US" sz="1400" dirty="0"/>
          </a:p>
        </p:txBody>
      </p:sp>
      <p:sp>
        <p:nvSpPr>
          <p:cNvPr id="11" name="Arrow"/>
          <p:cNvSpPr/>
          <p:nvPr/>
        </p:nvSpPr>
        <p:spPr>
          <a:xfrm>
            <a:off x="5967832" y="1362456"/>
            <a:ext cx="256032" cy="237744"/>
          </a:xfrm>
          <a:prstGeom prst="rightArrow">
            <a:avLst/>
          </a:prstGeom>
          <a:solidFill>
            <a:schemeClr val="accent1"/>
          </a:solidFill>
          <a:ln/>
        </p:spPr>
      </p:sp>
      <p:sp>
        <p:nvSpPr>
          <p:cNvPr id="12" name="Chip Worker restart"/>
          <p:cNvSpPr/>
          <p:nvPr/>
        </p:nvSpPr>
        <p:spPr>
          <a:xfrm>
            <a:off x="6272601" y="1234440"/>
            <a:ext cx="1554480" cy="502920"/>
          </a:xfrm>
          <a:prstGeom prst="roundRect">
            <a:avLst>
              <a:gd name="adj" fmla="val 18182"/>
            </a:avLst>
          </a:prstGeom>
          <a:solidFill>
            <a:schemeClr val="tx2"/>
          </a:solidFill>
          <a:ln/>
        </p:spPr>
      </p:sp>
      <p:sp>
        <p:nvSpPr>
          <p:cNvPr id="13" name="Text 11"/>
          <p:cNvSpPr txBox="1"/>
          <p:nvPr/>
        </p:nvSpPr>
        <p:spPr>
          <a:xfrm>
            <a:off x="6345753" y="1234440"/>
            <a:ext cx="1408176" cy="502920"/>
          </a:xfrm>
          <a:prstGeom prst="rect">
            <a:avLst/>
          </a:prstGeom>
          <a:noFill/>
          <a:ln/>
        </p:spPr>
        <p:txBody>
          <a:bodyPr wrap="square" lIns="0" tIns="0" rIns="0" bIns="0" rtlCol="0" anchor="ctr"/>
          <a:lstStyle/>
          <a:p>
            <a:pPr algn="ctr" indent="0" marL="0">
              <a:buNone/>
            </a:pPr>
            <a:r>
              <a:rPr lang="en-US" sz="1400" b="1" dirty="0">
                <a:solidFill>
                  <a:schemeClr val="bg1"/>
                </a:solidFill>
              </a:rPr>
              <a:t>Worker restart</a:t>
            </a:r>
            <a:endParaRPr lang="en-US" sz="1400" dirty="0"/>
          </a:p>
        </p:txBody>
      </p:sp>
      <p:sp>
        <p:nvSpPr>
          <p:cNvPr id="14" name="Arrow"/>
          <p:cNvSpPr/>
          <p:nvPr/>
        </p:nvSpPr>
        <p:spPr>
          <a:xfrm>
            <a:off x="7875819" y="1362456"/>
            <a:ext cx="256032" cy="237744"/>
          </a:xfrm>
          <a:prstGeom prst="rightArrow">
            <a:avLst/>
          </a:prstGeom>
          <a:solidFill>
            <a:schemeClr val="accent1"/>
          </a:solidFill>
          <a:ln/>
        </p:spPr>
      </p:sp>
      <p:sp>
        <p:nvSpPr>
          <p:cNvPr id="15" name="Chip Read receipt / logs"/>
          <p:cNvSpPr/>
          <p:nvPr/>
        </p:nvSpPr>
        <p:spPr>
          <a:xfrm>
            <a:off x="8180588" y="1234440"/>
            <a:ext cx="1554480" cy="502920"/>
          </a:xfrm>
          <a:prstGeom prst="roundRect">
            <a:avLst>
              <a:gd name="adj" fmla="val 18182"/>
            </a:avLst>
          </a:prstGeom>
          <a:solidFill>
            <a:schemeClr val="tx2"/>
          </a:solidFill>
          <a:ln/>
        </p:spPr>
      </p:sp>
      <p:sp>
        <p:nvSpPr>
          <p:cNvPr id="16" name="Text 14"/>
          <p:cNvSpPr txBox="1"/>
          <p:nvPr/>
        </p:nvSpPr>
        <p:spPr>
          <a:xfrm>
            <a:off x="8253740" y="1234440"/>
            <a:ext cx="1408176" cy="502920"/>
          </a:xfrm>
          <a:prstGeom prst="rect">
            <a:avLst/>
          </a:prstGeom>
          <a:noFill/>
          <a:ln/>
        </p:spPr>
        <p:txBody>
          <a:bodyPr wrap="square" lIns="0" tIns="0" rIns="0" bIns="0" rtlCol="0" anchor="ctr"/>
          <a:lstStyle/>
          <a:p>
            <a:pPr algn="ctr" indent="0" marL="0">
              <a:buNone/>
            </a:pPr>
            <a:r>
              <a:rPr lang="en-US" sz="1400" b="1" dirty="0">
                <a:solidFill>
                  <a:schemeClr val="bg1"/>
                </a:solidFill>
              </a:rPr>
              <a:t>Read receipt / logs</a:t>
            </a:r>
            <a:endParaRPr lang="en-US" sz="1400" dirty="0"/>
          </a:p>
        </p:txBody>
      </p:sp>
      <p:sp>
        <p:nvSpPr>
          <p:cNvPr id="17" name="Arrow"/>
          <p:cNvSpPr/>
          <p:nvPr/>
        </p:nvSpPr>
        <p:spPr>
          <a:xfrm>
            <a:off x="9783806" y="1362456"/>
            <a:ext cx="256032" cy="237744"/>
          </a:xfrm>
          <a:prstGeom prst="rightArrow">
            <a:avLst/>
          </a:prstGeom>
          <a:solidFill>
            <a:schemeClr val="accent1"/>
          </a:solidFill>
          <a:ln/>
        </p:spPr>
      </p:sp>
      <p:sp>
        <p:nvSpPr>
          <p:cNvPr id="18" name="Chip Confirmed"/>
          <p:cNvSpPr/>
          <p:nvPr/>
        </p:nvSpPr>
        <p:spPr>
          <a:xfrm>
            <a:off x="10088575" y="1234440"/>
            <a:ext cx="1554480" cy="502920"/>
          </a:xfrm>
          <a:prstGeom prst="roundRect">
            <a:avLst>
              <a:gd name="adj" fmla="val 18182"/>
            </a:avLst>
          </a:prstGeom>
          <a:solidFill>
            <a:schemeClr val="accent1"/>
          </a:solidFill>
          <a:ln/>
        </p:spPr>
      </p:sp>
      <p:sp>
        <p:nvSpPr>
          <p:cNvPr id="19" name="Text 17"/>
          <p:cNvSpPr txBox="1"/>
          <p:nvPr/>
        </p:nvSpPr>
        <p:spPr>
          <a:xfrm>
            <a:off x="10161727" y="1234440"/>
            <a:ext cx="1408176" cy="502920"/>
          </a:xfrm>
          <a:prstGeom prst="rect">
            <a:avLst/>
          </a:prstGeom>
          <a:noFill/>
          <a:ln/>
        </p:spPr>
        <p:txBody>
          <a:bodyPr wrap="square" lIns="0" tIns="0" rIns="0" bIns="0" rtlCol="0" anchor="ctr"/>
          <a:lstStyle/>
          <a:p>
            <a:pPr algn="ctr" indent="0" marL="0">
              <a:buNone/>
            </a:pPr>
            <a:r>
              <a:rPr lang="en-US" sz="1400" b="1" dirty="0">
                <a:solidFill>
                  <a:schemeClr val="tx1"/>
                </a:solidFill>
              </a:rPr>
              <a:t>Confirmed</a:t>
            </a:r>
            <a:endParaRPr lang="en-US" sz="1400" dirty="0"/>
          </a:p>
        </p:txBody>
      </p:sp>
      <p:sp>
        <p:nvSpPr>
          <p:cNvPr id="20" name="Chip Sign a new nonce"/>
          <p:cNvSpPr/>
          <p:nvPr/>
        </p:nvSpPr>
        <p:spPr>
          <a:xfrm>
            <a:off x="4724248" y="1810512"/>
            <a:ext cx="2743200" cy="384048"/>
          </a:xfrm>
          <a:prstGeom prst="roundRect">
            <a:avLst>
              <a:gd name="adj" fmla="val 23810"/>
            </a:avLst>
          </a:prstGeom>
          <a:noFill/>
          <a:ln w="22225">
            <a:solidFill>
              <a:schemeClr val="accent3"/>
            </a:solidFill>
            <a:prstDash val="solid"/>
          </a:ln>
        </p:spPr>
      </p:sp>
      <p:sp>
        <p:nvSpPr>
          <p:cNvPr id="21" name="Text 19"/>
          <p:cNvSpPr txBox="1"/>
          <p:nvPr/>
        </p:nvSpPr>
        <p:spPr>
          <a:xfrm>
            <a:off x="4797400" y="1810512"/>
            <a:ext cx="2596896" cy="384048"/>
          </a:xfrm>
          <a:prstGeom prst="rect">
            <a:avLst/>
          </a:prstGeom>
          <a:noFill/>
          <a:ln/>
        </p:spPr>
        <p:txBody>
          <a:bodyPr wrap="square" lIns="0" tIns="0" rIns="0" bIns="0" rtlCol="0" anchor="ctr"/>
          <a:lstStyle/>
          <a:p>
            <a:pPr algn="ctr" indent="0" marL="0">
              <a:buNone/>
            </a:pPr>
            <a:r>
              <a:rPr lang="en-US" sz="1400" strike="sngStrike" dirty="0">
                <a:solidFill>
                  <a:schemeClr val="tx1"/>
                </a:solidFill>
              </a:rPr>
              <a:t>Sign a new nonce</a:t>
            </a:r>
            <a:endParaRPr lang="en-US" sz="1400" dirty="0"/>
          </a:p>
        </p:txBody>
      </p:sp>
      <p:sp>
        <p:nvSpPr>
          <p:cNvPr id="22" name="Number 1"/>
          <p:cNvSpPr/>
          <p:nvPr/>
        </p:nvSpPr>
        <p:spPr>
          <a:xfrm>
            <a:off x="548640" y="2441448"/>
            <a:ext cx="329184" cy="329184"/>
          </a:xfrm>
          <a:prstGeom prst="ellipse">
            <a:avLst/>
          </a:prstGeom>
          <a:solidFill>
            <a:schemeClr val="tx2"/>
          </a:solidFill>
          <a:ln/>
        </p:spPr>
      </p:sp>
      <p:sp>
        <p:nvSpPr>
          <p:cNvPr id="23" name="Text 21"/>
          <p:cNvSpPr txBox="1"/>
          <p:nvPr/>
        </p:nvSpPr>
        <p:spPr>
          <a:xfrm>
            <a:off x="548640" y="24414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4" name="Text 22"/>
          <p:cNvSpPr txBox="1"/>
          <p:nvPr/>
        </p:nvSpPr>
        <p:spPr>
          <a:xfrm>
            <a:off x="1005840" y="2468880"/>
            <a:ext cx="6355080" cy="274320"/>
          </a:xfrm>
          <a:prstGeom prst="rect">
            <a:avLst/>
          </a:prstGeom>
          <a:noFill/>
          <a:ln/>
        </p:spPr>
        <p:txBody>
          <a:bodyPr wrap="square" lIns="0" tIns="0" rIns="0" bIns="0" rtlCol="0" anchor="t"/>
          <a:lstStyle/>
          <a:p>
            <a:pPr indent="0" marL="0">
              <a:buNone/>
            </a:pPr>
            <a:r>
              <a:rPr lang="en-US" sz="1500" dirty="0">
                <a:solidFill>
                  <a:schemeClr val="tx1"/>
                </a:solidFill>
              </a:rPr>
              <a:t>Claim + </a:t>
            </a:r>
            <a:pPr indent="0" marL="0">
              <a:buNone/>
            </a:pPr>
            <a:r>
              <a:rPr lang="en-US" sz="1500" b="1" dirty="0">
                <a:solidFill>
                  <a:schemeClr val="tx1"/>
                </a:solidFill>
              </a:rPr>
              <a:t>lease/fencing</a:t>
            </a:r>
            <a:pPr indent="0" marL="0">
              <a:buNone/>
            </a:pPr>
            <a:r>
              <a:rPr lang="en-US" sz="1500" dirty="0">
                <a:solidFill>
                  <a:schemeClr val="tx1"/>
                </a:solidFill>
              </a:rPr>
              <a:t>.</a:t>
            </a:r>
            <a:endParaRPr lang="en-US" sz="1500" dirty="0"/>
          </a:p>
        </p:txBody>
      </p:sp>
      <p:sp>
        <p:nvSpPr>
          <p:cNvPr id="25" name="Number 2"/>
          <p:cNvSpPr/>
          <p:nvPr/>
        </p:nvSpPr>
        <p:spPr>
          <a:xfrm>
            <a:off x="548640" y="2898648"/>
            <a:ext cx="329184" cy="329184"/>
          </a:xfrm>
          <a:prstGeom prst="ellipse">
            <a:avLst/>
          </a:prstGeom>
          <a:solidFill>
            <a:schemeClr val="tx2"/>
          </a:solidFill>
          <a:ln/>
        </p:spPr>
      </p:sp>
      <p:sp>
        <p:nvSpPr>
          <p:cNvPr id="26" name="Text 24"/>
          <p:cNvSpPr txBox="1"/>
          <p:nvPr/>
        </p:nvSpPr>
        <p:spPr>
          <a:xfrm>
            <a:off x="548640" y="28986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7" name="Text 25"/>
          <p:cNvSpPr txBox="1"/>
          <p:nvPr/>
        </p:nvSpPr>
        <p:spPr>
          <a:xfrm>
            <a:off x="1005840" y="2926080"/>
            <a:ext cx="6355080" cy="274320"/>
          </a:xfrm>
          <a:prstGeom prst="rect">
            <a:avLst/>
          </a:prstGeom>
          <a:noFill/>
          <a:ln/>
        </p:spPr>
        <p:txBody>
          <a:bodyPr wrap="square" lIns="0" tIns="0" rIns="0" bIns="0" rtlCol="0" anchor="t"/>
          <a:lstStyle/>
          <a:p>
            <a:pPr indent="0" marL="0">
              <a:buNone/>
            </a:pPr>
            <a:r>
              <a:rPr lang="en-US" sz="1500" dirty="0">
                <a:solidFill>
                  <a:schemeClr val="tx1"/>
                </a:solidFill>
              </a:rPr>
              <a:t>Fresh state/policy check; prepare and sign the exact operation.</a:t>
            </a:r>
            <a:endParaRPr lang="en-US" sz="1500" dirty="0"/>
          </a:p>
        </p:txBody>
      </p:sp>
      <p:sp>
        <p:nvSpPr>
          <p:cNvPr id="28" name="Number 3"/>
          <p:cNvSpPr/>
          <p:nvPr/>
        </p:nvSpPr>
        <p:spPr>
          <a:xfrm>
            <a:off x="548640" y="3355848"/>
            <a:ext cx="329184" cy="329184"/>
          </a:xfrm>
          <a:prstGeom prst="ellipse">
            <a:avLst/>
          </a:prstGeom>
          <a:solidFill>
            <a:schemeClr val="tx2"/>
          </a:solidFill>
          <a:ln/>
        </p:spPr>
      </p:sp>
      <p:sp>
        <p:nvSpPr>
          <p:cNvPr id="29" name="Text 27"/>
          <p:cNvSpPr txBox="1"/>
          <p:nvPr/>
        </p:nvSpPr>
        <p:spPr>
          <a:xfrm>
            <a:off x="548640" y="33558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0" name="Text 28"/>
          <p:cNvSpPr txBox="1"/>
          <p:nvPr/>
        </p:nvSpPr>
        <p:spPr>
          <a:xfrm>
            <a:off x="1005840" y="3383280"/>
            <a:ext cx="6355080" cy="274320"/>
          </a:xfrm>
          <a:prstGeom prst="rect">
            <a:avLst/>
          </a:prstGeom>
          <a:noFill/>
          <a:ln/>
        </p:spPr>
        <p:txBody>
          <a:bodyPr wrap="square" lIns="0" tIns="0" rIns="0" bIns="0" rtlCol="0" anchor="t"/>
          <a:lstStyle/>
          <a:p>
            <a:pPr indent="0" marL="0">
              <a:buNone/>
            </a:pPr>
            <a:r>
              <a:rPr lang="en-US" sz="1500" b="1" dirty="0">
                <a:solidFill>
                  <a:schemeClr val="tx1"/>
                </a:solidFill>
              </a:rPr>
              <a:t>Commit</a:t>
            </a:r>
            <a:pPr indent="0" marL="0">
              <a:buNone/>
            </a:pPr>
            <a:r>
              <a:rPr lang="en-US" sz="1500" dirty="0">
                <a:solidFill>
                  <a:schemeClr val="tx1"/>
                </a:solidFill>
              </a:rPr>
              <a:t> payload + hash + nonce + membership to the DB.</a:t>
            </a:r>
            <a:endParaRPr lang="en-US" sz="1500" dirty="0"/>
          </a:p>
        </p:txBody>
      </p:sp>
      <p:sp>
        <p:nvSpPr>
          <p:cNvPr id="31" name="Number 4"/>
          <p:cNvSpPr/>
          <p:nvPr/>
        </p:nvSpPr>
        <p:spPr>
          <a:xfrm>
            <a:off x="548640" y="3813048"/>
            <a:ext cx="329184" cy="329184"/>
          </a:xfrm>
          <a:prstGeom prst="ellipse">
            <a:avLst/>
          </a:prstGeom>
          <a:solidFill>
            <a:schemeClr val="accent2"/>
          </a:solidFill>
          <a:ln/>
        </p:spPr>
      </p:sp>
      <p:sp>
        <p:nvSpPr>
          <p:cNvPr id="32" name="Text 30"/>
          <p:cNvSpPr txBox="1"/>
          <p:nvPr/>
        </p:nvSpPr>
        <p:spPr>
          <a:xfrm>
            <a:off x="548640" y="381304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33" name="Text 31"/>
          <p:cNvSpPr txBox="1"/>
          <p:nvPr/>
        </p:nvSpPr>
        <p:spPr>
          <a:xfrm>
            <a:off x="1005840" y="3840480"/>
            <a:ext cx="6355080" cy="274320"/>
          </a:xfrm>
          <a:prstGeom prst="rect">
            <a:avLst/>
          </a:prstGeom>
          <a:noFill/>
          <a:ln/>
        </p:spPr>
        <p:txBody>
          <a:bodyPr wrap="square" lIns="0" tIns="0" rIns="0" bIns="0" rtlCol="0" anchor="t"/>
          <a:lstStyle/>
          <a:p>
            <a:pPr indent="0" marL="0">
              <a:buNone/>
            </a:pPr>
            <a:r>
              <a:rPr lang="en-US" sz="1500" b="1" dirty="0">
                <a:solidFill>
                  <a:schemeClr val="tx1"/>
                </a:solidFill>
              </a:rPr>
              <a:t>Only then</a:t>
            </a:r>
            <a:pPr indent="0" marL="0">
              <a:buNone/>
            </a:pPr>
            <a:r>
              <a:rPr lang="en-US" sz="1500" dirty="0">
                <a:solidFill>
                  <a:schemeClr val="tx1"/>
                </a:solidFill>
              </a:rPr>
              <a:t> send to the bundler.</a:t>
            </a:r>
            <a:endParaRPr lang="en-US" sz="1500" dirty="0"/>
          </a:p>
        </p:txBody>
      </p:sp>
      <p:sp>
        <p:nvSpPr>
          <p:cNvPr id="34" name="Number 5"/>
          <p:cNvSpPr/>
          <p:nvPr/>
        </p:nvSpPr>
        <p:spPr>
          <a:xfrm>
            <a:off x="548640" y="4270248"/>
            <a:ext cx="329184" cy="329184"/>
          </a:xfrm>
          <a:prstGeom prst="ellipse">
            <a:avLst/>
          </a:prstGeom>
          <a:solidFill>
            <a:schemeClr val="tx2"/>
          </a:solidFill>
          <a:ln/>
        </p:spPr>
      </p:sp>
      <p:sp>
        <p:nvSpPr>
          <p:cNvPr id="35" name="Text 33"/>
          <p:cNvSpPr txBox="1"/>
          <p:nvPr/>
        </p:nvSpPr>
        <p:spPr>
          <a:xfrm>
            <a:off x="548640" y="42702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6" name="Text 34"/>
          <p:cNvSpPr txBox="1"/>
          <p:nvPr/>
        </p:nvSpPr>
        <p:spPr>
          <a:xfrm>
            <a:off x="1005840" y="4297680"/>
            <a:ext cx="6355080" cy="274320"/>
          </a:xfrm>
          <a:prstGeom prst="rect">
            <a:avLst/>
          </a:prstGeom>
          <a:noFill/>
          <a:ln/>
        </p:spPr>
        <p:txBody>
          <a:bodyPr wrap="square" lIns="0" tIns="0" rIns="0" bIns="0" rtlCol="0" anchor="t"/>
          <a:lstStyle/>
          <a:p>
            <a:pPr indent="0" marL="0">
              <a:buNone/>
            </a:pPr>
            <a:r>
              <a:rPr lang="en-US" sz="1500" dirty="0">
                <a:solidFill>
                  <a:schemeClr val="tx1"/>
                </a:solidFill>
              </a:rPr>
              <a:t>If the response is lost, mark </a:t>
            </a:r>
            <a:pPr indent="0" marL="0">
              <a:buNone/>
            </a:pPr>
            <a:r>
              <a:rPr lang="en-US" sz="1500" i="1" dirty="0">
                <a:solidFill>
                  <a:schemeClr val="tx1"/>
                </a:solidFill>
              </a:rPr>
              <a:t>unknown</a:t>
            </a:r>
            <a:pPr indent="0" marL="0">
              <a:buNone/>
            </a:pPr>
            <a:r>
              <a:rPr lang="en-US" sz="1500" dirty="0">
                <a:solidFill>
                  <a:schemeClr val="tx1"/>
                </a:solidFill>
              </a:rPr>
              <a:t>; do not sign a new nonce.</a:t>
            </a:r>
            <a:endParaRPr lang="en-US" sz="1500" dirty="0"/>
          </a:p>
        </p:txBody>
      </p:sp>
      <p:sp>
        <p:nvSpPr>
          <p:cNvPr id="37" name="Number 6"/>
          <p:cNvSpPr/>
          <p:nvPr/>
        </p:nvSpPr>
        <p:spPr>
          <a:xfrm>
            <a:off x="548640" y="4727448"/>
            <a:ext cx="329184" cy="329184"/>
          </a:xfrm>
          <a:prstGeom prst="ellipse">
            <a:avLst/>
          </a:prstGeom>
          <a:solidFill>
            <a:schemeClr val="tx2"/>
          </a:solidFill>
          <a:ln/>
        </p:spPr>
      </p:sp>
      <p:sp>
        <p:nvSpPr>
          <p:cNvPr id="38" name="Text 36"/>
          <p:cNvSpPr txBox="1"/>
          <p:nvPr/>
        </p:nvSpPr>
        <p:spPr>
          <a:xfrm>
            <a:off x="548640" y="47274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9" name="Text 37"/>
          <p:cNvSpPr txBox="1"/>
          <p:nvPr/>
        </p:nvSpPr>
        <p:spPr>
          <a:xfrm>
            <a:off x="1005840" y="4754880"/>
            <a:ext cx="6355080" cy="274320"/>
          </a:xfrm>
          <a:prstGeom prst="rect">
            <a:avLst/>
          </a:prstGeom>
          <a:noFill/>
          <a:ln/>
        </p:spPr>
        <p:txBody>
          <a:bodyPr wrap="square" lIns="0" tIns="0" rIns="0" bIns="0" rtlCol="0" anchor="t"/>
          <a:lstStyle/>
          <a:p>
            <a:pPr indent="0" marL="0">
              <a:buNone/>
            </a:pPr>
            <a:r>
              <a:rPr lang="en-US" sz="1500" dirty="0">
                <a:solidFill>
                  <a:schemeClr val="tx1"/>
                </a:solidFill>
              </a:rPr>
              <a:t>Reconcile hash/nonce/receipt/EntryPoint + Guardian events.</a:t>
            </a:r>
            <a:endParaRPr lang="en-US" sz="1500" dirty="0"/>
          </a:p>
        </p:txBody>
      </p:sp>
      <p:sp>
        <p:nvSpPr>
          <p:cNvPr id="40" name="Number 7"/>
          <p:cNvSpPr/>
          <p:nvPr/>
        </p:nvSpPr>
        <p:spPr>
          <a:xfrm>
            <a:off x="548640" y="5184648"/>
            <a:ext cx="329184" cy="329184"/>
          </a:xfrm>
          <a:prstGeom prst="ellipse">
            <a:avLst/>
          </a:prstGeom>
          <a:solidFill>
            <a:schemeClr val="tx2"/>
          </a:solidFill>
          <a:ln/>
        </p:spPr>
      </p:sp>
      <p:sp>
        <p:nvSpPr>
          <p:cNvPr id="41" name="Text 39"/>
          <p:cNvSpPr txBox="1"/>
          <p:nvPr/>
        </p:nvSpPr>
        <p:spPr>
          <a:xfrm>
            <a:off x="548640" y="51846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2" name="Text 40"/>
          <p:cNvSpPr txBox="1"/>
          <p:nvPr/>
        </p:nvSpPr>
        <p:spPr>
          <a:xfrm>
            <a:off x="1005840" y="5212080"/>
            <a:ext cx="6355080" cy="274320"/>
          </a:xfrm>
          <a:prstGeom prst="rect">
            <a:avLst/>
          </a:prstGeom>
          <a:noFill/>
          <a:ln/>
        </p:spPr>
        <p:txBody>
          <a:bodyPr wrap="square" lIns="0" tIns="0" rIns="0" bIns="0" rtlCol="0" anchor="t"/>
          <a:lstStyle/>
          <a:p>
            <a:pPr indent="0" marL="0">
              <a:buNone/>
            </a:pPr>
            <a:r>
              <a:rPr lang="en-US" sz="1500" i="1" dirty="0">
                <a:solidFill>
                  <a:schemeClr val="tx1"/>
                </a:solidFill>
              </a:rPr>
              <a:t>paid</a:t>
            </a:r>
            <a:pPr indent="0" marL="0">
              <a:buNone/>
            </a:pPr>
            <a:r>
              <a:rPr lang="en-US" sz="1500" dirty="0">
                <a:solidFill>
                  <a:schemeClr val="tx1"/>
                </a:solidFill>
              </a:rPr>
              <a:t> only when matched; otherwise pending / </a:t>
            </a:r>
            <a:pPr indent="0" marL="0">
              <a:buNone/>
            </a:pPr>
            <a:r>
              <a:rPr lang="en-US" sz="1500" i="1" dirty="0">
                <a:solidFill>
                  <a:schemeClr val="tx1"/>
                </a:solidFill>
              </a:rPr>
              <a:t>needs_review</a:t>
            </a:r>
            <a:pPr indent="0" marL="0">
              <a:buNone/>
            </a:pPr>
            <a:r>
              <a:rPr lang="en-US" sz="1500" dirty="0">
                <a:solidFill>
                  <a:schemeClr val="tx1"/>
                </a:solidFill>
              </a:rPr>
              <a:t>.</a:t>
            </a:r>
            <a:endParaRPr lang="en-US" sz="1500" dirty="0"/>
          </a:p>
        </p:txBody>
      </p:sp>
      <p:sp>
        <p:nvSpPr>
          <p:cNvPr id="43" name="Evidence card"/>
          <p:cNvSpPr/>
          <p:nvPr/>
        </p:nvSpPr>
        <p:spPr>
          <a:xfrm>
            <a:off x="7635240" y="2331720"/>
            <a:ext cx="4007815" cy="3383280"/>
          </a:xfrm>
          <a:prstGeom prst="roundRect">
            <a:avLst>
              <a:gd name="adj" fmla="val 3243"/>
            </a:avLst>
          </a:prstGeom>
          <a:solidFill>
            <a:schemeClr val="bg2"/>
          </a:solidFill>
          <a:ln/>
        </p:spPr>
      </p:sp>
      <p:sp>
        <p:nvSpPr>
          <p:cNvPr id="44" name="Text 42"/>
          <p:cNvSpPr txBox="1"/>
          <p:nvPr/>
        </p:nvSpPr>
        <p:spPr>
          <a:xfrm>
            <a:off x="7863840" y="2423160"/>
            <a:ext cx="3566160" cy="274320"/>
          </a:xfrm>
          <a:prstGeom prst="rect">
            <a:avLst/>
          </a:prstGeom>
          <a:noFill/>
          <a:ln/>
        </p:spPr>
        <p:txBody>
          <a:bodyPr wrap="square" lIns="0" tIns="0" rIns="0" bIns="0" rtlCol="0" anchor="t"/>
          <a:lstStyle/>
          <a:p>
            <a:pPr indent="0" marL="0">
              <a:buNone/>
            </a:pPr>
            <a:r>
              <a:rPr lang="en-US" sz="1200" b="1" dirty="0">
                <a:solidFill>
                  <a:schemeClr val="accent4"/>
                </a:solidFill>
              </a:rPr>
              <a:t>Evidence</a:t>
            </a:r>
            <a:endParaRPr lang="en-US" sz="1200" dirty="0"/>
          </a:p>
        </p:txBody>
      </p:sp>
      <p:sp>
        <p:nvSpPr>
          <p:cNvPr id="45" name="Text 43"/>
          <p:cNvSpPr txBox="1"/>
          <p:nvPr/>
        </p:nvSpPr>
        <p:spPr>
          <a:xfrm>
            <a:off x="7863840" y="2724912"/>
            <a:ext cx="1143000" cy="566928"/>
          </a:xfrm>
          <a:prstGeom prst="rect">
            <a:avLst/>
          </a:prstGeom>
          <a:noFill/>
          <a:ln/>
        </p:spPr>
        <p:txBody>
          <a:bodyPr wrap="square" lIns="0" tIns="0" rIns="0" bIns="0" rtlCol="0" anchor="ctr"/>
          <a:lstStyle/>
          <a:p>
            <a:pPr indent="0" marL="0">
              <a:buNone/>
            </a:pPr>
            <a:r>
              <a:rPr lang="en-US" sz="2400" b="1" dirty="0">
                <a:solidFill>
                  <a:schemeClr val="tx2"/>
                </a:solidFill>
              </a:rPr>
              <a:t>1</a:t>
            </a:r>
            <a:endParaRPr lang="en-US" sz="2400" dirty="0"/>
          </a:p>
        </p:txBody>
      </p:sp>
      <p:sp>
        <p:nvSpPr>
          <p:cNvPr id="46" name="Text 44"/>
          <p:cNvSpPr txBox="1"/>
          <p:nvPr/>
        </p:nvSpPr>
        <p:spPr>
          <a:xfrm>
            <a:off x="9006840" y="2724912"/>
            <a:ext cx="2560320" cy="603504"/>
          </a:xfrm>
          <a:prstGeom prst="rect">
            <a:avLst/>
          </a:prstGeom>
          <a:noFill/>
          <a:ln/>
        </p:spPr>
        <p:txBody>
          <a:bodyPr wrap="square" lIns="0" tIns="0" rIns="0" bIns="0" rtlCol="0" anchor="ctr"/>
          <a:lstStyle/>
          <a:p>
            <a:pPr indent="0" marL="0">
              <a:buNone/>
            </a:pPr>
            <a:r>
              <a:rPr lang="en-US" sz="1300" dirty="0">
                <a:solidFill>
                  <a:schemeClr val="tx1"/>
                </a:solidFill>
              </a:rPr>
              <a:t>send in the lost-response test on a real Kernel fork; recovered to paid</a:t>
            </a:r>
            <a:endParaRPr lang="en-US" sz="1300" dirty="0"/>
          </a:p>
        </p:txBody>
      </p:sp>
      <p:sp>
        <p:nvSpPr>
          <p:cNvPr id="47" name="Text 45"/>
          <p:cNvSpPr txBox="1"/>
          <p:nvPr/>
        </p:nvSpPr>
        <p:spPr>
          <a:xfrm>
            <a:off x="7863840" y="3364992"/>
            <a:ext cx="1143000" cy="566928"/>
          </a:xfrm>
          <a:prstGeom prst="rect">
            <a:avLst/>
          </a:prstGeom>
          <a:noFill/>
          <a:ln/>
        </p:spPr>
        <p:txBody>
          <a:bodyPr wrap="square" lIns="0" tIns="0" rIns="0" bIns="0" rtlCol="0" anchor="ctr"/>
          <a:lstStyle/>
          <a:p>
            <a:pPr indent="0" marL="0">
              <a:buNone/>
            </a:pPr>
            <a:r>
              <a:rPr lang="en-US" sz="2400" b="1" dirty="0">
                <a:solidFill>
                  <a:schemeClr val="tx2"/>
                </a:solidFill>
              </a:rPr>
              <a:t>0</a:t>
            </a:r>
            <a:endParaRPr lang="en-US" sz="2400" dirty="0"/>
          </a:p>
        </p:txBody>
      </p:sp>
      <p:sp>
        <p:nvSpPr>
          <p:cNvPr id="48" name="Text 46"/>
          <p:cNvSpPr txBox="1"/>
          <p:nvPr/>
        </p:nvSpPr>
        <p:spPr>
          <a:xfrm>
            <a:off x="9006840" y="3364992"/>
            <a:ext cx="2560320" cy="603504"/>
          </a:xfrm>
          <a:prstGeom prst="rect">
            <a:avLst/>
          </a:prstGeom>
          <a:noFill/>
          <a:ln/>
        </p:spPr>
        <p:txBody>
          <a:bodyPr wrap="square" lIns="0" tIns="0" rIns="0" bIns="0" rtlCol="0" anchor="ctr"/>
          <a:lstStyle/>
          <a:p>
            <a:pPr indent="0" marL="0">
              <a:buNone/>
            </a:pPr>
            <a:r>
              <a:rPr lang="en-US" sz="1300" dirty="0">
                <a:solidFill>
                  <a:schemeClr val="tx1"/>
                </a:solidFill>
              </a:rPr>
              <a:t>new operations after a process restart: a second worker reconciled the durable attempt</a:t>
            </a:r>
            <a:endParaRPr lang="en-US" sz="1300" dirty="0"/>
          </a:p>
        </p:txBody>
      </p:sp>
      <p:sp>
        <p:nvSpPr>
          <p:cNvPr id="49" name="Text 47"/>
          <p:cNvSpPr txBox="1"/>
          <p:nvPr/>
        </p:nvSpPr>
        <p:spPr>
          <a:xfrm>
            <a:off x="7863840" y="4005072"/>
            <a:ext cx="1143000" cy="566928"/>
          </a:xfrm>
          <a:prstGeom prst="rect">
            <a:avLst/>
          </a:prstGeom>
          <a:noFill/>
          <a:ln/>
        </p:spPr>
        <p:txBody>
          <a:bodyPr wrap="square" lIns="0" tIns="0" rIns="0" bIns="0" rtlCol="0" anchor="ctr"/>
          <a:lstStyle/>
          <a:p>
            <a:pPr indent="0" marL="0">
              <a:buNone/>
            </a:pPr>
            <a:r>
              <a:rPr lang="en-US" sz="2400" b="1" dirty="0">
                <a:solidFill>
                  <a:schemeClr val="tx2"/>
                </a:solidFill>
              </a:rPr>
              <a:t>102</a:t>
            </a:r>
            <a:endParaRPr lang="en-US" sz="2400" dirty="0"/>
          </a:p>
        </p:txBody>
      </p:sp>
      <p:sp>
        <p:nvSpPr>
          <p:cNvPr id="50" name="Text 48"/>
          <p:cNvSpPr txBox="1"/>
          <p:nvPr/>
        </p:nvSpPr>
        <p:spPr>
          <a:xfrm>
            <a:off x="9006840" y="4005072"/>
            <a:ext cx="2560320" cy="603504"/>
          </a:xfrm>
          <a:prstGeom prst="rect">
            <a:avLst/>
          </a:prstGeom>
          <a:noFill/>
          <a:ln/>
        </p:spPr>
        <p:txBody>
          <a:bodyPr wrap="square" lIns="0" tIns="0" rIns="0" bIns="0" rtlCol="0" anchor="ctr"/>
          <a:lstStyle/>
          <a:p>
            <a:pPr indent="0" marL="0">
              <a:buNone/>
            </a:pPr>
            <a:r>
              <a:rPr lang="en-US" sz="1300" dirty="0">
                <a:solidFill>
                  <a:schemeClr val="tx1"/>
                </a:solidFill>
              </a:rPr>
              <a:t>confirmations checked on public AI-01 (0.26 MockUSD, one matching settlement event)</a:t>
            </a:r>
            <a:endParaRPr lang="en-US" sz="1300" dirty="0"/>
          </a:p>
        </p:txBody>
      </p:sp>
      <p:sp>
        <p:nvSpPr>
          <p:cNvPr id="51" name="Text 49"/>
          <p:cNvSpPr txBox="1"/>
          <p:nvPr/>
        </p:nvSpPr>
        <p:spPr>
          <a:xfrm>
            <a:off x="7863840" y="4645152"/>
            <a:ext cx="1143000" cy="566928"/>
          </a:xfrm>
          <a:prstGeom prst="rect">
            <a:avLst/>
          </a:prstGeom>
          <a:noFill/>
          <a:ln/>
        </p:spPr>
        <p:txBody>
          <a:bodyPr wrap="square" lIns="0" tIns="0" rIns="0" bIns="0" rtlCol="0" anchor="ctr"/>
          <a:lstStyle/>
          <a:p>
            <a:pPr indent="0" marL="0">
              <a:buNone/>
            </a:pPr>
            <a:r>
              <a:rPr lang="en-US" sz="2400" b="1" dirty="0">
                <a:solidFill>
                  <a:schemeClr val="tx2"/>
                </a:solidFill>
              </a:rPr>
              <a:t>11.3 s</a:t>
            </a:r>
            <a:endParaRPr lang="en-US" sz="2400" dirty="0"/>
          </a:p>
        </p:txBody>
      </p:sp>
      <p:sp>
        <p:nvSpPr>
          <p:cNvPr id="52" name="Text 50"/>
          <p:cNvSpPr txBox="1"/>
          <p:nvPr/>
        </p:nvSpPr>
        <p:spPr>
          <a:xfrm>
            <a:off x="9006840" y="4645152"/>
            <a:ext cx="2560320" cy="603504"/>
          </a:xfrm>
          <a:prstGeom prst="rect">
            <a:avLst/>
          </a:prstGeom>
          <a:noFill/>
          <a:ln/>
        </p:spPr>
        <p:txBody>
          <a:bodyPr wrap="square" lIns="0" tIns="0" rIns="0" bIns="0" rtlCol="0" anchor="ctr"/>
          <a:lstStyle/>
          <a:p>
            <a:pPr indent="0" marL="0">
              <a:buNone/>
            </a:pPr>
            <a:r>
              <a:rPr lang="en-US" sz="1300" dirty="0">
                <a:solidFill>
                  <a:schemeClr val="tx1"/>
                </a:solidFill>
              </a:rPr>
              <a:t>one reviewer browser run, procurement to probe/write-read (not p95 or SLA)</a:t>
            </a:r>
            <a:endParaRPr lang="en-US" sz="1300" dirty="0"/>
          </a:p>
        </p:txBody>
      </p:sp>
      <p:sp>
        <p:nvSpPr>
          <p:cNvPr id="53" name="Text 51"/>
          <p:cNvSpPr txBox="1"/>
          <p:nvPr/>
        </p:nvSpPr>
        <p:spPr>
          <a:xfrm>
            <a:off x="7863840" y="5349240"/>
            <a:ext cx="3566160" cy="274320"/>
          </a:xfrm>
          <a:prstGeom prst="rect">
            <a:avLst/>
          </a:prstGeom>
          <a:noFill/>
          <a:ln/>
        </p:spPr>
        <p:txBody>
          <a:bodyPr wrap="square" lIns="0" tIns="0" rIns="0" bIns="0" rtlCol="0" anchor="t"/>
          <a:lstStyle/>
          <a:p>
            <a:pPr indent="0" marL="0">
              <a:buNone/>
            </a:pPr>
            <a:r>
              <a:rPr lang="en-US" sz="1400" b="1" u="sng" dirty="0">
                <a:solidFill>
                  <a:schemeClr val="tx1"/>
                </a:solidFill>
                <a:hlinkClick r:id="rId1" invalidUrl="" action="" tgtFrame="" tooltip="" history="1" highlightClick="0" endSnd="0">
                  <a:extLst>
                    <a:ext uri="{A12FA001-AC4F-418D-AE19-62706E023703}">
                      <ahyp:hlinkClr xmlns:ahyp="http://schemas.microsoft.com/office/drawing/2018/hyperlinkcolor" val="tx"/>
                    </a:ext>
                  </a:extLst>
                </a:hlinkClick>
              </a:rPr>
              <a:t>View AI-01 on BaseScan ↗</a:t>
            </a:r>
            <a:endParaRPr lang="en-US" sz="1400" dirty="0"/>
          </a:p>
        </p:txBody>
      </p:sp>
      <p:sp>
        <p:nvSpPr>
          <p:cNvPr id="54" name="Caveat banner"/>
          <p:cNvSpPr/>
          <p:nvPr/>
        </p:nvSpPr>
        <p:spPr>
          <a:xfrm>
            <a:off x="548640" y="5852160"/>
            <a:ext cx="11094415" cy="438912"/>
          </a:xfrm>
          <a:prstGeom prst="roundRect">
            <a:avLst>
              <a:gd name="adj" fmla="val 20833"/>
            </a:avLst>
          </a:prstGeom>
          <a:solidFill>
            <a:schemeClr val="accent2">
              <a:alpha val="25000"/>
            </a:schemeClr>
          </a:solidFill>
          <a:ln/>
        </p:spPr>
      </p:sp>
      <p:sp>
        <p:nvSpPr>
          <p:cNvPr id="55" name="Text 53"/>
          <p:cNvSpPr txBox="1"/>
          <p:nvPr/>
        </p:nvSpPr>
        <p:spPr>
          <a:xfrm>
            <a:off x="777240" y="5852160"/>
            <a:ext cx="10637215" cy="438912"/>
          </a:xfrm>
          <a:prstGeom prst="rect">
            <a:avLst/>
          </a:prstGeom>
          <a:noFill/>
          <a:ln/>
        </p:spPr>
        <p:txBody>
          <a:bodyPr wrap="square" lIns="0" tIns="0" rIns="0" bIns="0" rtlCol="0" anchor="ctr"/>
          <a:lstStyle/>
          <a:p>
            <a:pPr indent="0" marL="0">
              <a:buNone/>
            </a:pPr>
            <a:r>
              <a:rPr lang="en-US" sz="1400" b="1" dirty="0">
                <a:solidFill>
                  <a:schemeClr val="tx1"/>
                </a:solidFill>
              </a:rPr>
              <a:t>Scope: </a:t>
            </a:r>
            <a:pPr indent="0" marL="0">
              <a:buNone/>
            </a:pPr>
            <a:r>
              <a:rPr lang="en-US" sz="1400" dirty="0">
                <a:solidFill>
                  <a:schemeClr val="tx1"/>
                </a:solidFill>
              </a:rPr>
              <a:t>one recovery scenario that worked—not global exactly-once delivery or uptime.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Results, limits, and roadmap</a:t>
            </a:r>
            <a:endParaRPr lang="en-US" sz="3600" dirty="0"/>
          </a:p>
        </p:txBody>
      </p:sp>
      <p:sp>
        <p:nvSpPr>
          <p:cNvPr id="3" name="Quad Built"/>
          <p:cNvSpPr/>
          <p:nvPr/>
        </p:nvSpPr>
        <p:spPr>
          <a:xfrm>
            <a:off x="548640" y="1280160"/>
            <a:ext cx="5425135" cy="2331720"/>
          </a:xfrm>
          <a:prstGeom prst="roundRect">
            <a:avLst>
              <a:gd name="adj" fmla="val 4706"/>
            </a:avLst>
          </a:prstGeom>
          <a:solidFill>
            <a:schemeClr val="bg2"/>
          </a:solidFill>
          <a:ln/>
        </p:spPr>
      </p:sp>
      <p:sp>
        <p:nvSpPr>
          <p:cNvPr id="4" name="Dot Built"/>
          <p:cNvSpPr/>
          <p:nvPr/>
        </p:nvSpPr>
        <p:spPr>
          <a:xfrm>
            <a:off x="777240" y="1508760"/>
            <a:ext cx="274320" cy="274320"/>
          </a:xfrm>
          <a:prstGeom prst="ellipse">
            <a:avLst/>
          </a:prstGeom>
          <a:solidFill>
            <a:schemeClr val="accent1"/>
          </a:solidFill>
          <a:ln/>
        </p:spPr>
      </p:sp>
      <p:sp>
        <p:nvSpPr>
          <p:cNvPr id="5" name="Text 3"/>
          <p:cNvSpPr txBox="1"/>
          <p:nvPr/>
        </p:nvSpPr>
        <p:spPr>
          <a:xfrm>
            <a:off x="1188720" y="1444752"/>
            <a:ext cx="4114800" cy="411480"/>
          </a:xfrm>
          <a:prstGeom prst="rect">
            <a:avLst/>
          </a:prstGeom>
          <a:noFill/>
          <a:ln/>
        </p:spPr>
        <p:txBody>
          <a:bodyPr wrap="square" lIns="0" tIns="0" rIns="0" bIns="0" rtlCol="0" anchor="ctr"/>
          <a:lstStyle/>
          <a:p>
            <a:pPr indent="0" marL="0">
              <a:buNone/>
            </a:pPr>
            <a:r>
              <a:rPr lang="en-US" sz="2000" b="1" dirty="0">
                <a:solidFill>
                  <a:schemeClr val="tx2"/>
                </a:solidFill>
              </a:rPr>
              <a:t>Built</a:t>
            </a:r>
            <a:endParaRPr lang="en-US" sz="2000" dirty="0"/>
          </a:p>
        </p:txBody>
      </p:sp>
      <p:sp>
        <p:nvSpPr>
          <p:cNvPr id="6" name="Text 4"/>
          <p:cNvSpPr txBox="1"/>
          <p:nvPr/>
        </p:nvSpPr>
        <p:spPr>
          <a:xfrm>
            <a:off x="777240" y="2011680"/>
            <a:ext cx="4937760" cy="15544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Owner-controlled setup/dashboard</a:t>
            </a:r>
            <a:endParaRPr lang="en-US" sz="1500" dirty="0"/>
          </a:p>
          <a:p>
            <a:pPr marL="177800" indent="-177800">
              <a:spcAft>
                <a:spcPts val="500"/>
              </a:spcAft>
              <a:buSzPct val="100000"/>
              <a:buChar char="•"/>
            </a:pPr>
            <a:r>
              <a:rPr lang="en-US" sz="1500" dirty="0">
                <a:solidFill>
                  <a:schemeClr val="tx1"/>
                </a:solidFill>
              </a:rPr>
              <a:t>Astra assistant, fixed quote catalog</a:t>
            </a:r>
            <a:endParaRPr lang="en-US" sz="1500" dirty="0"/>
          </a:p>
          <a:p>
            <a:pPr marL="177800" indent="-177800">
              <a:spcAft>
                <a:spcPts val="500"/>
              </a:spcAft>
              <a:buSzPct val="100000"/>
              <a:buChar char="•"/>
            </a:pPr>
            <a:r>
              <a:rPr lang="en-US" sz="1500" dirty="0">
                <a:solidFill>
                  <a:schemeClr val="tx1"/>
                </a:solidFill>
              </a:rPr>
              <a:t>Contract policy, direct payment</a:t>
            </a:r>
            <a:endParaRPr lang="en-US" sz="1500" dirty="0"/>
          </a:p>
          <a:p>
            <a:pPr marL="177800" indent="-177800">
              <a:spcAft>
                <a:spcPts val="500"/>
              </a:spcAft>
              <a:buSzPct val="100000"/>
              <a:buChar char="•"/>
            </a:pPr>
            <a:r>
              <a:rPr lang="en-US" sz="1500" dirty="0">
                <a:solidFill>
                  <a:schemeClr val="tx1"/>
                </a:solidFill>
              </a:rPr>
              <a:t>Opt-in escrow, queue batching, reviewer sandbox</a:t>
            </a:r>
            <a:endParaRPr lang="en-US" sz="1500" dirty="0"/>
          </a:p>
        </p:txBody>
      </p:sp>
      <p:sp>
        <p:nvSpPr>
          <p:cNvPr id="7" name="Quad Evidence"/>
          <p:cNvSpPr/>
          <p:nvPr/>
        </p:nvSpPr>
        <p:spPr>
          <a:xfrm>
            <a:off x="6126480" y="1280160"/>
            <a:ext cx="5425135" cy="2331720"/>
          </a:xfrm>
          <a:prstGeom prst="roundRect">
            <a:avLst>
              <a:gd name="adj" fmla="val 4706"/>
            </a:avLst>
          </a:prstGeom>
          <a:solidFill>
            <a:schemeClr val="bg2"/>
          </a:solidFill>
          <a:ln/>
        </p:spPr>
      </p:sp>
      <p:sp>
        <p:nvSpPr>
          <p:cNvPr id="8" name="Dot Evidence"/>
          <p:cNvSpPr/>
          <p:nvPr/>
        </p:nvSpPr>
        <p:spPr>
          <a:xfrm>
            <a:off x="6355080" y="1508760"/>
            <a:ext cx="274320" cy="274320"/>
          </a:xfrm>
          <a:prstGeom prst="ellipse">
            <a:avLst/>
          </a:prstGeom>
          <a:solidFill>
            <a:schemeClr val="tx2"/>
          </a:solidFill>
          <a:ln/>
        </p:spPr>
      </p:sp>
      <p:sp>
        <p:nvSpPr>
          <p:cNvPr id="9" name="Text 7"/>
          <p:cNvSpPr txBox="1"/>
          <p:nvPr/>
        </p:nvSpPr>
        <p:spPr>
          <a:xfrm>
            <a:off x="6766560" y="1444752"/>
            <a:ext cx="4114800" cy="411480"/>
          </a:xfrm>
          <a:prstGeom prst="rect">
            <a:avLst/>
          </a:prstGeom>
          <a:noFill/>
          <a:ln/>
        </p:spPr>
        <p:txBody>
          <a:bodyPr wrap="square" lIns="0" tIns="0" rIns="0" bIns="0" rtlCol="0" anchor="ctr"/>
          <a:lstStyle/>
          <a:p>
            <a:pPr indent="0" marL="0">
              <a:buNone/>
            </a:pPr>
            <a:r>
              <a:rPr lang="en-US" sz="2000" b="1" dirty="0">
                <a:solidFill>
                  <a:schemeClr val="tx2"/>
                </a:solidFill>
              </a:rPr>
              <a:t>Evidence</a:t>
            </a:r>
            <a:endParaRPr lang="en-US" sz="2000" dirty="0"/>
          </a:p>
        </p:txBody>
      </p:sp>
      <p:sp>
        <p:nvSpPr>
          <p:cNvPr id="10" name="Text 8"/>
          <p:cNvSpPr txBox="1"/>
          <p:nvPr/>
        </p:nvSpPr>
        <p:spPr>
          <a:xfrm>
            <a:off x="6355080" y="2011680"/>
            <a:ext cx="4937760" cy="15544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Earlier public testnet procurement</a:t>
            </a:r>
            <a:endParaRPr lang="en-US" sz="1500" dirty="0"/>
          </a:p>
          <a:p>
            <a:pPr marL="177800" indent="-177800">
              <a:spcAft>
                <a:spcPts val="500"/>
              </a:spcAft>
              <a:buSzPct val="100000"/>
              <a:buChar char="•"/>
            </a:pPr>
            <a:r>
              <a:rPr lang="en-US" sz="1500" dirty="0">
                <a:solidFill>
                  <a:schemeClr val="tx1"/>
                </a:solidFill>
              </a:rPr>
              <a:t>Live GPT-OSS evaluation</a:t>
            </a:r>
            <a:endParaRPr lang="en-US" sz="1500" dirty="0"/>
          </a:p>
          <a:p>
            <a:pPr marL="177800" indent="-177800">
              <a:spcAft>
                <a:spcPts val="500"/>
              </a:spcAft>
              <a:buSzPct val="100000"/>
              <a:buChar char="•"/>
            </a:pPr>
            <a:r>
              <a:rPr lang="en-US" sz="1500" dirty="0">
                <a:solidFill>
                  <a:schemeClr val="tx1"/>
                </a:solidFill>
              </a:rPr>
              <a:t>Actual Kernel/Guardian fork tests</a:t>
            </a:r>
            <a:endParaRPr lang="en-US" sz="1500" dirty="0"/>
          </a:p>
          <a:p>
            <a:pPr marL="177800" indent="-177800">
              <a:spcAft>
                <a:spcPts val="500"/>
              </a:spcAft>
              <a:buSzPct val="100000"/>
              <a:buChar char="•"/>
            </a:pPr>
            <a:r>
              <a:rPr lang="en-US" sz="1500" dirty="0">
                <a:solidFill>
                  <a:schemeClr val="tx1"/>
                </a:solidFill>
              </a:rPr>
              <a:t>Batching benchmark; lost-response recovery tests</a:t>
            </a:r>
            <a:endParaRPr lang="en-US" sz="1500" dirty="0"/>
          </a:p>
        </p:txBody>
      </p:sp>
      <p:sp>
        <p:nvSpPr>
          <p:cNvPr id="11" name="Quad Limits"/>
          <p:cNvSpPr/>
          <p:nvPr/>
        </p:nvSpPr>
        <p:spPr>
          <a:xfrm>
            <a:off x="548640" y="3749040"/>
            <a:ext cx="5425135" cy="2331720"/>
          </a:xfrm>
          <a:prstGeom prst="roundRect">
            <a:avLst>
              <a:gd name="adj" fmla="val 4706"/>
            </a:avLst>
          </a:prstGeom>
          <a:solidFill>
            <a:schemeClr val="bg2"/>
          </a:solidFill>
          <a:ln/>
        </p:spPr>
      </p:sp>
      <p:sp>
        <p:nvSpPr>
          <p:cNvPr id="12" name="Dot Limits"/>
          <p:cNvSpPr/>
          <p:nvPr/>
        </p:nvSpPr>
        <p:spPr>
          <a:xfrm>
            <a:off x="777240" y="3977640"/>
            <a:ext cx="274320" cy="274320"/>
          </a:xfrm>
          <a:prstGeom prst="ellipse">
            <a:avLst/>
          </a:prstGeom>
          <a:solidFill>
            <a:schemeClr val="accent2"/>
          </a:solidFill>
          <a:ln/>
        </p:spPr>
      </p:sp>
      <p:sp>
        <p:nvSpPr>
          <p:cNvPr id="13" name="Text 11"/>
          <p:cNvSpPr txBox="1"/>
          <p:nvPr/>
        </p:nvSpPr>
        <p:spPr>
          <a:xfrm>
            <a:off x="1188720" y="3913632"/>
            <a:ext cx="4114800" cy="411480"/>
          </a:xfrm>
          <a:prstGeom prst="rect">
            <a:avLst/>
          </a:prstGeom>
          <a:noFill/>
          <a:ln/>
        </p:spPr>
        <p:txBody>
          <a:bodyPr wrap="square" lIns="0" tIns="0" rIns="0" bIns="0" rtlCol="0" anchor="ctr"/>
          <a:lstStyle/>
          <a:p>
            <a:pPr indent="0" marL="0">
              <a:buNone/>
            </a:pPr>
            <a:r>
              <a:rPr lang="en-US" sz="2000" b="1" dirty="0">
                <a:solidFill>
                  <a:schemeClr val="tx2"/>
                </a:solidFill>
              </a:rPr>
              <a:t>Limits</a:t>
            </a:r>
            <a:endParaRPr lang="en-US" sz="2000" dirty="0"/>
          </a:p>
        </p:txBody>
      </p:sp>
      <p:sp>
        <p:nvSpPr>
          <p:cNvPr id="14" name="Text 12"/>
          <p:cNvSpPr txBox="1"/>
          <p:nvPr/>
        </p:nvSpPr>
        <p:spPr>
          <a:xfrm>
            <a:off x="777240" y="4480560"/>
            <a:ext cx="4937760" cy="15544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No independent audit or formal verification</a:t>
            </a:r>
            <a:endParaRPr lang="en-US" sz="1500" dirty="0"/>
          </a:p>
          <a:p>
            <a:pPr marL="177800" indent="-177800">
              <a:spcAft>
                <a:spcPts val="500"/>
              </a:spcAft>
              <a:buSzPct val="100000"/>
              <a:buChar char="•"/>
            </a:pPr>
            <a:r>
              <a:rPr lang="en-US" sz="1500" dirty="0">
                <a:solidFill>
                  <a:schemeClr val="tx1"/>
                </a:solidFill>
              </a:rPr>
              <a:t>Testnet, not mainnet; fees not all-in</a:t>
            </a:r>
            <a:endParaRPr lang="en-US" sz="1500" dirty="0"/>
          </a:p>
          <a:p>
            <a:pPr marL="177800" indent="-177800">
              <a:spcAft>
                <a:spcPts val="500"/>
              </a:spcAft>
              <a:buSzPct val="100000"/>
              <a:buChar char="•"/>
            </a:pPr>
            <a:r>
              <a:rPr lang="en-US" sz="1500" dirty="0">
                <a:solidFill>
                  <a:schemeClr val="tx1"/>
                </a:solidFill>
              </a:rPr>
              <a:t>Provider signature is a trust assumption</a:t>
            </a:r>
            <a:endParaRPr lang="en-US" sz="1500" dirty="0"/>
          </a:p>
          <a:p>
            <a:pPr marL="177800" indent="-177800">
              <a:spcAft>
                <a:spcPts val="500"/>
              </a:spcAft>
              <a:buSzPct val="100000"/>
              <a:buChar char="•"/>
            </a:pPr>
            <a:r>
              <a:rPr lang="en-US" sz="1500" dirty="0">
                <a:solidFill>
                  <a:schemeClr val="tx1"/>
                </a:solidFill>
              </a:rPr>
              <a:t>Free/Trial deployment is not an SLA</a:t>
            </a:r>
            <a:endParaRPr lang="en-US" sz="1500" dirty="0"/>
          </a:p>
        </p:txBody>
      </p:sp>
      <p:sp>
        <p:nvSpPr>
          <p:cNvPr id="15" name="Quad Next"/>
          <p:cNvSpPr/>
          <p:nvPr/>
        </p:nvSpPr>
        <p:spPr>
          <a:xfrm>
            <a:off x="6126480" y="3749040"/>
            <a:ext cx="5425135" cy="2331720"/>
          </a:xfrm>
          <a:prstGeom prst="roundRect">
            <a:avLst>
              <a:gd name="adj" fmla="val 4706"/>
            </a:avLst>
          </a:prstGeom>
          <a:solidFill>
            <a:schemeClr val="bg2"/>
          </a:solidFill>
          <a:ln/>
        </p:spPr>
      </p:sp>
      <p:sp>
        <p:nvSpPr>
          <p:cNvPr id="16" name="Dot Next"/>
          <p:cNvSpPr/>
          <p:nvPr/>
        </p:nvSpPr>
        <p:spPr>
          <a:xfrm>
            <a:off x="6355080" y="3977640"/>
            <a:ext cx="274320" cy="274320"/>
          </a:xfrm>
          <a:prstGeom prst="ellipse">
            <a:avLst/>
          </a:prstGeom>
          <a:solidFill>
            <a:schemeClr val="accent4"/>
          </a:solidFill>
          <a:ln/>
        </p:spPr>
      </p:sp>
      <p:sp>
        <p:nvSpPr>
          <p:cNvPr id="17" name="Text 15"/>
          <p:cNvSpPr txBox="1"/>
          <p:nvPr/>
        </p:nvSpPr>
        <p:spPr>
          <a:xfrm>
            <a:off x="6766560" y="3913632"/>
            <a:ext cx="4114800" cy="411480"/>
          </a:xfrm>
          <a:prstGeom prst="rect">
            <a:avLst/>
          </a:prstGeom>
          <a:noFill/>
          <a:ln/>
        </p:spPr>
        <p:txBody>
          <a:bodyPr wrap="square" lIns="0" tIns="0" rIns="0" bIns="0" rtlCol="0" anchor="ctr"/>
          <a:lstStyle/>
          <a:p>
            <a:pPr indent="0" marL="0">
              <a:buNone/>
            </a:pPr>
            <a:r>
              <a:rPr lang="en-US" sz="2000" b="1" dirty="0">
                <a:solidFill>
                  <a:schemeClr val="tx2"/>
                </a:solidFill>
              </a:rPr>
              <a:t>Next</a:t>
            </a:r>
            <a:endParaRPr lang="en-US" sz="2000" dirty="0"/>
          </a:p>
        </p:txBody>
      </p:sp>
      <p:sp>
        <p:nvSpPr>
          <p:cNvPr id="18" name="Text 16"/>
          <p:cNvSpPr txBox="1"/>
          <p:nvPr/>
        </p:nvSpPr>
        <p:spPr>
          <a:xfrm>
            <a:off x="6355080" y="4480560"/>
            <a:ext cx="4937760" cy="15544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Held-out red-team corpus; external audit</a:t>
            </a:r>
            <a:endParaRPr lang="en-US" sz="1500" dirty="0"/>
          </a:p>
          <a:p>
            <a:pPr marL="177800" indent="-177800">
              <a:spcAft>
                <a:spcPts val="500"/>
              </a:spcAft>
              <a:buSzPct val="100000"/>
              <a:buChar char="•"/>
            </a:pPr>
            <a:r>
              <a:rPr lang="en-US" sz="1500" dirty="0">
                <a:solidFill>
                  <a:schemeClr val="tx1"/>
                </a:solidFill>
              </a:rPr>
              <a:t>Load, reorg, and multi-process testing</a:t>
            </a:r>
            <a:endParaRPr lang="en-US" sz="1500" dirty="0"/>
          </a:p>
          <a:p>
            <a:pPr marL="177800" indent="-177800">
              <a:spcAft>
                <a:spcPts val="500"/>
              </a:spcAft>
              <a:buSzPct val="100000"/>
              <a:buChar char="•"/>
            </a:pPr>
            <a:r>
              <a:rPr lang="en-US" sz="1500" dirty="0">
                <a:solidFill>
                  <a:schemeClr val="tx1"/>
                </a:solidFill>
              </a:rPr>
              <a:t>All-in production costs</a:t>
            </a:r>
            <a:endParaRPr lang="en-US" sz="1500" dirty="0"/>
          </a:p>
          <a:p>
            <a:pPr marL="177800" indent="-177800">
              <a:spcAft>
                <a:spcPts val="500"/>
              </a:spcAft>
              <a:buSzPct val="100000"/>
              <a:buChar char="•"/>
            </a:pPr>
            <a:r>
              <a:rPr lang="en-US" sz="1500" dirty="0">
                <a:solidFill>
                  <a:schemeClr val="tx1"/>
                </a:solidFill>
              </a:rPr>
              <a:t>Owner usability testing</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bg1"/>
                </a:solidFill>
              </a:rPr>
              <a:t>Conclusion</a:t>
            </a:r>
            <a:endParaRPr lang="en-US" sz="3600" dirty="0"/>
          </a:p>
        </p:txBody>
      </p:sp>
      <p:sp>
        <p:nvSpPr>
          <p:cNvPr id="3" name="Text 1"/>
          <p:cNvSpPr txBox="1"/>
          <p:nvPr/>
        </p:nvSpPr>
        <p:spPr>
          <a:xfrm>
            <a:off x="548640" y="1371600"/>
            <a:ext cx="11064240" cy="8229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Astra is not an LLM given a full wallet.</a:t>
            </a:r>
            <a:endParaRPr lang="en-US" sz="4000" dirty="0"/>
          </a:p>
        </p:txBody>
      </p:sp>
      <p:sp>
        <p:nvSpPr>
          <p:cNvPr id="4" name="Text 2"/>
          <p:cNvSpPr txBox="1"/>
          <p:nvPr/>
        </p:nvSpPr>
        <p:spPr>
          <a:xfrm>
            <a:off x="548640" y="2286000"/>
            <a:ext cx="10515600" cy="822960"/>
          </a:xfrm>
          <a:prstGeom prst="rect">
            <a:avLst/>
          </a:prstGeom>
          <a:noFill/>
          <a:ln/>
        </p:spPr>
        <p:txBody>
          <a:bodyPr wrap="square" lIns="0" tIns="0" rIns="0" bIns="0" rtlCol="0" anchor="t"/>
          <a:lstStyle/>
          <a:p>
            <a:pPr indent="0" marL="0">
              <a:buNone/>
            </a:pPr>
            <a:r>
              <a:rPr lang="en-US" sz="2400" dirty="0">
                <a:solidFill>
                  <a:schemeClr val="accent6"/>
                </a:solidFill>
              </a:rPr>
              <a:t>It is an intent layer on top of narrow, auditable owner authority.</a:t>
            </a:r>
            <a:endParaRPr lang="en-US" sz="2400" dirty="0"/>
          </a:p>
        </p:txBody>
      </p:sp>
      <p:sp>
        <p:nvSpPr>
          <p:cNvPr id="5" name="Proof Payment path tested"/>
          <p:cNvSpPr/>
          <p:nvPr/>
        </p:nvSpPr>
        <p:spPr>
          <a:xfrm>
            <a:off x="548640" y="3429000"/>
            <a:ext cx="2636215" cy="1234440"/>
          </a:xfrm>
          <a:prstGeom prst="roundRect">
            <a:avLst>
              <a:gd name="adj" fmla="val 8889"/>
            </a:avLst>
          </a:prstGeom>
          <a:solidFill>
            <a:schemeClr val="tx2"/>
          </a:solidFill>
          <a:ln/>
        </p:spPr>
      </p:sp>
      <p:sp>
        <p:nvSpPr>
          <p:cNvPr id="6" name="Icon circle Payment path tested"/>
          <p:cNvSpPr/>
          <p:nvPr/>
        </p:nvSpPr>
        <p:spPr>
          <a:xfrm>
            <a:off x="731520" y="3703320"/>
            <a:ext cx="640080" cy="640080"/>
          </a:xfrm>
          <a:prstGeom prst="ellipse">
            <a:avLst/>
          </a:prstGeom>
          <a:solidFill>
            <a:schemeClr val="accent1"/>
          </a:solidFill>
          <a:ln/>
        </p:spPr>
      </p:sp>
      <p:pic>
        <p:nvPicPr>
          <p:cNvPr id="7" name="Icon Payment path tested" descr="Payment path tested">    </p:cNvPr>
          <p:cNvPicPr>
            <a:picLocks noChangeAspect="1"/>
          </p:cNvPicPr>
          <p:nvPr/>
        </p:nvPicPr>
        <p:blipFill>
          <a:blip r:embed="rId1"/>
          <a:stretch>
            <a:fillRect/>
          </a:stretch>
        </p:blipFill>
        <p:spPr>
          <a:xfrm>
            <a:off x="891540" y="3863340"/>
            <a:ext cx="320040" cy="320040"/>
          </a:xfrm>
          <a:prstGeom prst="rect">
            <a:avLst/>
          </a:prstGeom>
        </p:spPr>
      </p:pic>
      <p:sp>
        <p:nvSpPr>
          <p:cNvPr id="8" name="Text 5"/>
          <p:cNvSpPr txBox="1"/>
          <p:nvPr/>
        </p:nvSpPr>
        <p:spPr>
          <a:xfrm>
            <a:off x="1508760" y="3429000"/>
            <a:ext cx="1600200" cy="1234440"/>
          </a:xfrm>
          <a:prstGeom prst="rect">
            <a:avLst/>
          </a:prstGeom>
          <a:noFill/>
          <a:ln/>
        </p:spPr>
        <p:txBody>
          <a:bodyPr wrap="square" lIns="0" tIns="0" rIns="0" bIns="0" rtlCol="0" anchor="ctr"/>
          <a:lstStyle/>
          <a:p>
            <a:pPr indent="0" marL="0">
              <a:buNone/>
            </a:pPr>
            <a:r>
              <a:rPr lang="en-US" sz="1500" b="1" dirty="0">
                <a:solidFill>
                  <a:schemeClr val="bg1"/>
                </a:solidFill>
              </a:rPr>
              <a:t>Payment path tested</a:t>
            </a:r>
            <a:endParaRPr lang="en-US" sz="1500" dirty="0"/>
          </a:p>
        </p:txBody>
      </p:sp>
      <p:sp>
        <p:nvSpPr>
          <p:cNvPr id="9" name="Proof Adversarial model testing"/>
          <p:cNvSpPr/>
          <p:nvPr/>
        </p:nvSpPr>
        <p:spPr>
          <a:xfrm>
            <a:off x="3367735" y="3429000"/>
            <a:ext cx="2636215" cy="1234440"/>
          </a:xfrm>
          <a:prstGeom prst="roundRect">
            <a:avLst>
              <a:gd name="adj" fmla="val 8889"/>
            </a:avLst>
          </a:prstGeom>
          <a:solidFill>
            <a:schemeClr val="tx2"/>
          </a:solidFill>
          <a:ln/>
        </p:spPr>
      </p:sp>
      <p:sp>
        <p:nvSpPr>
          <p:cNvPr id="10" name="Icon circle Adversarial model testing"/>
          <p:cNvSpPr/>
          <p:nvPr/>
        </p:nvSpPr>
        <p:spPr>
          <a:xfrm>
            <a:off x="3550615" y="3703320"/>
            <a:ext cx="640080" cy="640080"/>
          </a:xfrm>
          <a:prstGeom prst="ellipse">
            <a:avLst/>
          </a:prstGeom>
          <a:solidFill>
            <a:schemeClr val="accent1"/>
          </a:solidFill>
          <a:ln/>
        </p:spPr>
      </p:sp>
      <p:pic>
        <p:nvPicPr>
          <p:cNvPr id="11" name="Icon Adversarial model testing" descr="Adversarial model testing">    </p:cNvPr>
          <p:cNvPicPr>
            <a:picLocks noChangeAspect="1"/>
          </p:cNvPicPr>
          <p:nvPr/>
        </p:nvPicPr>
        <p:blipFill>
          <a:blip r:embed="rId2"/>
          <a:stretch>
            <a:fillRect/>
          </a:stretch>
        </p:blipFill>
        <p:spPr>
          <a:xfrm>
            <a:off x="3710635" y="3863340"/>
            <a:ext cx="320040" cy="320040"/>
          </a:xfrm>
          <a:prstGeom prst="rect">
            <a:avLst/>
          </a:prstGeom>
        </p:spPr>
      </p:pic>
      <p:sp>
        <p:nvSpPr>
          <p:cNvPr id="12" name="Text 8"/>
          <p:cNvSpPr txBox="1"/>
          <p:nvPr/>
        </p:nvSpPr>
        <p:spPr>
          <a:xfrm>
            <a:off x="4327855" y="3429000"/>
            <a:ext cx="1600200" cy="1234440"/>
          </a:xfrm>
          <a:prstGeom prst="rect">
            <a:avLst/>
          </a:prstGeom>
          <a:noFill/>
          <a:ln/>
        </p:spPr>
        <p:txBody>
          <a:bodyPr wrap="square" lIns="0" tIns="0" rIns="0" bIns="0" rtlCol="0" anchor="ctr"/>
          <a:lstStyle/>
          <a:p>
            <a:pPr indent="0" marL="0">
              <a:buNone/>
            </a:pPr>
            <a:r>
              <a:rPr lang="en-US" sz="1500" b="1" dirty="0">
                <a:solidFill>
                  <a:schemeClr val="bg1"/>
                </a:solidFill>
              </a:rPr>
              <a:t>Adversarial model testing</a:t>
            </a:r>
            <a:endParaRPr lang="en-US" sz="1500" dirty="0"/>
          </a:p>
        </p:txBody>
      </p:sp>
      <p:sp>
        <p:nvSpPr>
          <p:cNvPr id="13" name="Proof Opt-in escrow"/>
          <p:cNvSpPr/>
          <p:nvPr/>
        </p:nvSpPr>
        <p:spPr>
          <a:xfrm>
            <a:off x="6186830" y="3429000"/>
            <a:ext cx="2636215" cy="1234440"/>
          </a:xfrm>
          <a:prstGeom prst="roundRect">
            <a:avLst>
              <a:gd name="adj" fmla="val 8889"/>
            </a:avLst>
          </a:prstGeom>
          <a:solidFill>
            <a:schemeClr val="tx2"/>
          </a:solidFill>
          <a:ln/>
        </p:spPr>
      </p:sp>
      <p:sp>
        <p:nvSpPr>
          <p:cNvPr id="14" name="Icon circle Opt-in escrow"/>
          <p:cNvSpPr/>
          <p:nvPr/>
        </p:nvSpPr>
        <p:spPr>
          <a:xfrm>
            <a:off x="6369710" y="3703320"/>
            <a:ext cx="640080" cy="640080"/>
          </a:xfrm>
          <a:prstGeom prst="ellipse">
            <a:avLst/>
          </a:prstGeom>
          <a:solidFill>
            <a:schemeClr val="accent1"/>
          </a:solidFill>
          <a:ln/>
        </p:spPr>
      </p:sp>
      <p:pic>
        <p:nvPicPr>
          <p:cNvPr id="15" name="Icon Opt-in escrow" descr="Opt-in escrow">    </p:cNvPr>
          <p:cNvPicPr>
            <a:picLocks noChangeAspect="1"/>
          </p:cNvPicPr>
          <p:nvPr/>
        </p:nvPicPr>
        <p:blipFill>
          <a:blip r:embed="rId3"/>
          <a:stretch>
            <a:fillRect/>
          </a:stretch>
        </p:blipFill>
        <p:spPr>
          <a:xfrm>
            <a:off x="6529730" y="3863340"/>
            <a:ext cx="320040" cy="320040"/>
          </a:xfrm>
          <a:prstGeom prst="rect">
            <a:avLst/>
          </a:prstGeom>
        </p:spPr>
      </p:pic>
      <p:sp>
        <p:nvSpPr>
          <p:cNvPr id="16" name="Text 11"/>
          <p:cNvSpPr txBox="1"/>
          <p:nvPr/>
        </p:nvSpPr>
        <p:spPr>
          <a:xfrm>
            <a:off x="7146950" y="3429000"/>
            <a:ext cx="1600200" cy="1234440"/>
          </a:xfrm>
          <a:prstGeom prst="rect">
            <a:avLst/>
          </a:prstGeom>
          <a:noFill/>
          <a:ln/>
        </p:spPr>
        <p:txBody>
          <a:bodyPr wrap="square" lIns="0" tIns="0" rIns="0" bIns="0" rtlCol="0" anchor="ctr"/>
          <a:lstStyle/>
          <a:p>
            <a:pPr indent="0" marL="0">
              <a:buNone/>
            </a:pPr>
            <a:r>
              <a:rPr lang="en-US" sz="1500" b="1" dirty="0">
                <a:solidFill>
                  <a:schemeClr val="bg1"/>
                </a:solidFill>
              </a:rPr>
              <a:t>Opt-in escrow</a:t>
            </a:r>
            <a:endParaRPr lang="en-US" sz="1500" dirty="0"/>
          </a:p>
        </p:txBody>
      </p:sp>
      <p:sp>
        <p:nvSpPr>
          <p:cNvPr id="17" name="Proof Recovery after a lost response"/>
          <p:cNvSpPr/>
          <p:nvPr/>
        </p:nvSpPr>
        <p:spPr>
          <a:xfrm>
            <a:off x="9005926" y="3429000"/>
            <a:ext cx="2636215" cy="1234440"/>
          </a:xfrm>
          <a:prstGeom prst="roundRect">
            <a:avLst>
              <a:gd name="adj" fmla="val 8889"/>
            </a:avLst>
          </a:prstGeom>
          <a:solidFill>
            <a:schemeClr val="tx2"/>
          </a:solidFill>
          <a:ln/>
        </p:spPr>
      </p:sp>
      <p:sp>
        <p:nvSpPr>
          <p:cNvPr id="18" name="Icon circle Recovery after a lost response"/>
          <p:cNvSpPr/>
          <p:nvPr/>
        </p:nvSpPr>
        <p:spPr>
          <a:xfrm>
            <a:off x="9188806" y="3703320"/>
            <a:ext cx="640080" cy="640080"/>
          </a:xfrm>
          <a:prstGeom prst="ellipse">
            <a:avLst/>
          </a:prstGeom>
          <a:solidFill>
            <a:schemeClr val="accent1"/>
          </a:solidFill>
          <a:ln/>
        </p:spPr>
      </p:sp>
      <p:pic>
        <p:nvPicPr>
          <p:cNvPr id="19" name="Icon Recovery after a lost response" descr="Recovery after a lost response">    </p:cNvPr>
          <p:cNvPicPr>
            <a:picLocks noChangeAspect="1"/>
          </p:cNvPicPr>
          <p:nvPr/>
        </p:nvPicPr>
        <p:blipFill>
          <a:blip r:embed="rId4"/>
          <a:stretch>
            <a:fillRect/>
          </a:stretch>
        </p:blipFill>
        <p:spPr>
          <a:xfrm>
            <a:off x="9348826" y="3863340"/>
            <a:ext cx="320040" cy="320040"/>
          </a:xfrm>
          <a:prstGeom prst="rect">
            <a:avLst/>
          </a:prstGeom>
        </p:spPr>
      </p:pic>
      <p:sp>
        <p:nvSpPr>
          <p:cNvPr id="20" name="Text 14"/>
          <p:cNvSpPr txBox="1"/>
          <p:nvPr/>
        </p:nvSpPr>
        <p:spPr>
          <a:xfrm>
            <a:off x="9966046" y="3429000"/>
            <a:ext cx="1600200" cy="1234440"/>
          </a:xfrm>
          <a:prstGeom prst="rect">
            <a:avLst/>
          </a:prstGeom>
          <a:noFill/>
          <a:ln/>
        </p:spPr>
        <p:txBody>
          <a:bodyPr wrap="square" lIns="0" tIns="0" rIns="0" bIns="0" rtlCol="0" anchor="ctr"/>
          <a:lstStyle/>
          <a:p>
            <a:pPr indent="0" marL="0">
              <a:buNone/>
            </a:pPr>
            <a:r>
              <a:rPr lang="en-US" sz="1500" b="1" dirty="0">
                <a:solidFill>
                  <a:schemeClr val="bg1"/>
                </a:solidFill>
              </a:rPr>
              <a:t>Recovery after a lost response</a:t>
            </a:r>
            <a:endParaRPr lang="en-US" sz="1500" dirty="0"/>
          </a:p>
        </p:txBody>
      </p:sp>
      <p:sp>
        <p:nvSpPr>
          <p:cNvPr id="21" name="Text 15"/>
          <p:cNvSpPr txBox="1"/>
          <p:nvPr/>
        </p:nvSpPr>
        <p:spPr>
          <a:xfrm>
            <a:off x="548640" y="4846320"/>
            <a:ext cx="10972800" cy="365760"/>
          </a:xfrm>
          <a:prstGeom prst="rect">
            <a:avLst/>
          </a:prstGeom>
          <a:noFill/>
          <a:ln/>
        </p:spPr>
        <p:txBody>
          <a:bodyPr wrap="square" lIns="0" tIns="0" rIns="0" bIns="0" rtlCol="0" anchor="t"/>
          <a:lstStyle/>
          <a:p>
            <a:pPr indent="0" marL="0">
              <a:buNone/>
            </a:pPr>
            <a:r>
              <a:rPr lang="en-US" sz="1400" i="1" dirty="0">
                <a:solidFill>
                  <a:schemeClr val="accent6"/>
                </a:solidFill>
              </a:rPr>
              <a:t>Each result comes with its evidence boundary stated openly.</a:t>
            </a:r>
            <a:endParaRPr lang="en-US" sz="1400" dirty="0"/>
          </a:p>
        </p:txBody>
      </p:sp>
      <p:sp>
        <p:nvSpPr>
          <p:cNvPr id="22" name="Next steps card"/>
          <p:cNvSpPr/>
          <p:nvPr/>
        </p:nvSpPr>
        <p:spPr>
          <a:xfrm>
            <a:off x="548640" y="5349240"/>
            <a:ext cx="11094415" cy="868680"/>
          </a:xfrm>
          <a:prstGeom prst="roundRect">
            <a:avLst>
              <a:gd name="adj" fmla="val 12632"/>
            </a:avLst>
          </a:prstGeom>
          <a:solidFill>
            <a:schemeClr val="tx2"/>
          </a:solidFill>
          <a:ln w="19050">
            <a:solidFill>
              <a:schemeClr val="accent2"/>
            </a:solidFill>
            <a:prstDash val="solid"/>
          </a:ln>
        </p:spPr>
      </p:sp>
      <p:sp>
        <p:nvSpPr>
          <p:cNvPr id="23" name="Text 17"/>
          <p:cNvSpPr txBox="1"/>
          <p:nvPr/>
        </p:nvSpPr>
        <p:spPr>
          <a:xfrm>
            <a:off x="822960" y="5349240"/>
            <a:ext cx="10607040" cy="868680"/>
          </a:xfrm>
          <a:prstGeom prst="rect">
            <a:avLst/>
          </a:prstGeom>
          <a:noFill/>
          <a:ln/>
        </p:spPr>
        <p:txBody>
          <a:bodyPr wrap="square" lIns="0" tIns="0" rIns="0" bIns="0" rtlCol="0" anchor="ctr"/>
          <a:lstStyle/>
          <a:p>
            <a:pPr indent="0" marL="0">
              <a:buNone/>
            </a:pPr>
            <a:r>
              <a:rPr lang="en-US" sz="1800" b="1" dirty="0">
                <a:solidFill>
                  <a:schemeClr val="accent2"/>
                </a:solidFill>
              </a:rPr>
              <a:t>Before real funds: </a:t>
            </a:r>
            <a:pPr indent="0" marL="0">
              <a:buNone/>
            </a:pPr>
            <a:r>
              <a:rPr lang="en-US" sz="1800" dirty="0">
                <a:solidFill>
                  <a:schemeClr val="bg1"/>
                </a:solidFill>
              </a:rPr>
              <a:t>expand the evaluation to independent, held-out testing and an external audit.</a:t>
            </a:r>
            <a:endParaRPr lang="en-US" sz="1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Appendix · Suggested demo</a:t>
            </a:r>
            <a:endParaRPr lang="en-US" sz="3600" dirty="0"/>
          </a:p>
        </p:txBody>
      </p:sp>
      <p:sp>
        <p:nvSpPr>
          <p:cNvPr id="3" name="Number 1"/>
          <p:cNvSpPr/>
          <p:nvPr/>
        </p:nvSpPr>
        <p:spPr>
          <a:xfrm>
            <a:off x="548640" y="1325880"/>
            <a:ext cx="457200" cy="457200"/>
          </a:xfrm>
          <a:prstGeom prst="ellipse">
            <a:avLst/>
          </a:prstGeom>
          <a:solidFill>
            <a:schemeClr val="accent1"/>
          </a:solidFill>
          <a:ln/>
        </p:spPr>
      </p:sp>
      <p:sp>
        <p:nvSpPr>
          <p:cNvPr id="4" name="Text 2"/>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5" name="Text 3"/>
          <p:cNvSpPr txBox="1"/>
          <p:nvPr/>
        </p:nvSpPr>
        <p:spPr>
          <a:xfrm>
            <a:off x="1234440" y="1307592"/>
            <a:ext cx="4572000" cy="1097280"/>
          </a:xfrm>
          <a:prstGeom prst="rect">
            <a:avLst/>
          </a:prstGeom>
          <a:noFill/>
          <a:ln/>
        </p:spPr>
        <p:txBody>
          <a:bodyPr wrap="square" lIns="0" tIns="0" rIns="0" bIns="0" rtlCol="0" anchor="t"/>
          <a:lstStyle/>
          <a:p>
            <a:pPr indent="0" marL="0">
              <a:buNone/>
            </a:pPr>
            <a:r>
              <a:rPr lang="en-US" sz="1500" dirty="0">
                <a:solidFill>
                  <a:schemeClr val="tx1"/>
                </a:solidFill>
              </a:rPr>
              <a:t>Open the reviewer workspace via the link the team shares; keep the access code private.</a:t>
            </a:r>
            <a:endParaRPr lang="en-US" sz="1500" dirty="0"/>
          </a:p>
        </p:txBody>
      </p:sp>
      <p:sp>
        <p:nvSpPr>
          <p:cNvPr id="6" name="Number 2"/>
          <p:cNvSpPr/>
          <p:nvPr/>
        </p:nvSpPr>
        <p:spPr>
          <a:xfrm>
            <a:off x="548640" y="2560320"/>
            <a:ext cx="457200" cy="457200"/>
          </a:xfrm>
          <a:prstGeom prst="ellipse">
            <a:avLst/>
          </a:prstGeom>
          <a:solidFill>
            <a:schemeClr val="accent1"/>
          </a:solidFill>
          <a:ln/>
        </p:spPr>
      </p:sp>
      <p:sp>
        <p:nvSpPr>
          <p:cNvPr id="7" name="Text 5"/>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8" name="Text 6"/>
          <p:cNvSpPr txBox="1"/>
          <p:nvPr/>
        </p:nvSpPr>
        <p:spPr>
          <a:xfrm>
            <a:off x="1234440" y="2542032"/>
            <a:ext cx="4572000" cy="1097280"/>
          </a:xfrm>
          <a:prstGeom prst="rect">
            <a:avLst/>
          </a:prstGeom>
          <a:noFill/>
          <a:ln/>
        </p:spPr>
        <p:txBody>
          <a:bodyPr wrap="square" lIns="0" tIns="0" rIns="0" bIns="0" rtlCol="0" anchor="t"/>
          <a:lstStyle/>
          <a:p>
            <a:pPr indent="0" marL="0">
              <a:buNone/>
            </a:pPr>
            <a:r>
              <a:rPr lang="en-US" sz="1500" dirty="0">
                <a:solidFill>
                  <a:schemeClr val="tx1"/>
                </a:solidFill>
              </a:rPr>
              <a:t>Show the wallet overview, protected reserve, daily cap, and deterministic risk report.</a:t>
            </a:r>
            <a:endParaRPr lang="en-US" sz="1500" dirty="0"/>
          </a:p>
        </p:txBody>
      </p:sp>
      <p:sp>
        <p:nvSpPr>
          <p:cNvPr id="9" name="Number 3"/>
          <p:cNvSpPr/>
          <p:nvPr/>
        </p:nvSpPr>
        <p:spPr>
          <a:xfrm>
            <a:off x="548640" y="3794760"/>
            <a:ext cx="457200" cy="457200"/>
          </a:xfrm>
          <a:prstGeom prst="ellipse">
            <a:avLst/>
          </a:prstGeom>
          <a:solidFill>
            <a:schemeClr val="accent1"/>
          </a:solidFill>
          <a:ln/>
        </p:spPr>
      </p:sp>
      <p:sp>
        <p:nvSpPr>
          <p:cNvPr id="10" name="Text 8"/>
          <p:cNvSpPr txBox="1"/>
          <p:nvPr/>
        </p:nvSpPr>
        <p:spPr>
          <a:xfrm>
            <a:off x="548640" y="37947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1" name="Text 9"/>
          <p:cNvSpPr txBox="1"/>
          <p:nvPr/>
        </p:nvSpPr>
        <p:spPr>
          <a:xfrm>
            <a:off x="1234440" y="3776472"/>
            <a:ext cx="4572000" cy="1097280"/>
          </a:xfrm>
          <a:prstGeom prst="rect">
            <a:avLst/>
          </a:prstGeom>
          <a:noFill/>
          <a:ln/>
        </p:spPr>
        <p:txBody>
          <a:bodyPr wrap="square" lIns="0" tIns="0" rIns="0" bIns="0" rtlCol="0" anchor="t"/>
          <a:lstStyle/>
          <a:p>
            <a:pPr indent="0" marL="0">
              <a:buNone/>
            </a:pPr>
            <a:r>
              <a:rPr lang="en-US" sz="1500" dirty="0">
                <a:solidFill>
                  <a:schemeClr val="tx1"/>
                </a:solidFill>
              </a:rPr>
              <a:t>Type: “Rent a 1 MB database for 1 hour according to my wallet policy.”</a:t>
            </a:r>
            <a:endParaRPr lang="en-US" sz="1500" dirty="0"/>
          </a:p>
        </p:txBody>
      </p:sp>
      <p:sp>
        <p:nvSpPr>
          <p:cNvPr id="12" name="Number 4"/>
          <p:cNvSpPr/>
          <p:nvPr/>
        </p:nvSpPr>
        <p:spPr>
          <a:xfrm>
            <a:off x="6309360" y="1325880"/>
            <a:ext cx="457200" cy="457200"/>
          </a:xfrm>
          <a:prstGeom prst="ellipse">
            <a:avLst/>
          </a:prstGeom>
          <a:solidFill>
            <a:schemeClr val="accent1"/>
          </a:solidFill>
          <a:ln/>
        </p:spPr>
      </p:sp>
      <p:sp>
        <p:nvSpPr>
          <p:cNvPr id="13" name="Text 11"/>
          <p:cNvSpPr txBox="1"/>
          <p:nvPr/>
        </p:nvSpPr>
        <p:spPr>
          <a:xfrm>
            <a:off x="6309360" y="13258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4" name="Text 12"/>
          <p:cNvSpPr txBox="1"/>
          <p:nvPr/>
        </p:nvSpPr>
        <p:spPr>
          <a:xfrm>
            <a:off x="6995160" y="1307592"/>
            <a:ext cx="4572000" cy="1097280"/>
          </a:xfrm>
          <a:prstGeom prst="rect">
            <a:avLst/>
          </a:prstGeom>
          <a:noFill/>
          <a:ln/>
        </p:spPr>
        <p:txBody>
          <a:bodyPr wrap="square" lIns="0" tIns="0" rIns="0" bIns="0" rtlCol="0" anchor="t"/>
          <a:lstStyle/>
          <a:p>
            <a:pPr indent="0" marL="0">
              <a:buNone/>
            </a:pPr>
            <a:r>
              <a:rPr lang="en-US" sz="1500" dirty="0">
                <a:solidFill>
                  <a:schemeClr val="tx1"/>
                </a:solidFill>
              </a:rPr>
              <a:t>Show the quote/draft, invoice, and review; stress that a draft pays nothing.</a:t>
            </a:r>
            <a:endParaRPr lang="en-US" sz="1500" dirty="0"/>
          </a:p>
        </p:txBody>
      </p:sp>
      <p:sp>
        <p:nvSpPr>
          <p:cNvPr id="15" name="Number 5"/>
          <p:cNvSpPr/>
          <p:nvPr/>
        </p:nvSpPr>
        <p:spPr>
          <a:xfrm>
            <a:off x="6309360" y="2560320"/>
            <a:ext cx="457200" cy="457200"/>
          </a:xfrm>
          <a:prstGeom prst="ellipse">
            <a:avLst/>
          </a:prstGeom>
          <a:solidFill>
            <a:schemeClr val="accent1"/>
          </a:solidFill>
          <a:ln/>
        </p:spPr>
      </p:sp>
      <p:sp>
        <p:nvSpPr>
          <p:cNvPr id="16" name="Text 14"/>
          <p:cNvSpPr txBox="1"/>
          <p:nvPr/>
        </p:nvSpPr>
        <p:spPr>
          <a:xfrm>
            <a:off x="6309360" y="2560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17" name="Text 15"/>
          <p:cNvSpPr txBox="1"/>
          <p:nvPr/>
        </p:nvSpPr>
        <p:spPr>
          <a:xfrm>
            <a:off x="6995160" y="2542032"/>
            <a:ext cx="4572000" cy="1097280"/>
          </a:xfrm>
          <a:prstGeom prst="rect">
            <a:avLst/>
          </a:prstGeom>
          <a:noFill/>
          <a:ln/>
        </p:spPr>
        <p:txBody>
          <a:bodyPr wrap="square" lIns="0" tIns="0" rIns="0" bIns="0" rtlCol="0" anchor="t"/>
          <a:lstStyle/>
          <a:p>
            <a:pPr indent="0" marL="0">
              <a:buNone/>
            </a:pPr>
            <a:r>
              <a:rPr lang="en-US" sz="1500" dirty="0">
                <a:solidFill>
                  <a:schemeClr val="tx1"/>
                </a:solidFill>
              </a:rPr>
              <a:t>Queue the task and start the agent; show operation status, the matching fork/testnet receipt, then completed after delivery verification.</a:t>
            </a:r>
            <a:endParaRPr lang="en-US" sz="1500" dirty="0"/>
          </a:p>
        </p:txBody>
      </p:sp>
      <p:sp>
        <p:nvSpPr>
          <p:cNvPr id="18" name="Number 6"/>
          <p:cNvSpPr/>
          <p:nvPr/>
        </p:nvSpPr>
        <p:spPr>
          <a:xfrm>
            <a:off x="6309360" y="3794760"/>
            <a:ext cx="457200" cy="457200"/>
          </a:xfrm>
          <a:prstGeom prst="ellipse">
            <a:avLst/>
          </a:prstGeom>
          <a:solidFill>
            <a:schemeClr val="accent1"/>
          </a:solidFill>
          <a:ln/>
        </p:spPr>
      </p:sp>
      <p:sp>
        <p:nvSpPr>
          <p:cNvPr id="19" name="Text 17"/>
          <p:cNvSpPr txBox="1"/>
          <p:nvPr/>
        </p:nvSpPr>
        <p:spPr>
          <a:xfrm>
            <a:off x="6309360" y="37947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20" name="Text 18"/>
          <p:cNvSpPr txBox="1"/>
          <p:nvPr/>
        </p:nvSpPr>
        <p:spPr>
          <a:xfrm>
            <a:off x="6995160" y="3776472"/>
            <a:ext cx="4572000" cy="1097280"/>
          </a:xfrm>
          <a:prstGeom prst="rect">
            <a:avLst/>
          </a:prstGeom>
          <a:noFill/>
          <a:ln/>
        </p:spPr>
        <p:txBody>
          <a:bodyPr wrap="square" lIns="0" tIns="0" rIns="0" bIns="0" rtlCol="0" anchor="t"/>
          <a:lstStyle/>
          <a:p>
            <a:pPr indent="0" marL="0">
              <a:buNone/>
            </a:pPr>
            <a:r>
              <a:rPr lang="en-US" sz="1500" dirty="0">
                <a:solidFill>
                  <a:schemeClr val="tx1"/>
                </a:solidFill>
              </a:rPr>
              <a:t>Show the probe/write-read, then close the workspace.</a:t>
            </a:r>
            <a:endParaRPr lang="en-US" sz="1500" dirty="0"/>
          </a:p>
        </p:txBody>
      </p:sp>
      <p:sp>
        <p:nvSpPr>
          <p:cNvPr id="21" name="Caveat banner"/>
          <p:cNvSpPr/>
          <p:nvPr/>
        </p:nvSpPr>
        <p:spPr>
          <a:xfrm>
            <a:off x="548640" y="5212080"/>
            <a:ext cx="11094415" cy="1005840"/>
          </a:xfrm>
          <a:prstGeom prst="roundRect">
            <a:avLst>
              <a:gd name="adj" fmla="val 9091"/>
            </a:avLst>
          </a:prstGeom>
          <a:solidFill>
            <a:schemeClr val="accent2">
              <a:alpha val="25000"/>
            </a:schemeClr>
          </a:solidFill>
          <a:ln/>
        </p:spPr>
      </p:sp>
      <p:sp>
        <p:nvSpPr>
          <p:cNvPr id="22" name="Text 20"/>
          <p:cNvSpPr txBox="1"/>
          <p:nvPr/>
        </p:nvSpPr>
        <p:spPr>
          <a:xfrm>
            <a:off x="777240" y="5212080"/>
            <a:ext cx="10637215" cy="1005840"/>
          </a:xfrm>
          <a:prstGeom prst="rect">
            <a:avLst/>
          </a:prstGeom>
          <a:noFill/>
          <a:ln/>
        </p:spPr>
        <p:txBody>
          <a:bodyPr wrap="square" lIns="0" tIns="0" rIns="0" bIns="0" rtlCol="0" anchor="ctr"/>
          <a:lstStyle/>
          <a:p>
            <a:pPr indent="0" marL="0">
              <a:buNone/>
            </a:pPr>
            <a:r>
              <a:rPr lang="en-US" sz="1400" b="1" dirty="0">
                <a:solidFill>
                  <a:schemeClr val="tx1"/>
                </a:solidFill>
              </a:rPr>
              <a:t>Tell the judges what the screen shows: </a:t>
            </a:r>
            <a:pPr indent="0" marL="0">
              <a:buNone/>
            </a:pPr>
            <a:r>
              <a:rPr lang="en-US" sz="1400" dirty="0">
                <a:solidFill>
                  <a:schemeClr val="tx1"/>
                </a:solidFill>
              </a:rPr>
              <a:t>public Base Sepolia evidence, or an isolated reviewer fork. The reviewer access code is never put in public materials.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Appendix · Anticipated questions (1/2)</a:t>
            </a:r>
            <a:endParaRPr lang="en-US" sz="3600" dirty="0"/>
          </a:p>
        </p:txBody>
      </p:sp>
      <p:sp>
        <p:nvSpPr>
          <p:cNvPr id="3" name="FAQ 1"/>
          <p:cNvSpPr/>
          <p:nvPr/>
        </p:nvSpPr>
        <p:spPr>
          <a:xfrm>
            <a:off x="548640" y="1325880"/>
            <a:ext cx="11094415" cy="1508760"/>
          </a:xfrm>
          <a:prstGeom prst="roundRect">
            <a:avLst>
              <a:gd name="adj" fmla="val 7273"/>
            </a:avLst>
          </a:prstGeom>
          <a:solidFill>
            <a:schemeClr val="bg2"/>
          </a:solidFill>
          <a:ln/>
        </p:spPr>
      </p:sp>
      <p:sp>
        <p:nvSpPr>
          <p:cNvPr id="4" name="Text 2"/>
          <p:cNvSpPr txBox="1"/>
          <p:nvPr/>
        </p:nvSpPr>
        <p:spPr>
          <a:xfrm>
            <a:off x="822960" y="1325880"/>
            <a:ext cx="3383280" cy="1508760"/>
          </a:xfrm>
          <a:prstGeom prst="rect">
            <a:avLst/>
          </a:prstGeom>
          <a:noFill/>
          <a:ln/>
        </p:spPr>
        <p:txBody>
          <a:bodyPr wrap="square" lIns="0" tIns="0" rIns="0" bIns="0" rtlCol="0" anchor="ctr"/>
          <a:lstStyle/>
          <a:p>
            <a:pPr indent="0" marL="0">
              <a:buNone/>
            </a:pPr>
            <a:r>
              <a:rPr lang="en-US" sz="1800" b="1" dirty="0">
                <a:solidFill>
                  <a:schemeClr val="tx2"/>
                </a:solidFill>
              </a:rPr>
              <a:t>Is 0.26 in US dollars?</a:t>
            </a:r>
            <a:endParaRPr lang="en-US" sz="1800" dirty="0"/>
          </a:p>
        </p:txBody>
      </p:sp>
      <p:sp>
        <p:nvSpPr>
          <p:cNvPr id="5" name="Text 3"/>
          <p:cNvSpPr txBox="1"/>
          <p:nvPr/>
        </p:nvSpPr>
        <p:spPr>
          <a:xfrm>
            <a:off x="4434840" y="1325880"/>
            <a:ext cx="6995160" cy="1508760"/>
          </a:xfrm>
          <a:prstGeom prst="rect">
            <a:avLst/>
          </a:prstGeom>
          <a:noFill/>
          <a:ln/>
        </p:spPr>
        <p:txBody>
          <a:bodyPr wrap="square" lIns="0" tIns="0" rIns="0" bIns="0" rtlCol="0" anchor="ctr"/>
          <a:lstStyle/>
          <a:p>
            <a:pPr indent="0" marL="0">
              <a:buNone/>
            </a:pPr>
            <a:r>
              <a:rPr lang="en-US" sz="1400" dirty="0">
                <a:solidFill>
                  <a:schemeClr val="tx1"/>
                </a:solidFill>
              </a:rPr>
              <a:t>No. It is 0.26 units of MockUSD on Base Sepolia—a six-decimal test token, not a USD or USDC asset.</a:t>
            </a:r>
            <a:endParaRPr lang="en-US" sz="1400" dirty="0"/>
          </a:p>
        </p:txBody>
      </p:sp>
      <p:sp>
        <p:nvSpPr>
          <p:cNvPr id="6" name="FAQ 2"/>
          <p:cNvSpPr/>
          <p:nvPr/>
        </p:nvSpPr>
        <p:spPr>
          <a:xfrm>
            <a:off x="548640" y="2971800"/>
            <a:ext cx="11094415" cy="1508760"/>
          </a:xfrm>
          <a:prstGeom prst="roundRect">
            <a:avLst>
              <a:gd name="adj" fmla="val 7273"/>
            </a:avLst>
          </a:prstGeom>
          <a:solidFill>
            <a:schemeClr val="bg2"/>
          </a:solidFill>
          <a:ln/>
        </p:spPr>
      </p:sp>
      <p:sp>
        <p:nvSpPr>
          <p:cNvPr id="7" name="Text 5"/>
          <p:cNvSpPr txBox="1"/>
          <p:nvPr/>
        </p:nvSpPr>
        <p:spPr>
          <a:xfrm>
            <a:off x="822960" y="2971800"/>
            <a:ext cx="3383280" cy="1508760"/>
          </a:xfrm>
          <a:prstGeom prst="rect">
            <a:avLst/>
          </a:prstGeom>
          <a:noFill/>
          <a:ln/>
        </p:spPr>
        <p:txBody>
          <a:bodyPr wrap="square" lIns="0" tIns="0" rIns="0" bIns="0" rtlCol="0" anchor="ctr"/>
          <a:lstStyle/>
          <a:p>
            <a:pPr indent="0" marL="0">
              <a:buNone/>
            </a:pPr>
            <a:r>
              <a:rPr lang="en-US" sz="1800" b="1" dirty="0">
                <a:solidFill>
                  <a:schemeClr val="tx2"/>
                </a:solidFill>
              </a:rPr>
              <a:t>What does 60/60 mean?</a:t>
            </a:r>
            <a:endParaRPr lang="en-US" sz="1800" dirty="0"/>
          </a:p>
        </p:txBody>
      </p:sp>
      <p:sp>
        <p:nvSpPr>
          <p:cNvPr id="8" name="Text 6"/>
          <p:cNvSpPr txBox="1"/>
          <p:nvPr/>
        </p:nvSpPr>
        <p:spPr>
          <a:xfrm>
            <a:off x="4434840" y="2971800"/>
            <a:ext cx="6995160" cy="1508760"/>
          </a:xfrm>
          <a:prstGeom prst="rect">
            <a:avLst/>
          </a:prstGeom>
          <a:noFill/>
          <a:ln/>
        </p:spPr>
        <p:txBody>
          <a:bodyPr wrap="square" lIns="0" tIns="0" rIns="0" bIns="0" rtlCol="0" anchor="ctr"/>
          <a:lstStyle/>
          <a:p>
            <a:pPr indent="0" marL="0">
              <a:buNone/>
            </a:pPr>
            <a:r>
              <a:rPr lang="en-US" sz="1400" dirty="0">
                <a:solidFill>
                  <a:schemeClr val="tx1"/>
                </a:solidFill>
              </a:rPr>
              <a:t>60 observations from 30 unique prompts repeated twice, after the schema fix. It covers attacks and benign/wait controls—not 60 unique jailbreaks, not held-out, not a universal proof.</a:t>
            </a:r>
            <a:endParaRPr lang="en-US" sz="1400" dirty="0"/>
          </a:p>
        </p:txBody>
      </p:sp>
      <p:sp>
        <p:nvSpPr>
          <p:cNvPr id="9" name="FAQ 3"/>
          <p:cNvSpPr/>
          <p:nvPr/>
        </p:nvSpPr>
        <p:spPr>
          <a:xfrm>
            <a:off x="548640" y="4617720"/>
            <a:ext cx="11094415" cy="1508760"/>
          </a:xfrm>
          <a:prstGeom prst="roundRect">
            <a:avLst>
              <a:gd name="adj" fmla="val 7273"/>
            </a:avLst>
          </a:prstGeom>
          <a:solidFill>
            <a:schemeClr val="bg2"/>
          </a:solidFill>
          <a:ln/>
        </p:spPr>
      </p:sp>
      <p:sp>
        <p:nvSpPr>
          <p:cNvPr id="10" name="Text 8"/>
          <p:cNvSpPr txBox="1"/>
          <p:nvPr/>
        </p:nvSpPr>
        <p:spPr>
          <a:xfrm>
            <a:off x="822960" y="4617720"/>
            <a:ext cx="3383280" cy="1508760"/>
          </a:xfrm>
          <a:prstGeom prst="rect">
            <a:avLst/>
          </a:prstGeom>
          <a:noFill/>
          <a:ln/>
        </p:spPr>
        <p:txBody>
          <a:bodyPr wrap="square" lIns="0" tIns="0" rIns="0" bIns="0" rtlCol="0" anchor="ctr"/>
          <a:lstStyle/>
          <a:p>
            <a:pPr indent="0" marL="0">
              <a:buNone/>
            </a:pPr>
            <a:r>
              <a:rPr lang="en-US" sz="1800" b="1" dirty="0">
                <a:solidFill>
                  <a:schemeClr val="tx2"/>
                </a:solidFill>
              </a:rPr>
              <a:t>Is batching the default?</a:t>
            </a:r>
            <a:endParaRPr lang="en-US" sz="1800" dirty="0"/>
          </a:p>
        </p:txBody>
      </p:sp>
      <p:sp>
        <p:nvSpPr>
          <p:cNvPr id="11" name="Text 9"/>
          <p:cNvSpPr txBox="1"/>
          <p:nvPr/>
        </p:nvSpPr>
        <p:spPr>
          <a:xfrm>
            <a:off x="4434840" y="4617720"/>
            <a:ext cx="6995160" cy="1508760"/>
          </a:xfrm>
          <a:prstGeom prst="rect">
            <a:avLst/>
          </a:prstGeom>
          <a:noFill/>
          <a:ln/>
        </p:spPr>
        <p:txBody>
          <a:bodyPr wrap="square" lIns="0" tIns="0" rIns="0" bIns="0" rtlCol="0" anchor="ctr"/>
          <a:lstStyle/>
          <a:p>
            <a:pPr indent="0" marL="0">
              <a:buNone/>
            </a:pPr>
            <a:r>
              <a:rPr lang="en-US" sz="1400" dirty="0">
                <a:solidFill>
                  <a:schemeClr val="tx1"/>
                </a:solidFill>
              </a:rPr>
              <a:t>No. The runtime default is one invoice; batching only runs if explicitly enabled. COST-01 is a local gas measurement, not USD. Escrow mode does not support batching.</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Appendix · Anticipated questions (2/2)</a:t>
            </a:r>
            <a:endParaRPr lang="en-US" sz="3600" dirty="0"/>
          </a:p>
        </p:txBody>
      </p:sp>
      <p:sp>
        <p:nvSpPr>
          <p:cNvPr id="3" name="FAQ 1"/>
          <p:cNvSpPr/>
          <p:nvPr/>
        </p:nvSpPr>
        <p:spPr>
          <a:xfrm>
            <a:off x="548640" y="1325880"/>
            <a:ext cx="11094415" cy="1508760"/>
          </a:xfrm>
          <a:prstGeom prst="roundRect">
            <a:avLst>
              <a:gd name="adj" fmla="val 7273"/>
            </a:avLst>
          </a:prstGeom>
          <a:solidFill>
            <a:schemeClr val="bg2"/>
          </a:solidFill>
          <a:ln/>
        </p:spPr>
      </p:sp>
      <p:sp>
        <p:nvSpPr>
          <p:cNvPr id="4" name="Text 2"/>
          <p:cNvSpPr txBox="1"/>
          <p:nvPr/>
        </p:nvSpPr>
        <p:spPr>
          <a:xfrm>
            <a:off x="822960" y="1325880"/>
            <a:ext cx="3383280" cy="1508760"/>
          </a:xfrm>
          <a:prstGeom prst="rect">
            <a:avLst/>
          </a:prstGeom>
          <a:noFill/>
          <a:ln/>
        </p:spPr>
        <p:txBody>
          <a:bodyPr wrap="square" lIns="0" tIns="0" rIns="0" bIns="0" rtlCol="0" anchor="ctr"/>
          <a:lstStyle/>
          <a:p>
            <a:pPr indent="0" marL="0">
              <a:buNone/>
            </a:pPr>
            <a:r>
              <a:rPr lang="en-US" sz="1800" b="1" dirty="0">
                <a:solidFill>
                  <a:schemeClr val="tx2"/>
                </a:solidFill>
              </a:rPr>
              <a:t>Does persist-before-send guarantee exactly once?</a:t>
            </a:r>
            <a:endParaRPr lang="en-US" sz="1800" dirty="0"/>
          </a:p>
        </p:txBody>
      </p:sp>
      <p:sp>
        <p:nvSpPr>
          <p:cNvPr id="5" name="Text 3"/>
          <p:cNvSpPr txBox="1"/>
          <p:nvPr/>
        </p:nvSpPr>
        <p:spPr>
          <a:xfrm>
            <a:off x="4434840" y="1325880"/>
            <a:ext cx="6995160" cy="1508760"/>
          </a:xfrm>
          <a:prstGeom prst="rect">
            <a:avLst/>
          </a:prstGeom>
          <a:noFill/>
          <a:ln/>
        </p:spPr>
        <p:txBody>
          <a:bodyPr wrap="square" lIns="0" tIns="0" rIns="0" bIns="0" rtlCol="0" anchor="ctr"/>
          <a:lstStyle/>
          <a:p>
            <a:pPr indent="0" marL="0">
              <a:buNone/>
            </a:pPr>
            <a:r>
              <a:rPr lang="en-US" sz="1400" dirty="0">
                <a:solidFill>
                  <a:schemeClr val="tx1"/>
                </a:solidFill>
              </a:rPr>
              <a:t>Not globally. The system avoids blind retries and reconciles; the recorded test shows one send under the tested lost-response condition.</a:t>
            </a:r>
            <a:endParaRPr lang="en-US" sz="1400" dirty="0"/>
          </a:p>
        </p:txBody>
      </p:sp>
      <p:sp>
        <p:nvSpPr>
          <p:cNvPr id="6" name="FAQ 2"/>
          <p:cNvSpPr/>
          <p:nvPr/>
        </p:nvSpPr>
        <p:spPr>
          <a:xfrm>
            <a:off x="548640" y="2971800"/>
            <a:ext cx="11094415" cy="1508760"/>
          </a:xfrm>
          <a:prstGeom prst="roundRect">
            <a:avLst>
              <a:gd name="adj" fmla="val 7273"/>
            </a:avLst>
          </a:prstGeom>
          <a:solidFill>
            <a:schemeClr val="bg2"/>
          </a:solidFill>
          <a:ln/>
        </p:spPr>
      </p:sp>
      <p:sp>
        <p:nvSpPr>
          <p:cNvPr id="7" name="Text 5"/>
          <p:cNvSpPr txBox="1"/>
          <p:nvPr/>
        </p:nvSpPr>
        <p:spPr>
          <a:xfrm>
            <a:off x="822960" y="2971800"/>
            <a:ext cx="3383280" cy="1508760"/>
          </a:xfrm>
          <a:prstGeom prst="rect">
            <a:avLst/>
          </a:prstGeom>
          <a:noFill/>
          <a:ln/>
        </p:spPr>
        <p:txBody>
          <a:bodyPr wrap="square" lIns="0" tIns="0" rIns="0" bIns="0" rtlCol="0" anchor="ctr"/>
          <a:lstStyle/>
          <a:p>
            <a:pPr indent="0" marL="0">
              <a:buNone/>
            </a:pPr>
            <a:r>
              <a:rPr lang="en-US" sz="1800" b="1" dirty="0">
                <a:solidFill>
                  <a:schemeClr val="tx2"/>
                </a:solidFill>
              </a:rPr>
              <a:t>Has it been audited?</a:t>
            </a:r>
            <a:endParaRPr lang="en-US" sz="1800" dirty="0"/>
          </a:p>
        </p:txBody>
      </p:sp>
      <p:sp>
        <p:nvSpPr>
          <p:cNvPr id="8" name="Text 6"/>
          <p:cNvSpPr txBox="1"/>
          <p:nvPr/>
        </p:nvSpPr>
        <p:spPr>
          <a:xfrm>
            <a:off x="4434840" y="2971800"/>
            <a:ext cx="6995160" cy="1508760"/>
          </a:xfrm>
          <a:prstGeom prst="rect">
            <a:avLst/>
          </a:prstGeom>
          <a:noFill/>
          <a:ln/>
        </p:spPr>
        <p:txBody>
          <a:bodyPr wrap="square" lIns="0" tIns="0" rIns="0" bIns="0" rtlCol="0" anchor="ctr"/>
          <a:lstStyle/>
          <a:p>
            <a:pPr indent="0" marL="0">
              <a:buNone/>
            </a:pPr>
            <a:r>
              <a:rPr lang="en-US" sz="1400" dirty="0">
                <a:solidFill>
                  <a:schemeClr val="tx1"/>
                </a:solidFill>
              </a:rPr>
              <a:t>There is no third-party security audit or formal verification yet. The security report is a self-assessment backed by test evidence and a list of remaining risks.</a:t>
            </a:r>
            <a:endParaRPr lang="en-US" sz="1400" dirty="0"/>
          </a:p>
        </p:txBody>
      </p:sp>
      <p:sp>
        <p:nvSpPr>
          <p:cNvPr id="9" name="FAQ 3"/>
          <p:cNvSpPr/>
          <p:nvPr/>
        </p:nvSpPr>
        <p:spPr>
          <a:xfrm>
            <a:off x="548640" y="4617720"/>
            <a:ext cx="11094415" cy="1508760"/>
          </a:xfrm>
          <a:prstGeom prst="roundRect">
            <a:avLst>
              <a:gd name="adj" fmla="val 7273"/>
            </a:avLst>
          </a:prstGeom>
          <a:solidFill>
            <a:schemeClr val="bg2"/>
          </a:solidFill>
          <a:ln/>
        </p:spPr>
      </p:sp>
      <p:sp>
        <p:nvSpPr>
          <p:cNvPr id="10" name="Text 8"/>
          <p:cNvSpPr txBox="1"/>
          <p:nvPr/>
        </p:nvSpPr>
        <p:spPr>
          <a:xfrm>
            <a:off x="822960" y="4617720"/>
            <a:ext cx="3383280" cy="1508760"/>
          </a:xfrm>
          <a:prstGeom prst="rect">
            <a:avLst/>
          </a:prstGeom>
          <a:noFill/>
          <a:ln/>
        </p:spPr>
        <p:txBody>
          <a:bodyPr wrap="square" lIns="0" tIns="0" rIns="0" bIns="0" rtlCol="0" anchor="ctr"/>
          <a:lstStyle/>
          <a:p>
            <a:pPr indent="0" marL="0">
              <a:buNone/>
            </a:pPr>
            <a:r>
              <a:rPr lang="en-US" sz="1800" b="1" dirty="0">
                <a:solidFill>
                  <a:schemeClr val="tx2"/>
                </a:solidFill>
              </a:rPr>
              <a:t>Does escrow guarantee delivery?</a:t>
            </a:r>
            <a:endParaRPr lang="en-US" sz="1800" dirty="0"/>
          </a:p>
        </p:txBody>
      </p:sp>
      <p:sp>
        <p:nvSpPr>
          <p:cNvPr id="11" name="Text 9"/>
          <p:cNvSpPr txBox="1"/>
          <p:nvPr/>
        </p:nvSpPr>
        <p:spPr>
          <a:xfrm>
            <a:off x="4434840" y="4617720"/>
            <a:ext cx="6995160" cy="1508760"/>
          </a:xfrm>
          <a:prstGeom prst="rect">
            <a:avLst/>
          </a:prstGeom>
          <a:noFill/>
          <a:ln/>
        </p:spPr>
        <p:txBody>
          <a:bodyPr wrap="square" lIns="0" tIns="0" rIns="0" bIns="0" rtlCol="0" anchor="ctr"/>
          <a:lstStyle/>
          <a:p>
            <a:pPr indent="0" marL="0">
              <a:buNone/>
            </a:pPr>
            <a:r>
              <a:rPr lang="en-US" sz="1400" dirty="0">
                <a:solidFill>
                  <a:schemeClr val="tx1"/>
                </a:solidFill>
              </a:rPr>
              <a:t>No. Escrow caps lock time at 24 hours and allows a deadline refund, but release depends on the provider signer's attestation—a trust assumption. It is opt-in, one invoice per operation, and not batched.</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Appendix · Sources</a:t>
            </a:r>
            <a:endParaRPr lang="en-US" sz="3600" dirty="0"/>
          </a:p>
        </p:txBody>
      </p:sp>
      <p:sp>
        <p:nvSpPr>
          <p:cNvPr id="3" name="Source 1"/>
          <p:cNvSpPr/>
          <p:nvPr/>
        </p:nvSpPr>
        <p:spPr>
          <a:xfrm>
            <a:off x="548640" y="1280160"/>
            <a:ext cx="5456225" cy="1161288"/>
          </a:xfrm>
          <a:prstGeom prst="roundRect">
            <a:avLst>
              <a:gd name="adj" fmla="val 9449"/>
            </a:avLst>
          </a:prstGeom>
          <a:solidFill>
            <a:schemeClr val="bg2"/>
          </a:solidFill>
          <a:ln/>
        </p:spPr>
      </p:sp>
      <p:sp>
        <p:nvSpPr>
          <p:cNvPr id="4" name="Number 1"/>
          <p:cNvSpPr/>
          <p:nvPr/>
        </p:nvSpPr>
        <p:spPr>
          <a:xfrm>
            <a:off x="713232" y="1435608"/>
            <a:ext cx="365760" cy="365760"/>
          </a:xfrm>
          <a:prstGeom prst="ellipse">
            <a:avLst/>
          </a:prstGeom>
          <a:solidFill>
            <a:schemeClr val="tx2"/>
          </a:solidFill>
          <a:ln/>
        </p:spPr>
      </p:sp>
      <p:sp>
        <p:nvSpPr>
          <p:cNvPr id="5" name="Text 3"/>
          <p:cNvSpPr txBox="1"/>
          <p:nvPr/>
        </p:nvSpPr>
        <p:spPr>
          <a:xfrm>
            <a:off x="713232" y="143560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234440" y="1371600"/>
            <a:ext cx="4587545" cy="1024128"/>
          </a:xfrm>
          <a:prstGeom prst="rect">
            <a:avLst/>
          </a:prstGeom>
          <a:noFill/>
          <a:ln/>
        </p:spPr>
        <p:txBody>
          <a:bodyPr wrap="square" lIns="0" tIns="0" rIns="0" bIns="0" rtlCol="0" anchor="t"/>
          <a:lstStyle/>
          <a:p>
            <a:pPr indent="0" marL="0">
              <a:buNone/>
            </a:pPr>
            <a:r>
              <a:rPr lang="en-US" sz="1400" b="1" dirty="0">
                <a:solidFill>
                  <a:schemeClr val="tx2"/>
                </a:solidFill>
              </a:rPr>
              <a:t>Visa — consumer trust research, 9 Sep 2026</a:t>
            </a:r>
            <a:endParaRPr lang="en-US" sz="1200" dirty="0"/>
          </a:p>
          <a:p>
            <a:pPr indent="0" marL="0">
              <a:buNone/>
            </a:pPr>
            <a:r>
              <a:rPr lang="en-US" sz="1200" dirty="0">
                <a:solidFill>
                  <a:schemeClr val="tx1"/>
                </a:solidFill>
              </a:rPr>
              <a:t>Methodology and results for 2,065 US consumers.</a:t>
            </a:r>
            <a:endParaRPr lang="en-US" sz="1200" dirty="0"/>
          </a:p>
          <a:p>
            <a:pPr indent="0" marL="0">
              <a:buNone/>
            </a:pPr>
            <a:r>
              <a:rPr lang="en-US" sz="1200" u="sng" dirty="0">
                <a:solidFill>
                  <a:schemeClr val="tx1"/>
                </a:solidFill>
                <a:hlinkClick r:id="rId1" invalidUrl="" action="" tgtFrame="" tooltip="" history="1" highlightClick="0" endSnd="0">
                  <a:extLst>
                    <a:ext uri="{A12FA001-AC4F-418D-AE19-62706E023703}">
                      <ahyp:hlinkClr xmlns:ahyp="http://schemas.microsoft.com/office/drawing/2018/hyperlinkcolor" val="tx"/>
                    </a:ext>
                  </a:extLst>
                </a:hlinkClick>
              </a:rPr>
              <a:t>usa.visa.com/…/releaseId.22736</a:t>
            </a:r>
            <a:endParaRPr lang="en-US" sz="1200" dirty="0"/>
          </a:p>
        </p:txBody>
      </p:sp>
      <p:sp>
        <p:nvSpPr>
          <p:cNvPr id="7" name="Source 2"/>
          <p:cNvSpPr/>
          <p:nvPr/>
        </p:nvSpPr>
        <p:spPr>
          <a:xfrm>
            <a:off x="6187745" y="1280160"/>
            <a:ext cx="5456225" cy="1161288"/>
          </a:xfrm>
          <a:prstGeom prst="roundRect">
            <a:avLst>
              <a:gd name="adj" fmla="val 9449"/>
            </a:avLst>
          </a:prstGeom>
          <a:solidFill>
            <a:schemeClr val="bg2"/>
          </a:solidFill>
          <a:ln/>
        </p:spPr>
      </p:sp>
      <p:sp>
        <p:nvSpPr>
          <p:cNvPr id="8" name="Number 2"/>
          <p:cNvSpPr/>
          <p:nvPr/>
        </p:nvSpPr>
        <p:spPr>
          <a:xfrm>
            <a:off x="6352337" y="1435608"/>
            <a:ext cx="365760" cy="365760"/>
          </a:xfrm>
          <a:prstGeom prst="ellipse">
            <a:avLst/>
          </a:prstGeom>
          <a:solidFill>
            <a:schemeClr val="tx2"/>
          </a:solidFill>
          <a:ln/>
        </p:spPr>
      </p:sp>
      <p:sp>
        <p:nvSpPr>
          <p:cNvPr id="9" name="Text 7"/>
          <p:cNvSpPr txBox="1"/>
          <p:nvPr/>
        </p:nvSpPr>
        <p:spPr>
          <a:xfrm>
            <a:off x="6352337" y="143560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6873545" y="1371600"/>
            <a:ext cx="4587545" cy="1024128"/>
          </a:xfrm>
          <a:prstGeom prst="rect">
            <a:avLst/>
          </a:prstGeom>
          <a:noFill/>
          <a:ln/>
        </p:spPr>
        <p:txBody>
          <a:bodyPr wrap="square" lIns="0" tIns="0" rIns="0" bIns="0" rtlCol="0" anchor="t"/>
          <a:lstStyle/>
          <a:p>
            <a:pPr indent="0" marL="0">
              <a:buNone/>
            </a:pPr>
            <a:r>
              <a:rPr lang="en-US" sz="1400" b="1" dirty="0">
                <a:solidFill>
                  <a:schemeClr val="tx2"/>
                </a:solidFill>
              </a:rPr>
              <a:t>Stripe — Instant Checkout and ACP, 29 Sep 2025</a:t>
            </a:r>
            <a:endParaRPr lang="en-US" sz="1200" dirty="0"/>
          </a:p>
          <a:p>
            <a:pPr indent="0" marL="0">
              <a:buNone/>
            </a:pPr>
            <a:r>
              <a:rPr lang="en-US" sz="1200" dirty="0">
                <a:solidFill>
                  <a:schemeClr val="tx1"/>
                </a:solidFill>
              </a:rPr>
              <a:t>ACP, Shared Payment Token, Etsy, and the Shopify plan.</a:t>
            </a:r>
            <a:endParaRPr lang="en-US" sz="1200" dirty="0"/>
          </a:p>
          <a:p>
            <a:pPr indent="0" marL="0">
              <a:buNone/>
            </a:pPr>
            <a:r>
              <a:rPr lang="en-US" sz="1200" u="sng" dirty="0">
                <a:solidFill>
                  <a:schemeClr val="tx1"/>
                </a:solidFill>
                <a:hlinkClick r:id="rId2" invalidUrl="" action="" tgtFrame="" tooltip="" history="1" highlightClick="0" endSnd="0">
                  <a:extLst>
                    <a:ext uri="{A12FA001-AC4F-418D-AE19-62706E023703}">
                      <ahyp:hlinkClr xmlns:ahyp="http://schemas.microsoft.com/office/drawing/2018/hyperlinkcolor" val="tx"/>
                    </a:ext>
                  </a:extLst>
                </a:hlinkClick>
              </a:rPr>
              <a:t>stripe.com/newsroom/…/stripe-openai-instant-checkout</a:t>
            </a:r>
            <a:endParaRPr lang="en-US" sz="1200" dirty="0"/>
          </a:p>
        </p:txBody>
      </p:sp>
      <p:sp>
        <p:nvSpPr>
          <p:cNvPr id="11" name="Source 3"/>
          <p:cNvSpPr/>
          <p:nvPr/>
        </p:nvSpPr>
        <p:spPr>
          <a:xfrm>
            <a:off x="548640" y="2532888"/>
            <a:ext cx="5456225" cy="1161288"/>
          </a:xfrm>
          <a:prstGeom prst="roundRect">
            <a:avLst>
              <a:gd name="adj" fmla="val 9449"/>
            </a:avLst>
          </a:prstGeom>
          <a:solidFill>
            <a:schemeClr val="bg2"/>
          </a:solidFill>
          <a:ln/>
        </p:spPr>
      </p:sp>
      <p:sp>
        <p:nvSpPr>
          <p:cNvPr id="12" name="Number 3"/>
          <p:cNvSpPr/>
          <p:nvPr/>
        </p:nvSpPr>
        <p:spPr>
          <a:xfrm>
            <a:off x="713232" y="2688336"/>
            <a:ext cx="365760" cy="365760"/>
          </a:xfrm>
          <a:prstGeom prst="ellipse">
            <a:avLst/>
          </a:prstGeom>
          <a:solidFill>
            <a:schemeClr val="tx2"/>
          </a:solidFill>
          <a:ln/>
        </p:spPr>
      </p:sp>
      <p:sp>
        <p:nvSpPr>
          <p:cNvPr id="13" name="Text 11"/>
          <p:cNvSpPr txBox="1"/>
          <p:nvPr/>
        </p:nvSpPr>
        <p:spPr>
          <a:xfrm>
            <a:off x="713232" y="268833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 12"/>
          <p:cNvSpPr txBox="1"/>
          <p:nvPr/>
        </p:nvSpPr>
        <p:spPr>
          <a:xfrm>
            <a:off x="1234440" y="2624328"/>
            <a:ext cx="4587545" cy="1024128"/>
          </a:xfrm>
          <a:prstGeom prst="rect">
            <a:avLst/>
          </a:prstGeom>
          <a:noFill/>
          <a:ln/>
        </p:spPr>
        <p:txBody>
          <a:bodyPr wrap="square" lIns="0" tIns="0" rIns="0" bIns="0" rtlCol="0" anchor="t"/>
          <a:lstStyle/>
          <a:p>
            <a:pPr indent="0" marL="0">
              <a:buNone/>
            </a:pPr>
            <a:r>
              <a:rPr lang="en-US" sz="1400" b="1" dirty="0">
                <a:solidFill>
                  <a:schemeClr val="tx2"/>
                </a:solidFill>
              </a:rPr>
              <a:t>Stripe — Agentic Commerce Suite, 11 Dec 2025</a:t>
            </a:r>
            <a:endParaRPr lang="en-US" sz="1200" dirty="0"/>
          </a:p>
          <a:p>
            <a:pPr indent="0" marL="0">
              <a:buNone/>
            </a:pPr>
            <a:r>
              <a:rPr lang="en-US" sz="1200" dirty="0">
                <a:solidFill>
                  <a:schemeClr val="tx1"/>
                </a:solidFill>
              </a:rPr>
              <a:t>Program and the companies/platforms announced.</a:t>
            </a:r>
            <a:endParaRPr lang="en-US" sz="1200" dirty="0"/>
          </a:p>
          <a:p>
            <a:pPr indent="0" marL="0">
              <a:buNone/>
            </a:pPr>
            <a:r>
              <a:rPr lang="en-US" sz="1200" u="sng" dirty="0">
                <a:solidFill>
                  <a:schemeClr val="tx1"/>
                </a:solidFill>
                <a:hlinkClick r:id="rId3" invalidUrl="" action="" tgtFrame="" tooltip="" history="1" highlightClick="0" endSnd="0">
                  <a:extLst>
                    <a:ext uri="{A12FA001-AC4F-418D-AE19-62706E023703}">
                      <ahyp:hlinkClr xmlns:ahyp="http://schemas.microsoft.com/office/drawing/2018/hyperlinkcolor" val="tx"/>
                    </a:ext>
                  </a:extLst>
                </a:hlinkClick>
              </a:rPr>
              <a:t>stripe.com/newsroom/news/agentic-commerce-suite</a:t>
            </a:r>
            <a:endParaRPr lang="en-US" sz="1200" dirty="0"/>
          </a:p>
        </p:txBody>
      </p:sp>
      <p:sp>
        <p:nvSpPr>
          <p:cNvPr id="15" name="Source 4"/>
          <p:cNvSpPr/>
          <p:nvPr/>
        </p:nvSpPr>
        <p:spPr>
          <a:xfrm>
            <a:off x="6187745" y="2532888"/>
            <a:ext cx="5456225" cy="1161288"/>
          </a:xfrm>
          <a:prstGeom prst="roundRect">
            <a:avLst>
              <a:gd name="adj" fmla="val 9449"/>
            </a:avLst>
          </a:prstGeom>
          <a:solidFill>
            <a:schemeClr val="bg2"/>
          </a:solidFill>
          <a:ln/>
        </p:spPr>
      </p:sp>
      <p:sp>
        <p:nvSpPr>
          <p:cNvPr id="16" name="Number 4"/>
          <p:cNvSpPr/>
          <p:nvPr/>
        </p:nvSpPr>
        <p:spPr>
          <a:xfrm>
            <a:off x="6352337" y="2688336"/>
            <a:ext cx="365760" cy="365760"/>
          </a:xfrm>
          <a:prstGeom prst="ellipse">
            <a:avLst/>
          </a:prstGeom>
          <a:solidFill>
            <a:schemeClr val="tx2"/>
          </a:solidFill>
          <a:ln/>
        </p:spPr>
      </p:sp>
      <p:sp>
        <p:nvSpPr>
          <p:cNvPr id="17" name="Text 15"/>
          <p:cNvSpPr txBox="1"/>
          <p:nvPr/>
        </p:nvSpPr>
        <p:spPr>
          <a:xfrm>
            <a:off x="6352337" y="268833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6873545" y="2624328"/>
            <a:ext cx="4587545" cy="1024128"/>
          </a:xfrm>
          <a:prstGeom prst="rect">
            <a:avLst/>
          </a:prstGeom>
          <a:noFill/>
          <a:ln/>
        </p:spPr>
        <p:txBody>
          <a:bodyPr wrap="square" lIns="0" tIns="0" rIns="0" bIns="0" rtlCol="0" anchor="t"/>
          <a:lstStyle/>
          <a:p>
            <a:pPr indent="0" marL="0">
              <a:buNone/>
            </a:pPr>
            <a:r>
              <a:rPr lang="en-US" sz="1400" b="1" dirty="0">
                <a:solidFill>
                  <a:schemeClr val="tx2"/>
                </a:solidFill>
              </a:rPr>
              <a:t>Coinbase CDP AgentKit (README)</a:t>
            </a:r>
            <a:endParaRPr lang="en-US" sz="1200" dirty="0"/>
          </a:p>
          <a:p>
            <a:pPr indent="0" marL="0">
              <a:buNone/>
            </a:pPr>
            <a:r>
              <a:rPr lang="en-US" sz="1200" dirty="0">
                <a:solidFill>
                  <a:schemeClr val="tx1"/>
                </a:solidFill>
              </a:rPr>
              <a:t>Frameworks/providers, action-provider counts, toolkit risk limits. GitHub metrics are dynamic, not adoption figures.</a:t>
            </a:r>
            <a:endParaRPr lang="en-US" sz="1200" dirty="0"/>
          </a:p>
          <a:p>
            <a:pPr indent="0" marL="0">
              <a:buNone/>
            </a:pPr>
            <a:r>
              <a:rPr lang="en-US" sz="1200" u="sng" dirty="0">
                <a:solidFill>
                  <a:schemeClr val="tx1"/>
                </a:solidFill>
                <a:hlinkClick r:id="rId4" invalidUrl="" action="" tgtFrame="" tooltip="" history="1" highlightClick="0" endSnd="0">
                  <a:extLst>
                    <a:ext uri="{A12FA001-AC4F-418D-AE19-62706E023703}">
                      <ahyp:hlinkClr xmlns:ahyp="http://schemas.microsoft.com/office/drawing/2018/hyperlinkcolor" val="tx"/>
                    </a:ext>
                  </a:extLst>
                </a:hlinkClick>
              </a:rPr>
              <a:t>github.com/coinbase/agentkit</a:t>
            </a:r>
            <a:endParaRPr lang="en-US" sz="1200" dirty="0"/>
          </a:p>
        </p:txBody>
      </p:sp>
      <p:sp>
        <p:nvSpPr>
          <p:cNvPr id="19" name="Source 5"/>
          <p:cNvSpPr/>
          <p:nvPr/>
        </p:nvSpPr>
        <p:spPr>
          <a:xfrm>
            <a:off x="548640" y="3785616"/>
            <a:ext cx="5456225" cy="1161288"/>
          </a:xfrm>
          <a:prstGeom prst="roundRect">
            <a:avLst>
              <a:gd name="adj" fmla="val 9449"/>
            </a:avLst>
          </a:prstGeom>
          <a:solidFill>
            <a:schemeClr val="bg2"/>
          </a:solidFill>
          <a:ln/>
        </p:spPr>
      </p:sp>
      <p:sp>
        <p:nvSpPr>
          <p:cNvPr id="20" name="Number 5"/>
          <p:cNvSpPr/>
          <p:nvPr/>
        </p:nvSpPr>
        <p:spPr>
          <a:xfrm>
            <a:off x="713232" y="3941064"/>
            <a:ext cx="365760" cy="365760"/>
          </a:xfrm>
          <a:prstGeom prst="ellipse">
            <a:avLst/>
          </a:prstGeom>
          <a:solidFill>
            <a:schemeClr val="tx2"/>
          </a:solidFill>
          <a:ln/>
        </p:spPr>
      </p:sp>
      <p:sp>
        <p:nvSpPr>
          <p:cNvPr id="21" name="Text 19"/>
          <p:cNvSpPr txBox="1"/>
          <p:nvPr/>
        </p:nvSpPr>
        <p:spPr>
          <a:xfrm>
            <a:off x="713232" y="3941064"/>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Text 20"/>
          <p:cNvSpPr txBox="1"/>
          <p:nvPr/>
        </p:nvSpPr>
        <p:spPr>
          <a:xfrm>
            <a:off x="1234440" y="3877056"/>
            <a:ext cx="4587545" cy="1024128"/>
          </a:xfrm>
          <a:prstGeom prst="rect">
            <a:avLst/>
          </a:prstGeom>
          <a:noFill/>
          <a:ln/>
        </p:spPr>
        <p:txBody>
          <a:bodyPr wrap="square" lIns="0" tIns="0" rIns="0" bIns="0" rtlCol="0" anchor="t"/>
          <a:lstStyle/>
          <a:p>
            <a:pPr indent="0" marL="0">
              <a:buNone/>
            </a:pPr>
            <a:r>
              <a:rPr lang="en-US" sz="1400" b="1" dirty="0">
                <a:solidFill>
                  <a:schemeClr val="tx2"/>
                </a:solidFill>
              </a:rPr>
              <a:t>OWASP GenAI Security Project — LLM Top 10</a:t>
            </a:r>
            <a:endParaRPr lang="en-US" sz="1200" dirty="0"/>
          </a:p>
          <a:p>
            <a:pPr indent="0" marL="0">
              <a:buNone/>
            </a:pPr>
            <a:r>
              <a:rPr lang="en-US" sz="1200" dirty="0">
                <a:solidFill>
                  <a:schemeClr val="tx1"/>
                </a:solidFill>
              </a:rPr>
              <a:t>Prompt injection and excessive agency.</a:t>
            </a:r>
            <a:endParaRPr lang="en-US" sz="1200" dirty="0"/>
          </a:p>
          <a:p>
            <a:pPr indent="0" marL="0">
              <a:buNone/>
            </a:pPr>
            <a:r>
              <a:rPr lang="en-US" sz="1200" u="sng" dirty="0">
                <a:solidFill>
                  <a:schemeClr val="tx1"/>
                </a:solidFill>
                <a:hlinkClick r:id="rId5" invalidUrl="" action="" tgtFrame="" tooltip="" history="1" highlightClick="0" endSnd="0">
                  <a:extLst>
                    <a:ext uri="{A12FA001-AC4F-418D-AE19-62706E023703}">
                      <ahyp:hlinkClr xmlns:ahyp="http://schemas.microsoft.com/office/drawing/2018/hyperlinkcolor" val="tx"/>
                    </a:ext>
                  </a:extLst>
                </a:hlinkClick>
              </a:rPr>
              <a:t>genai.owasp.org/llm-top-10</a:t>
            </a:r>
            <a:endParaRPr lang="en-US" sz="1200" dirty="0"/>
          </a:p>
        </p:txBody>
      </p:sp>
      <p:sp>
        <p:nvSpPr>
          <p:cNvPr id="23" name="Source 6"/>
          <p:cNvSpPr/>
          <p:nvPr/>
        </p:nvSpPr>
        <p:spPr>
          <a:xfrm>
            <a:off x="6187745" y="3785616"/>
            <a:ext cx="5456225" cy="1161288"/>
          </a:xfrm>
          <a:prstGeom prst="roundRect">
            <a:avLst>
              <a:gd name="adj" fmla="val 9449"/>
            </a:avLst>
          </a:prstGeom>
          <a:solidFill>
            <a:schemeClr val="bg2"/>
          </a:solidFill>
          <a:ln/>
        </p:spPr>
      </p:sp>
      <p:sp>
        <p:nvSpPr>
          <p:cNvPr id="24" name="Number 6"/>
          <p:cNvSpPr/>
          <p:nvPr/>
        </p:nvSpPr>
        <p:spPr>
          <a:xfrm>
            <a:off x="6352337" y="3941064"/>
            <a:ext cx="365760" cy="365760"/>
          </a:xfrm>
          <a:prstGeom prst="ellipse">
            <a:avLst/>
          </a:prstGeom>
          <a:solidFill>
            <a:schemeClr val="tx2"/>
          </a:solidFill>
          <a:ln/>
        </p:spPr>
      </p:sp>
      <p:sp>
        <p:nvSpPr>
          <p:cNvPr id="25" name="Text 23"/>
          <p:cNvSpPr txBox="1"/>
          <p:nvPr/>
        </p:nvSpPr>
        <p:spPr>
          <a:xfrm>
            <a:off x="6352337" y="3941064"/>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6" name="Text 24"/>
          <p:cNvSpPr txBox="1"/>
          <p:nvPr/>
        </p:nvSpPr>
        <p:spPr>
          <a:xfrm>
            <a:off x="6873545" y="3877056"/>
            <a:ext cx="4587545" cy="1024128"/>
          </a:xfrm>
          <a:prstGeom prst="rect">
            <a:avLst/>
          </a:prstGeom>
          <a:noFill/>
          <a:ln/>
        </p:spPr>
        <p:txBody>
          <a:bodyPr wrap="square" lIns="0" tIns="0" rIns="0" bIns="0" rtlCol="0" anchor="t"/>
          <a:lstStyle/>
          <a:p>
            <a:pPr indent="0" marL="0">
              <a:buNone/>
            </a:pPr>
            <a:r>
              <a:rPr lang="en-US" sz="1400" b="1" dirty="0">
                <a:solidFill>
                  <a:schemeClr val="tx2"/>
                </a:solidFill>
              </a:rPr>
              <a:t>Ethereum ERC-4337</a:t>
            </a:r>
            <a:endParaRPr lang="en-US" sz="1200" dirty="0"/>
          </a:p>
          <a:p>
            <a:pPr indent="0" marL="0">
              <a:buNone/>
            </a:pPr>
            <a:r>
              <a:rPr lang="en-US" sz="1200" dirty="0">
                <a:solidFill>
                  <a:schemeClr val="tx1"/>
                </a:solidFill>
              </a:rPr>
              <a:t>UserOperation, EntryPoint, bundler.</a:t>
            </a:r>
            <a:endParaRPr lang="en-US" sz="1200" dirty="0"/>
          </a:p>
          <a:p>
            <a:pPr indent="0" marL="0">
              <a:buNone/>
            </a:pPr>
            <a:r>
              <a:rPr lang="en-US" sz="1200" u="sng" dirty="0">
                <a:solidFill>
                  <a:schemeClr val="tx1"/>
                </a:solidFill>
                <a:hlinkClick r:id="rId6" invalidUrl="" action="" tgtFrame="" tooltip="" history="1" highlightClick="0" endSnd="0">
                  <a:extLst>
                    <a:ext uri="{A12FA001-AC4F-418D-AE19-62706E023703}">
                      <ahyp:hlinkClr xmlns:ahyp="http://schemas.microsoft.com/office/drawing/2018/hyperlinkcolor" val="tx"/>
                    </a:ext>
                  </a:extLst>
                </a:hlinkClick>
              </a:rPr>
              <a:t>eips.ethereum.org/EIPS/eip-4337</a:t>
            </a:r>
            <a:endParaRPr lang="en-US" sz="1200" dirty="0"/>
          </a:p>
        </p:txBody>
      </p:sp>
      <p:sp>
        <p:nvSpPr>
          <p:cNvPr id="27" name="Source 7"/>
          <p:cNvSpPr/>
          <p:nvPr/>
        </p:nvSpPr>
        <p:spPr>
          <a:xfrm>
            <a:off x="548640" y="5038344"/>
            <a:ext cx="5456225" cy="1161288"/>
          </a:xfrm>
          <a:prstGeom prst="roundRect">
            <a:avLst>
              <a:gd name="adj" fmla="val 9449"/>
            </a:avLst>
          </a:prstGeom>
          <a:solidFill>
            <a:schemeClr val="bg2"/>
          </a:solidFill>
          <a:ln/>
        </p:spPr>
      </p:sp>
      <p:sp>
        <p:nvSpPr>
          <p:cNvPr id="28" name="Number 7"/>
          <p:cNvSpPr/>
          <p:nvPr/>
        </p:nvSpPr>
        <p:spPr>
          <a:xfrm>
            <a:off x="713232" y="5193792"/>
            <a:ext cx="365760" cy="365760"/>
          </a:xfrm>
          <a:prstGeom prst="ellipse">
            <a:avLst/>
          </a:prstGeom>
          <a:solidFill>
            <a:schemeClr val="tx2"/>
          </a:solidFill>
          <a:ln/>
        </p:spPr>
      </p:sp>
      <p:sp>
        <p:nvSpPr>
          <p:cNvPr id="29" name="Text 27"/>
          <p:cNvSpPr txBox="1"/>
          <p:nvPr/>
        </p:nvSpPr>
        <p:spPr>
          <a:xfrm>
            <a:off x="713232" y="51937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0" name="Text 28"/>
          <p:cNvSpPr txBox="1"/>
          <p:nvPr/>
        </p:nvSpPr>
        <p:spPr>
          <a:xfrm>
            <a:off x="1234440" y="5129784"/>
            <a:ext cx="4587545" cy="1024128"/>
          </a:xfrm>
          <a:prstGeom prst="rect">
            <a:avLst/>
          </a:prstGeom>
          <a:noFill/>
          <a:ln/>
        </p:spPr>
        <p:txBody>
          <a:bodyPr wrap="square" lIns="0" tIns="0" rIns="0" bIns="0" rtlCol="0" anchor="t"/>
          <a:lstStyle/>
          <a:p>
            <a:pPr indent="0" marL="0">
              <a:buNone/>
            </a:pPr>
            <a:r>
              <a:rPr lang="en-US" sz="1400" b="1" dirty="0">
                <a:solidFill>
                  <a:schemeClr val="tx2"/>
                </a:solidFill>
              </a:rPr>
              <a:t>Ethereum ERC-7579</a:t>
            </a:r>
            <a:endParaRPr lang="en-US" sz="1200" dirty="0"/>
          </a:p>
          <a:p>
            <a:pPr indent="0" marL="0">
              <a:buNone/>
            </a:pPr>
            <a:r>
              <a:rPr lang="en-US" sz="1200" dirty="0">
                <a:solidFill>
                  <a:schemeClr val="tx1"/>
                </a:solidFill>
              </a:rPr>
              <a:t>Marked draft on its EIP page; the project uses and tests the pinned Kernel interface.</a:t>
            </a:r>
            <a:endParaRPr lang="en-US" sz="1200" dirty="0"/>
          </a:p>
          <a:p>
            <a:pPr indent="0" marL="0">
              <a:buNone/>
            </a:pPr>
            <a:r>
              <a:rPr lang="en-US" sz="1200" u="sng" dirty="0">
                <a:solidFill>
                  <a:schemeClr val="tx1"/>
                </a:solidFill>
                <a:hlinkClick r:id="rId7" invalidUrl="" action="" tgtFrame="" tooltip="" history="1" highlightClick="0" endSnd="0">
                  <a:extLst>
                    <a:ext uri="{A12FA001-AC4F-418D-AE19-62706E023703}">
                      <ahyp:hlinkClr xmlns:ahyp="http://schemas.microsoft.com/office/drawing/2018/hyperlinkcolor" val="tx"/>
                    </a:ext>
                  </a:extLst>
                </a:hlinkClick>
              </a:rPr>
              <a:t>eips.ethereum.org/EIPS/eip-7579</a:t>
            </a:r>
            <a:endParaRPr lang="en-US" sz="1200" dirty="0"/>
          </a:p>
        </p:txBody>
      </p:sp>
      <p:sp>
        <p:nvSpPr>
          <p:cNvPr id="31" name="Source 8"/>
          <p:cNvSpPr/>
          <p:nvPr/>
        </p:nvSpPr>
        <p:spPr>
          <a:xfrm>
            <a:off x="6187745" y="5038344"/>
            <a:ext cx="5456225" cy="1161288"/>
          </a:xfrm>
          <a:prstGeom prst="roundRect">
            <a:avLst>
              <a:gd name="adj" fmla="val 9449"/>
            </a:avLst>
          </a:prstGeom>
          <a:solidFill>
            <a:schemeClr val="bg2"/>
          </a:solidFill>
          <a:ln/>
        </p:spPr>
      </p:sp>
      <p:sp>
        <p:nvSpPr>
          <p:cNvPr id="32" name="Number 8"/>
          <p:cNvSpPr/>
          <p:nvPr/>
        </p:nvSpPr>
        <p:spPr>
          <a:xfrm>
            <a:off x="6352337" y="5193792"/>
            <a:ext cx="365760" cy="365760"/>
          </a:xfrm>
          <a:prstGeom prst="ellipse">
            <a:avLst/>
          </a:prstGeom>
          <a:solidFill>
            <a:schemeClr val="tx2"/>
          </a:solidFill>
          <a:ln/>
        </p:spPr>
      </p:sp>
      <p:sp>
        <p:nvSpPr>
          <p:cNvPr id="33" name="Text 31"/>
          <p:cNvSpPr txBox="1"/>
          <p:nvPr/>
        </p:nvSpPr>
        <p:spPr>
          <a:xfrm>
            <a:off x="6352337" y="51937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34" name="Text 32"/>
          <p:cNvSpPr txBox="1"/>
          <p:nvPr/>
        </p:nvSpPr>
        <p:spPr>
          <a:xfrm>
            <a:off x="6873545" y="5129784"/>
            <a:ext cx="4587545" cy="1024128"/>
          </a:xfrm>
          <a:prstGeom prst="rect">
            <a:avLst/>
          </a:prstGeom>
          <a:noFill/>
          <a:ln/>
        </p:spPr>
        <p:txBody>
          <a:bodyPr wrap="square" lIns="0" tIns="0" rIns="0" bIns="0" rtlCol="0" anchor="t"/>
          <a:lstStyle/>
          <a:p>
            <a:pPr indent="0" marL="0">
              <a:buNone/>
            </a:pPr>
            <a:r>
              <a:rPr lang="en-US" sz="1400" b="1" dirty="0">
                <a:solidFill>
                  <a:schemeClr val="tx2"/>
                </a:solidFill>
              </a:rPr>
              <a:t>Project evidence (repository)</a:t>
            </a:r>
            <a:endParaRPr lang="en-US" sz="1200" dirty="0"/>
          </a:p>
          <a:p>
            <a:pPr indent="0" marL="0">
              <a:buNone/>
            </a:pPr>
            <a:r>
              <a:rPr lang="en-US" sz="1200" dirty="0">
                <a:solidFill>
                  <a:schemeClr val="tx1"/>
                </a:solidFill>
              </a:rPr>
              <a:t>docs/evidence/: CLOUD-VALIDATION.md, security-cloud-model-evaluation.json, security-kernel-fork.json, cost-fork.json, AI-01-public-procurement.md, reviewer-public-browser.json</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Guardian Astra">
  <a:themeElements>
    <a:clrScheme name="Guardian Astra">
      <a:dk1>
        <a:srgbClr val="0B1F2A"/>
      </a:dk1>
      <a:lt1>
        <a:srgbClr val="FFFFFF"/>
      </a:lt1>
      <a:dk2>
        <a:srgbClr val="17404F"/>
      </a:dk2>
      <a:lt2>
        <a:srgbClr val="EEF4F3"/>
      </a:lt2>
      <a:accent1>
        <a:srgbClr val="13A898"/>
      </a:accent1>
      <a:accent2>
        <a:srgbClr val="F4A300"/>
      </a:accent2>
      <a:accent3>
        <a:srgbClr val="D64045"/>
      </a:accent3>
      <a:accent4>
        <a:srgbClr val="5E7380"/>
      </a:accent4>
      <a:accent5>
        <a:srgbClr val="2A7F9E"/>
      </a:accent5>
      <a:accent6>
        <a:srgbClr val="8FD3C8"/>
      </a:accent6>
      <a:hlink>
        <a:srgbClr val="0B7A6F"/>
      </a:hlink>
      <a:folHlink>
        <a:srgbClr val="5E7380"/>
      </a:folHlink>
    </a:clrScheme>
    <a:fontScheme name="Guardian Astr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Guardian Wallet: Astra</dc:title>
  <dc:subject>Guardian Wallet: Astra — International Track, Topic F</dc:subject>
  <dc:creator>PptxGenJS</dc:creator>
  <cp:lastModifiedBy>PptxGenJS</cp:lastModifiedBy>
  <cp:revision>1</cp:revision>
  <dcterms:created xsi:type="dcterms:W3CDTF">2026-10-19T18:46:17Z</dcterms:created>
  <dcterms:modified xsi:type="dcterms:W3CDTF">2026-10-19T18:46:17Z</dcterms:modified>
</cp:coreProperties>
</file>