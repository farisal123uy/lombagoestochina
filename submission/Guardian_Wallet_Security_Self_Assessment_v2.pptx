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urity self-assessment" id="{98b3f8a2-502c-d817-28b6-ddf4d88dff9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2A"/>
                </a:solidFill>
                <a:latin typeface="+mn-lt"/>
              </a:rPr>
              <a:t>Objectives passed (of 60 observations)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Objectives passed</c:v>
                </c:pt>
              </c:strCache>
            </c:strRef>
          </c:tx>
          <c:spPr>
            <a:solidFill>
              <a:srgbClr val="13A89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After fix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Schema errors / inconclusive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After fix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400" u="none">
                  <a:solidFill>
                    <a:srgbClr val="0B1F2A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built from 03-security-self-assessment.md (version of 19 October 2026). Assessment type: self-assessment by the project team, not a third-party audit. Scope: owner/session permission, model/API boundary, GuardianPayments, worker/reconciliation, provider, and reviewer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1. Selected live GPT-OSS regression: 60/60 objective observations after the schema/API fix; the baseline was 54/60 with six output/schema errors declared inconclusive. The batch gas benchmark shows a lower median enclosing EVM gas but uses a fork and a bundler stub—not total production 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2, assets to protect.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2, trust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3, permission-tier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3, differences between direct and escrow mode, and 'Escrow-specific limits' in section 7. Escrow limits the lock time on the contract to a maximum of 24 hours but still relies on the provider quote signer for the readiness attestation. Refunds can only be triggered after the deadline. The invoice ID stays consumed after a refund, so buying again needs a new quote/invoice. This path is tested but is not a guarantee of dispute-free fulfillment.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4, identity, session, and secret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4, model/request/quote controls and smart-account/contract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4, persist-before-send and recovery; reviewer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 Evidence: docs/evidence/security-cloud-model-baseline.json, security-cloud-model-evaluation.json, CLOUD-VALIDATION.md. Model evaluation does not replace authorization tests; the Kernel fork tests send restricted-session operations separately (next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5, authorization bypass evidence. Evidence: docs/evidence/security-kernel-fork.json.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 Public AI-01 on Base Sepolia: one 0.26 MockUSD payment, a matching settlement event, signed quote/delivery, fresh service probe, and write/read; evidence in docs/evidence/AI-01-public-procurement.md. The README stage-two checkpoint: 104 integration cases + 7 web tests; 17 contract/fork cases; 17 browser cases; lint/typecheck/build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7, known risks and residual limits (high priority).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7, known risks (medium–high and medium).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7, known risks (medium, operational, release).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8. Runtime dependency scan: 0 known advisories; full dev dependency scan: 4 moderate on toolchain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of the self-assessment. Internal references listed in section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56616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Guardian Wallet: Astra  ·  Security Self-Assessment  ·  Not an independent audit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Guardian Wallet: Astra  ·  Security Self-Assessment  ·  Not an independent audit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Project-team self-assessment  ·  not a third-party audit"/>
          <p:cNvSpPr/>
          <p:nvPr/>
        </p:nvSpPr>
        <p:spPr>
          <a:xfrm>
            <a:off x="640080" y="594360"/>
            <a:ext cx="5852160" cy="411480"/>
          </a:xfrm>
          <a:prstGeom prst="roundRect">
            <a:avLst>
              <a:gd name="adj" fmla="val 22222"/>
            </a:avLst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94360"/>
            <a:ext cx="5705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Project-team self-assessment  ·  not a third-party audit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Security Self-Assessment</a:t>
            </a:r>
            <a:endParaRPr lang="en-US" sz="54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Guardian Wallet: Astra — assets, boundaries, controls, evidence, and residual risk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feat/batching-evaluation · commit b439c8f · 19 October 2026</a:t>
            </a:r>
            <a:endParaRPr lang="en-US" sz="1800" dirty="0"/>
          </a:p>
        </p:txBody>
      </p:sp>
      <p:sp>
        <p:nvSpPr>
          <p:cNvPr id="7" name="Node Assets"/>
          <p:cNvSpPr/>
          <p:nvPr/>
        </p:nvSpPr>
        <p:spPr>
          <a:xfrm>
            <a:off x="64008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8" name="Icon circle Assets"/>
          <p:cNvSpPr/>
          <p:nvPr/>
        </p:nvSpPr>
        <p:spPr>
          <a:xfrm>
            <a:off x="121158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Assets" descr="Ass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3845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Assets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we protect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251231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Node Boundaries"/>
          <p:cNvSpPr/>
          <p:nvPr/>
        </p:nvSpPr>
        <p:spPr>
          <a:xfrm>
            <a:off x="294894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4" name="Icon circle Boundaries"/>
          <p:cNvSpPr/>
          <p:nvPr/>
        </p:nvSpPr>
        <p:spPr>
          <a:xfrm>
            <a:off x="352044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Boundaries" descr="Bounda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38454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4894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Boundaries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94894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who trusts whom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82117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Node Controls"/>
          <p:cNvSpPr/>
          <p:nvPr/>
        </p:nvSpPr>
        <p:spPr>
          <a:xfrm>
            <a:off x="525780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Icon circle Controls"/>
          <p:cNvSpPr/>
          <p:nvPr/>
        </p:nvSpPr>
        <p:spPr>
          <a:xfrm>
            <a:off x="5829300" y="42245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 Controls" descr="Contr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38454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5780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Controls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25780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is enforced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713003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Node Evidence"/>
          <p:cNvSpPr/>
          <p:nvPr/>
        </p:nvSpPr>
        <p:spPr>
          <a:xfrm>
            <a:off x="756666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6" name="Icon circle Evidence"/>
          <p:cNvSpPr/>
          <p:nvPr/>
        </p:nvSpPr>
        <p:spPr>
          <a:xfrm>
            <a:off x="813816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Evidence" descr="Evide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438454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6666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Evidence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56666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was tested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943889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Node Residual risk"/>
          <p:cNvSpPr/>
          <p:nvPr/>
        </p:nvSpPr>
        <p:spPr>
          <a:xfrm>
            <a:off x="987552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32" name="Icon circle Residual risk"/>
          <p:cNvSpPr/>
          <p:nvPr/>
        </p:nvSpPr>
        <p:spPr>
          <a:xfrm>
            <a:off x="1044702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 Residual risk" descr="Residual r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38454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7552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Residual risk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987552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remains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Honest scope: team tests and self-assessment, on testnet, with MockUSD.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Card AI is separated from authorization"/>
          <p:cNvSpPr/>
          <p:nvPr/>
        </p:nvSpPr>
        <p:spPr>
          <a:xfrm>
            <a:off x="548640" y="128016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Icon circle AI is separated from authorization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AI is separated from authorization" descr="AI is separated from authoriz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is separated from authorization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owner keeps the root account and signs specific policy/sessions. The model only produces structured intent.</a:t>
            </a:r>
            <a:endParaRPr lang="en-US" sz="1500" dirty="0"/>
          </a:p>
        </p:txBody>
      </p:sp>
      <p:sp>
        <p:nvSpPr>
          <p:cNvPr id="8" name="Card Narrow worker, independent contract"/>
          <p:cNvSpPr/>
          <p:nvPr/>
        </p:nvSpPr>
        <p:spPr>
          <a:xfrm>
            <a:off x="6126480" y="128016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9" name="Icon circle Narrow worker, independent contract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Narrow worker, independent contract" descr="Narrow worker, independent contr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Narrow worker, independent contract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21488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worker holds a scoped session credential. Guardian rechecks quote, token, recipient, expiry, caps, reserve, and replay when it executes.</a:t>
            </a:r>
            <a:endParaRPr lang="en-US" sz="1500" dirty="0"/>
          </a:p>
        </p:txBody>
      </p:sp>
      <p:sp>
        <p:nvSpPr>
          <p:cNvPr id="13" name="Card Persist before send"/>
          <p:cNvSpPr/>
          <p:nvPr/>
        </p:nvSpPr>
        <p:spPr>
          <a:xfrm>
            <a:off x="548640" y="338328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4" name="Icon circle Persist before send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Persist before send" descr="Persist before s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691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6616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Persist before send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25196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signed operation and hash are stored before the bundler call. Unknown outcomes are reconciled, not re-sent with a new nonce.</a:t>
            </a:r>
            <a:endParaRPr lang="en-US" sz="1500" dirty="0"/>
          </a:p>
        </p:txBody>
      </p:sp>
      <p:sp>
        <p:nvSpPr>
          <p:cNvPr id="18" name="Card Evidence so far"/>
          <p:cNvSpPr/>
          <p:nvPr/>
        </p:nvSpPr>
        <p:spPr>
          <a:xfrm>
            <a:off x="6126480" y="338328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9" name="Icon circle Evidence so far"/>
          <p:cNvSpPr/>
          <p:nvPr/>
        </p:nvSpPr>
        <p:spPr>
          <a:xfrm>
            <a:off x="6355080" y="3566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 Evidence so far" descr="Evidence so f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36918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356616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Evidence so far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425196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Unit/integration tests, Kernel fork evidence, live-model regression, one historical public testnet procurement.</a:t>
            </a:r>
            <a:endParaRPr lang="en-US" sz="1500" dirty="0"/>
          </a:p>
        </p:txBody>
      </p:sp>
      <p:sp>
        <p:nvSpPr>
          <p:cNvPr id="23" name="Caveat banner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77240" y="55321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established: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independent audit, formal verification, mainnet financial acceptance, a held-out red-team benchmark, multi-tenant or production-scale tests. Service fulfillment is verified separately from settlement.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Scope and assets to protect</a:t>
            </a:r>
            <a:endParaRPr lang="en-US" sz="3600" dirty="0"/>
          </a:p>
        </p:txBody>
      </p:sp>
      <p:sp>
        <p:nvSpPr>
          <p:cNvPr id="3" name="Scope card"/>
          <p:cNvSpPr/>
          <p:nvPr/>
        </p:nvSpPr>
        <p:spPr>
          <a:xfrm>
            <a:off x="548640" y="12801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Scope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Owner/session permission · model/API boundary · GuardianPayments · worker and reconciliation · provider · reviewer sandbox</a:t>
            </a:r>
            <a:endParaRPr lang="en-US" sz="1500" dirty="0"/>
          </a:p>
        </p:txBody>
      </p:sp>
      <p:sp>
        <p:nvSpPr>
          <p:cNvPr id="5" name="Card Owner authority"/>
          <p:cNvSpPr/>
          <p:nvPr/>
        </p:nvSpPr>
        <p:spPr>
          <a:xfrm>
            <a:off x="548640" y="260604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57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Owner authority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815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root key, account configuration, recipient allowlist, session authorization.</a:t>
            </a:r>
            <a:endParaRPr lang="en-US" sz="1400" dirty="0"/>
          </a:p>
        </p:txBody>
      </p:sp>
      <p:sp>
        <p:nvSpPr>
          <p:cNvPr id="8" name="Card Funds and counters"/>
          <p:cNvSpPr/>
          <p:nvPr/>
        </p:nvSpPr>
        <p:spPr>
          <a:xfrm>
            <a:off x="4307738" y="260604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8906" y="27157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Funds and counters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08906" y="30815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Token balance, protected reserve, daily spending counter, used invoice/payment IDs.</a:t>
            </a:r>
            <a:endParaRPr lang="en-US" sz="1400" dirty="0"/>
          </a:p>
        </p:txBody>
      </p:sp>
      <p:sp>
        <p:nvSpPr>
          <p:cNvPr id="11" name="Card Secrets"/>
          <p:cNvSpPr/>
          <p:nvPr/>
        </p:nvSpPr>
        <p:spPr>
          <a:xfrm>
            <a:off x="8066837" y="260604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8005" y="27157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8005" y="30815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Worker session key, provider signer key, Groq API key, database URL, reviewer access code.</a:t>
            </a:r>
            <a:endParaRPr lang="en-US" sz="1400" dirty="0"/>
          </a:p>
        </p:txBody>
      </p:sp>
      <p:sp>
        <p:nvSpPr>
          <p:cNvPr id="14" name="Card Durable evidence"/>
          <p:cNvSpPr/>
          <p:nvPr/>
        </p:nvSpPr>
        <p:spPr>
          <a:xfrm>
            <a:off x="548640" y="443484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5445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Durable evidence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9103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Task/attempt/batch membership, the exact signed operation payload, reconciliation evidence.</a:t>
            </a:r>
            <a:endParaRPr lang="en-US" sz="1400" dirty="0"/>
          </a:p>
        </p:txBody>
      </p:sp>
      <p:sp>
        <p:nvSpPr>
          <p:cNvPr id="17" name="Card Reviewer isolation"/>
          <p:cNvSpPr/>
          <p:nvPr/>
        </p:nvSpPr>
        <p:spPr>
          <a:xfrm>
            <a:off x="4307738" y="443484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8906" y="45445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Reviewer isolation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08906" y="49103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Capability isolation, PGlite database, isolated-fork workspace.</a:t>
            </a:r>
            <a:endParaRPr lang="en-US" sz="1400" dirty="0"/>
          </a:p>
        </p:txBody>
      </p:sp>
      <p:sp>
        <p:nvSpPr>
          <p:cNvPr id="20" name="Card Assessment"/>
          <p:cNvSpPr/>
          <p:nvPr/>
        </p:nvSpPr>
        <p:spPr>
          <a:xfrm>
            <a:off x="8066837" y="4434840"/>
            <a:ext cx="3576218" cy="1691640"/>
          </a:xfrm>
          <a:prstGeom prst="roundRect">
            <a:avLst>
              <a:gd name="adj" fmla="val 6486"/>
            </a:avLst>
          </a:prstGeom>
          <a:solidFill>
            <a:srgbClr val="EEF4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68005" y="45445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Assessment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68005" y="4910328"/>
            <a:ext cx="31738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Self-assessment · 19 Oct 2026 · commit b439c8f.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Trust boundaries</a:t>
            </a:r>
            <a:endParaRPr lang="en-US" sz="3600" dirty="0"/>
          </a:p>
        </p:txBody>
      </p:sp>
      <p:sp>
        <p:nvSpPr>
          <p:cNvPr id="3" name="Number 1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5272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 ↔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browser gets a short bearer/capability—never model, provider, worker, or owner private keys.</a:t>
            </a:r>
            <a:endParaRPr lang="en-US" sz="1400" dirty="0"/>
          </a:p>
        </p:txBody>
      </p:sp>
      <p:sp>
        <p:nvSpPr>
          <p:cNvPr id="6" name="Number 2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8716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 ↔ planner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Model output is untrusted data; schema validation does not turn it into authorization.</a:t>
            </a:r>
            <a:endParaRPr lang="en-US" sz="1400" dirty="0"/>
          </a:p>
        </p:txBody>
      </p:sp>
      <p:sp>
        <p:nvSpPr>
          <p:cNvPr id="9" name="Number 3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2160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↔ provider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quote/delivery signer is trusted for what it signs; the provider agent/model doesn't hold that key.</a:t>
            </a:r>
            <a:endParaRPr lang="en-US" sz="1400" dirty="0"/>
          </a:p>
        </p:txBody>
      </p:sp>
      <p:sp>
        <p:nvSpPr>
          <p:cNvPr id="12" name="Number 4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9560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 ↔ worker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damaged server DB or attempt data remains an operational risk.</a:t>
            </a:r>
            <a:endParaRPr lang="en-US" sz="1400" dirty="0"/>
          </a:p>
        </p:txBody>
      </p:sp>
      <p:sp>
        <p:nvSpPr>
          <p:cNvPr id="15" name="Number 5"/>
          <p:cNvSpPr/>
          <p:nvPr/>
        </p:nvSpPr>
        <p:spPr>
          <a:xfrm>
            <a:off x="630936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25272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Worker ↔ RPC / bundler / chain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Networks time out, delay, return partial results, or reorg; a bundler response is not final settlement.</a:t>
            </a:r>
            <a:endParaRPr lang="en-US" sz="1400" dirty="0"/>
          </a:p>
        </p:txBody>
      </p:sp>
      <p:sp>
        <p:nvSpPr>
          <p:cNvPr id="18" name="Number 6"/>
          <p:cNvSpPr/>
          <p:nvPr/>
        </p:nvSpPr>
        <p:spPr>
          <a:xfrm>
            <a:off x="6309360" y="251460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48716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Owner session ↔ Kernel / Guardian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Session policy limits only the agent route; the owner, other modules/sessions, or old allowances sit outside its reserve guarantee.</a:t>
            </a:r>
            <a:endParaRPr lang="en-US" sz="1400" dirty="0"/>
          </a:p>
        </p:txBody>
      </p:sp>
      <p:sp>
        <p:nvSpPr>
          <p:cNvPr id="21" name="Number 7"/>
          <p:cNvSpPr/>
          <p:nvPr/>
        </p:nvSpPr>
        <p:spPr>
          <a:xfrm>
            <a:off x="6309360" y="37490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2160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Reviewer ↔ isolated workspace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Route/duration-limited capability; host resources, model quota, and fork initialization remain external dependencies.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Permission tiers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Actor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170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Permission and enforcement</a:t>
            </a:r>
            <a:endParaRPr lang="en-US" sz="1200" dirty="0"/>
          </a:p>
        </p:txBody>
      </p:sp>
      <p:sp>
        <p:nvSpPr>
          <p:cNvPr id="5" name="Tier 0"/>
          <p:cNvSpPr/>
          <p:nvPr/>
        </p:nvSpPr>
        <p:spPr>
          <a:xfrm>
            <a:off x="548640" y="1444752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6" name="Number 0"/>
          <p:cNvSpPr/>
          <p:nvPr/>
        </p:nvSpPr>
        <p:spPr>
          <a:xfrm>
            <a:off x="658368" y="154076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540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44752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Root owner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444752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Deploys/authorizes the account, configures policy/recipients, pauses/unpauses, revokes sessions. The key never enters the API. The owner can still withdraw funds or add other authority.</a:t>
            </a:r>
            <a:endParaRPr lang="en-US" sz="1300" dirty="0"/>
          </a:p>
        </p:txBody>
      </p:sp>
      <p:sp>
        <p:nvSpPr>
          <p:cNvPr id="10" name="Tier 1"/>
          <p:cNvSpPr/>
          <p:nvPr/>
        </p:nvSpPr>
        <p:spPr>
          <a:xfrm>
            <a:off x="548640" y="2048256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Number 1"/>
          <p:cNvSpPr/>
          <p:nvPr/>
        </p:nvSpPr>
        <p:spPr>
          <a:xfrm>
            <a:off x="658368" y="21442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1442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48256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planner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048256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Classifies intent; returns JSON decision/summary. No key, tools, raw calldata, or submit right; cannot set final amount/recipient.</a:t>
            </a:r>
            <a:endParaRPr lang="en-US" sz="1300" dirty="0"/>
          </a:p>
        </p:txBody>
      </p:sp>
      <p:sp>
        <p:nvSpPr>
          <p:cNvPr id="15" name="Tier 2"/>
          <p:cNvSpPr/>
          <p:nvPr/>
        </p:nvSpPr>
        <p:spPr>
          <a:xfrm>
            <a:off x="548640" y="2651760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16" name="Number 2"/>
          <p:cNvSpPr/>
          <p:nvPr/>
        </p:nvSpPr>
        <p:spPr>
          <a:xfrm>
            <a:off x="658368" y="274777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2747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Owner-authenticated API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65176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Reads policy/assets, validates quotes, previews plans, saves drafts, queues owner-chosen task IDs. Queueing never unpauses the worker or adds on-chain permission.</a:t>
            </a:r>
            <a:endParaRPr lang="en-US" sz="1300" dirty="0"/>
          </a:p>
        </p:txBody>
      </p:sp>
      <p:sp>
        <p:nvSpPr>
          <p:cNvPr id="20" name="Tier 3"/>
          <p:cNvSpPr/>
          <p:nvPr/>
        </p:nvSpPr>
        <p:spPr>
          <a:xfrm>
            <a:off x="548640" y="3255264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1" name="Number 3"/>
          <p:cNvSpPr/>
          <p:nvPr/>
        </p:nvSpPr>
        <p:spPr>
          <a:xfrm>
            <a:off x="658368" y="335127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33512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55264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Restricted session / worker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255264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owner-authorized Guardian selectors in the validity window; call policy limits target/selector/CALL and native valueLimit=0; ERC-1271 authority denied.</a:t>
            </a:r>
            <a:endParaRPr lang="en-US" sz="1300" dirty="0"/>
          </a:p>
        </p:txBody>
      </p:sp>
      <p:sp>
        <p:nvSpPr>
          <p:cNvPr id="25" name="Tier 4"/>
          <p:cNvSpPr/>
          <p:nvPr/>
        </p:nvSpPr>
        <p:spPr>
          <a:xfrm>
            <a:off x="548640" y="3858768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26" name="Number 4"/>
          <p:cNvSpPr/>
          <p:nvPr/>
        </p:nvSpPr>
        <p:spPr>
          <a:xfrm>
            <a:off x="658368" y="39547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3954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58768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Guardian executor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858768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Settles verified quote payments and, in opt-in mode, dedicated escrow actions—after rechecking policy, quote, recipient, expiry, ID, caps, reserve, replay, exact transfer.</a:t>
            </a:r>
            <a:endParaRPr lang="en-US" sz="1300" dirty="0"/>
          </a:p>
        </p:txBody>
      </p:sp>
      <p:sp>
        <p:nvSpPr>
          <p:cNvPr id="30" name="Tier 5"/>
          <p:cNvSpPr/>
          <p:nvPr/>
        </p:nvSpPr>
        <p:spPr>
          <a:xfrm>
            <a:off x="548640" y="4462272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1" name="Number 5"/>
          <p:cNvSpPr/>
          <p:nvPr/>
        </p:nvSpPr>
        <p:spPr>
          <a:xfrm>
            <a:off x="658368" y="455828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5582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462272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Provider agent / signer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462272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Agent picks fixed offers; the signer issues quotes/attestations and manages the namespace. Provider-signed delivery remains a trust/oracle assumption.</a:t>
            </a:r>
            <a:endParaRPr lang="en-US" sz="1300" dirty="0"/>
          </a:p>
        </p:txBody>
      </p:sp>
      <p:sp>
        <p:nvSpPr>
          <p:cNvPr id="35" name="Tier 6"/>
          <p:cNvSpPr/>
          <p:nvPr/>
        </p:nvSpPr>
        <p:spPr>
          <a:xfrm>
            <a:off x="548640" y="5065776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36" name="Number 6"/>
          <p:cNvSpPr/>
          <p:nvPr/>
        </p:nvSpPr>
        <p:spPr>
          <a:xfrm>
            <a:off x="658368" y="516178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5161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065776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Reviewer capability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0" y="5065776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disposable workspace, whitelisted routes, limited time/capacity/rate; no owner/admin routes, arbitrary RPC, or other workspaces.</a:t>
            </a:r>
            <a:endParaRPr lang="en-US" sz="1300" dirty="0"/>
          </a:p>
        </p:txBody>
      </p:sp>
      <p:sp>
        <p:nvSpPr>
          <p:cNvPr id="40" name="Banner"/>
          <p:cNvSpPr/>
          <p:nvPr/>
        </p:nvSpPr>
        <p:spPr>
          <a:xfrm>
            <a:off x="548640" y="57150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7240" y="571500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Guarantee boundary: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Guardian limits apply to the tested agent route, not to other owner authority.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Direct settlement vs. opt-in escrow</a:t>
            </a:r>
            <a:endParaRPr lang="en-US" sz="3600" dirty="0"/>
          </a:p>
        </p:txBody>
      </p:sp>
      <p:sp>
        <p:nvSpPr>
          <p:cNvPr id="3" name="Card Direct settlement (default)"/>
          <p:cNvSpPr/>
          <p:nvPr/>
        </p:nvSpPr>
        <p:spPr>
          <a:xfrm>
            <a:off x="548640" y="1280160"/>
            <a:ext cx="5456225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3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 settlement (default)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388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28800"/>
            <a:ext cx="505388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session allows executePayments; tokens go to the provider after quote and policy validation.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Delivery follows payment, so a service failure can leave the task service_pending / owner attention.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Batchable (opt-in).</a:t>
            </a:r>
            <a:endParaRPr lang="en-US" sz="1400" dirty="0"/>
          </a:p>
        </p:txBody>
      </p:sp>
      <p:sp>
        <p:nvSpPr>
          <p:cNvPr id="7" name="Card Opt-in escrow (experimental)"/>
          <p:cNvSpPr/>
          <p:nvPr/>
        </p:nvSpPr>
        <p:spPr>
          <a:xfrm>
            <a:off x="6187745" y="1280160"/>
            <a:ext cx="5456225" cy="3063240"/>
          </a:xfrm>
          <a:prstGeom prst="roundRect">
            <a:avLst>
              <a:gd name="adj" fmla="val 3582"/>
            </a:avLst>
          </a:prstGeom>
          <a:solidFill>
            <a:srgbClr val="DDF1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88913" y="1389888"/>
            <a:ext cx="5053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Opt-in escrow (experimental)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88913" y="1755648"/>
            <a:ext cx="505388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88913" y="1828800"/>
            <a:ext cx="505388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new owner-authorized account with separate selectors: lockPayment, releaseEscrow, refundEscrow.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Payment stays locked until a provider-signer attestation or the refund deadline.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invoice per operation; no batching.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contract doesn't read a cloud database to judge quality—the signer's “ready” is an oracle/trust assumption.</a:t>
            </a:r>
            <a:endParaRPr lang="en-US" sz="1400" dirty="0"/>
          </a:p>
        </p:txBody>
      </p:sp>
      <p:sp>
        <p:nvSpPr>
          <p:cNvPr id="11" name="Chip Validate quote"/>
          <p:cNvSpPr/>
          <p:nvPr/>
        </p:nvSpPr>
        <p:spPr>
          <a:xfrm>
            <a:off x="5486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Validate quote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2121408" y="465429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Chip Pay provider"/>
          <p:cNvSpPr/>
          <p:nvPr/>
        </p:nvSpPr>
        <p:spPr>
          <a:xfrm>
            <a:off x="23774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505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 provider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3950208" y="465429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hip Check delivery"/>
          <p:cNvSpPr/>
          <p:nvPr/>
        </p:nvSpPr>
        <p:spPr>
          <a:xfrm>
            <a:off x="42062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793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delivery</a:t>
            </a:r>
            <a:endParaRPr lang="en-US" sz="1400" dirty="0"/>
          </a:p>
        </p:txBody>
      </p:sp>
      <p:sp>
        <p:nvSpPr>
          <p:cNvPr id="19" name="Chip Lock"/>
          <p:cNvSpPr/>
          <p:nvPr/>
        </p:nvSpPr>
        <p:spPr>
          <a:xfrm>
            <a:off x="6187745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0897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Lock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339889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2" name="Chip Stage &amp; test"/>
          <p:cNvSpPr/>
          <p:nvPr/>
        </p:nvSpPr>
        <p:spPr>
          <a:xfrm>
            <a:off x="7577633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0785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Stage &amp; test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8729777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5" name="Chip Attest"/>
          <p:cNvSpPr/>
          <p:nvPr/>
        </p:nvSpPr>
        <p:spPr>
          <a:xfrm>
            <a:off x="8967521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0673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Attest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0119665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8" name="Chip Release"/>
          <p:cNvSpPr/>
          <p:nvPr/>
        </p:nvSpPr>
        <p:spPr>
          <a:xfrm>
            <a:off x="10357409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30561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Release</a:t>
            </a:r>
            <a:endParaRPr lang="en-US" sz="1400" dirty="0"/>
          </a:p>
        </p:txBody>
      </p:sp>
      <p:sp>
        <p:nvSpPr>
          <p:cNvPr id="30" name="Chip Deadline ≤ 24 h → refund to account"/>
          <p:cNvSpPr/>
          <p:nvPr/>
        </p:nvSpPr>
        <p:spPr>
          <a:xfrm>
            <a:off x="6187745" y="5102352"/>
            <a:ext cx="3291840" cy="365760"/>
          </a:xfrm>
          <a:prstGeom prst="roundRect">
            <a:avLst>
              <a:gd name="adj" fmla="val 25000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0897" y="51023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Deadline ≤ 24 h → refund to account</a:t>
            </a:r>
            <a:endParaRPr lang="en-US" sz="1400" dirty="0"/>
          </a:p>
        </p:txBody>
      </p:sp>
      <p:sp>
        <p:nvSpPr>
          <p:cNvPr id="32" name="Caveat banner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235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Escrow limits: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 time is capped at 24 h and refund is possible only after the deadline; a used invoice ID stays consumed, so re-buying needs a new quote. Tested, but not a guarantee of dispute-free fulfillment.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Controls: identity, session, and secrets</a:t>
            </a:r>
            <a:endParaRPr lang="en-US" sz="3600" dirty="0"/>
          </a:p>
        </p:txBody>
      </p:sp>
      <p:sp>
        <p:nvSpPr>
          <p:cNvPr id="3" name="Card Owner login"/>
          <p:cNvSpPr/>
          <p:nvPr/>
        </p:nvSpPr>
        <p:spPr>
          <a:xfrm>
            <a:off x="548640" y="128016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Icon circle Owner login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Owner login" descr="Owner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Owner login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4965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Address-bound one-time nonce with expiry; short bearer session; one owner session per API instance.</a:t>
            </a:r>
            <a:endParaRPr lang="en-US" sz="1400" dirty="0"/>
          </a:p>
        </p:txBody>
      </p:sp>
      <p:sp>
        <p:nvSpPr>
          <p:cNvPr id="8" name="Card Owner setup"/>
          <p:cNvSpPr/>
          <p:nvPr/>
        </p:nvSpPr>
        <p:spPr>
          <a:xfrm>
            <a:off x="6126480" y="128016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Icon circle Owner setup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Owner setup" descr="Owner set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Owner setup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2148840"/>
            <a:ext cx="4965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owner signs a specific intent; the client cannot choose arbitrary calldata, factory, policy, or gas.</a:t>
            </a:r>
            <a:endParaRPr lang="en-US" sz="1400" dirty="0"/>
          </a:p>
        </p:txBody>
      </p:sp>
      <p:sp>
        <p:nvSpPr>
          <p:cNvPr id="13" name="Card Credential separation"/>
          <p:cNvSpPr/>
          <p:nvPr/>
        </p:nvSpPr>
        <p:spPr>
          <a:xfrm>
            <a:off x="548640" y="374904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Icon circle Credential separation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Credential separation" descr="Credential sepa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0576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3192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Credential separation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617720"/>
            <a:ext cx="4965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key, worker session credential, provider signer credential, and the AI key live in separate processes/secret files. The browser gets no Groq key, DB URL, or signed-operation journal.</a:t>
            </a:r>
            <a:endParaRPr lang="en-US" sz="1400" dirty="0"/>
          </a:p>
        </p:txBody>
      </p:sp>
      <p:sp>
        <p:nvSpPr>
          <p:cNvPr id="18" name="Card Secret hygiene"/>
          <p:cNvSpPr/>
          <p:nvPr/>
        </p:nvSpPr>
        <p:spPr>
          <a:xfrm>
            <a:off x="6126480" y="3749040"/>
            <a:ext cx="54223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Icon circle Secret hygiene"/>
          <p:cNvSpPr/>
          <p:nvPr/>
        </p:nvSpPr>
        <p:spPr>
          <a:xfrm>
            <a:off x="6355080" y="3931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 Secret hygiene" descr="Secret hygie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40576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393192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Secret hygiene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4617720"/>
            <a:ext cx="4965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Reviewer uses disposable wallets/keys on an isolated fork—not owner/Supabase credentials. .env and .local are ignored; deployment secrets go in a secret manager, never build args or the repo.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Controls: model, quote, and smart contract</a:t>
            </a:r>
            <a:endParaRPr lang="en-US" sz="3600" dirty="0"/>
          </a:p>
        </p:txBody>
      </p:sp>
      <p:sp>
        <p:nvSpPr>
          <p:cNvPr id="3" name="Card Model, request, and quote"/>
          <p:cNvSpPr/>
          <p:nvPr/>
        </p:nvSpPr>
        <p:spPr>
          <a:xfrm>
            <a:off x="548640" y="1280160"/>
            <a:ext cx="5458968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Model, request, and quote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6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Explicit model/provider ID; strict JSON Schema + Zod; bounded input, completion, concurrency, timeouts; malformed/truncated output rejected; no automatic model fallback.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never makes balances, prices, recipients, or transaction status; those come from chain/DB and the provider's signed quote.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EIP-712 quote binds chain/domain, account, provider, invoice, service hash, token, recipient, amount, expiry.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Vendor text is untrusted data, extracted into limited fields by a tool-less parser. Escaping and prompt separation are mitigations, not guarantees.</a:t>
            </a:r>
            <a:endParaRPr lang="en-US" sz="1400" dirty="0"/>
          </a:p>
        </p:txBody>
      </p:sp>
      <p:sp>
        <p:nvSpPr>
          <p:cNvPr id="7" name="Card Smart account and contract"/>
          <p:cNvSpPr/>
          <p:nvPr/>
        </p:nvSpPr>
        <p:spPr>
          <a:xfrm>
            <a:off x="6190488" y="1280160"/>
            <a:ext cx="5449824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1656" y="138988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Smart account and contract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91656" y="1755648"/>
            <a:ext cx="504748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1828800"/>
            <a:ext cx="50292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Guardian is an ERC-7579 executor; tokens stay in the Kernel account on the direct path.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Checked on-chain: per-payment and UTC-day limits, protected balance, recipients, expiry, policy version, replay ID, pause.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Batches capped at 10; IDs/spend recorded before external calls; reentrancy guard, transfer-return semantics, post-transfer reserve, exact outflow.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failing item reverts the whole batch; already-consumed gas isn't refunded.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Assets must be standard ERC-20; fee-on-transfer, rebase, or callback tokens aren't guaranteed.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Controls: recovery, delivery, reviewer isolation</a:t>
            </a:r>
            <a:endParaRPr lang="en-US" sz="3600" dirty="0"/>
          </a:p>
        </p:txBody>
      </p:sp>
      <p:sp>
        <p:nvSpPr>
          <p:cNvPr id="3" name="Card Persist-before-send"/>
          <p:cNvSpPr/>
          <p:nvPr/>
        </p:nvSpPr>
        <p:spPr>
          <a:xfrm>
            <a:off x="548640" y="1280160"/>
            <a:ext cx="3576218" cy="4937760"/>
          </a:xfrm>
          <a:prstGeom prst="roundRect">
            <a:avLst>
              <a:gd name="adj" fmla="val 306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Persist-before-send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317388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11901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Lease/fencing limits concurrent worker claims; tasks and operation attempts are separate.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exact signed payload, expected hash, keyed nonce, expiry, policy, and batch membership are stored before send.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unknown never triggers an automatic fresh-nonce send; the worker traces receipt/hash, sender, nonce, events, consumed IDs, confirmations.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Conflicts → pending/needs_review; scheduling can pause while read-only reconciliation continues.</a:t>
            </a:r>
            <a:endParaRPr lang="en-US" sz="1400" dirty="0"/>
          </a:p>
        </p:txBody>
      </p:sp>
      <p:sp>
        <p:nvSpPr>
          <p:cNvPr id="7" name="Card Settlement vs. delivery"/>
          <p:cNvSpPr/>
          <p:nvPr/>
        </p:nvSpPr>
        <p:spPr>
          <a:xfrm>
            <a:off x="4307738" y="1280160"/>
            <a:ext cx="3576218" cy="4937760"/>
          </a:xfrm>
          <a:prstGeom prst="roundRect">
            <a:avLst>
              <a:gd name="adj" fmla="val 306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08906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Settlement vs. delivery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08906" y="1755648"/>
            <a:ext cx="317388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36338" y="1874520"/>
            <a:ext cx="311901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paid only after a confirmed matching settlement.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completed needs a delivery signature plus a probe/write-read, depending on mode.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Retrying delivery never pays the invoice again.</a:t>
            </a:r>
            <a:endParaRPr lang="en-US" sz="1400" dirty="0"/>
          </a:p>
        </p:txBody>
      </p:sp>
      <p:sp>
        <p:nvSpPr>
          <p:cNvPr id="11" name="Card Reviewer isolation"/>
          <p:cNvSpPr/>
          <p:nvPr/>
        </p:nvSpPr>
        <p:spPr>
          <a:xfrm>
            <a:off x="8066837" y="1280160"/>
            <a:ext cx="3576218" cy="4937760"/>
          </a:xfrm>
          <a:prstGeom prst="roundRect">
            <a:avLst>
              <a:gd name="adj" fmla="val 306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8005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Reviewer isolation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68005" y="1755648"/>
            <a:ext cx="317388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95437" y="1874520"/>
            <a:ext cx="311901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Capability for one workspace, whitelisted routes, bounded request/model rates and sessions.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PGlite, wallet, provider, and fork state are separate; session A can't read session B.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Internal signer/bundler listeners are loopback; no arbitrary public RPC proxy; close/expiry frees resources after active requests.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adversarial and jailbreak regression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4206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280160"/>
            <a:ext cx="6519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Protocol: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Groq openai/gpt-oss-120b; strict JSON Schema, temperature 0, reasoning effort low, bounded input/completion, serial concurrency.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Corpus: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30 unique prompts × 2 = 60 observations (planner 16, buyer 16, provider 12, vendor parser 16).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Attacks: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owner impersonation, ignore-policy/reserve, fake prior approval, role/system spoofing, drain/recipient/price swap, unlimited approval, XML breakout, hidden HTML, Unicode/RTL, base64, JSON/tool spoof.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Controls: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payment within policy, a valid catalog choice, explicit wait/no action.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Impact: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synthetic finances; no signing key or tool; no payment or UserOperation.</a:t>
            </a:r>
            <a:endParaRPr lang="en-US" sz="1300" dirty="0"/>
          </a:p>
        </p:txBody>
      </p:sp>
      <p:sp>
        <p:nvSpPr>
          <p:cNvPr id="5" name="Track Planner"/>
          <p:cNvSpPr/>
          <p:nvPr/>
        </p:nvSpPr>
        <p:spPr>
          <a:xfrm>
            <a:off x="548640" y="4617720"/>
            <a:ext cx="2636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617720"/>
            <a:ext cx="2636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16/16  </a:t>
            </a:r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Planner</a:t>
            </a:r>
            <a:endParaRPr lang="en-US" sz="1400" dirty="0"/>
          </a:p>
        </p:txBody>
      </p:sp>
      <p:sp>
        <p:nvSpPr>
          <p:cNvPr id="7" name="Track Buyer"/>
          <p:cNvSpPr/>
          <p:nvPr/>
        </p:nvSpPr>
        <p:spPr>
          <a:xfrm>
            <a:off x="3367735" y="4617720"/>
            <a:ext cx="2636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67735" y="4617720"/>
            <a:ext cx="2636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16/16  </a:t>
            </a:r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Buyer</a:t>
            </a:r>
            <a:endParaRPr lang="en-US" sz="1400" dirty="0"/>
          </a:p>
        </p:txBody>
      </p:sp>
      <p:sp>
        <p:nvSpPr>
          <p:cNvPr id="9" name="Track Provider"/>
          <p:cNvSpPr/>
          <p:nvPr/>
        </p:nvSpPr>
        <p:spPr>
          <a:xfrm>
            <a:off x="6186830" y="4617720"/>
            <a:ext cx="2636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86830" y="4617720"/>
            <a:ext cx="2636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12/12  </a:t>
            </a:r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Provider</a:t>
            </a:r>
            <a:endParaRPr lang="en-US" sz="1400" dirty="0"/>
          </a:p>
        </p:txBody>
      </p:sp>
      <p:sp>
        <p:nvSpPr>
          <p:cNvPr id="11" name="Track Vendor"/>
          <p:cNvSpPr/>
          <p:nvPr/>
        </p:nvSpPr>
        <p:spPr>
          <a:xfrm>
            <a:off x="9005926" y="4617720"/>
            <a:ext cx="2636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05926" y="4617720"/>
            <a:ext cx="2636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16/16  </a:t>
            </a:r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Vendor</a:t>
            </a:r>
            <a:endParaRPr lang="en-US" sz="1400" dirty="0"/>
          </a:p>
        </p:txBody>
      </p:sp>
      <p:sp>
        <p:nvSpPr>
          <p:cNvPr id="13" name="Caveat banner"/>
          <p:cNvSpPr/>
          <p:nvPr/>
        </p:nvSpPr>
        <p:spPr>
          <a:xfrm>
            <a:off x="548640" y="5577840"/>
            <a:ext cx="11094415" cy="713232"/>
          </a:xfrm>
          <a:prstGeom prst="roundRect">
            <a:avLst>
              <a:gd name="adj" fmla="val 12821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55778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to read 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60/60 is an in-sample regression after schema/prompt refinement; the six baseline errors are inconclusive. It is not 60 independent attacks, an audit, a held-out benchmark, or a proof of injection immunity.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Authorization bypass evidence on a fork</a:t>
            </a:r>
            <a:endParaRPr lang="en-US" sz="3600" dirty="0"/>
          </a:p>
        </p:txBody>
      </p:sp>
      <p:sp>
        <p:nvSpPr>
          <p:cNvPr id="3" name="Allowed card"/>
          <p:cNvSpPr/>
          <p:nvPr/>
        </p:nvSpPr>
        <p:spPr>
          <a:xfrm>
            <a:off x="548640" y="1280160"/>
            <a:ext cx="3291840" cy="39776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4" name="Icon circle Allowed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Allowed" descr="Allow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Allowed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legitimate session payment.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Actual Kernel/EntryPoint/Guardian on an isolated fork; hashes are not public Base Sepolia transactions.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Denied</a:t>
            </a:r>
            <a:endParaRPr lang="en-US" sz="1800" dirty="0"/>
          </a:p>
        </p:txBody>
      </p:sp>
      <p:sp>
        <p:nvSpPr>
          <p:cNvPr id="10" name="Chip Direct transfer"/>
          <p:cNvSpPr/>
          <p:nvPr/>
        </p:nvSpPr>
        <p:spPr>
          <a:xfrm>
            <a:off x="4069080" y="178308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42232" y="17830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 transfer</a:t>
            </a:r>
            <a:endParaRPr lang="en-US" sz="1400" dirty="0"/>
          </a:p>
        </p:txBody>
      </p:sp>
      <p:sp>
        <p:nvSpPr>
          <p:cNvPr id="12" name="Chip Infinite approval"/>
          <p:cNvSpPr/>
          <p:nvPr/>
        </p:nvSpPr>
        <p:spPr>
          <a:xfrm>
            <a:off x="6656832" y="178308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29984" y="17830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Infinite approval</a:t>
            </a:r>
            <a:endParaRPr lang="en-US" sz="1400" dirty="0"/>
          </a:p>
        </p:txBody>
      </p:sp>
      <p:sp>
        <p:nvSpPr>
          <p:cNvPr id="14" name="Chip Policy admin"/>
          <p:cNvSpPr/>
          <p:nvPr/>
        </p:nvSpPr>
        <p:spPr>
          <a:xfrm>
            <a:off x="9244584" y="178308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17736" y="17830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Policy admin</a:t>
            </a:r>
            <a:endParaRPr lang="en-US" sz="1400" dirty="0"/>
          </a:p>
        </p:txBody>
      </p:sp>
      <p:sp>
        <p:nvSpPr>
          <p:cNvPr id="16" name="Chip transferFrom"/>
          <p:cNvSpPr/>
          <p:nvPr/>
        </p:nvSpPr>
        <p:spPr>
          <a:xfrm>
            <a:off x="4069080" y="265176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42232" y="26517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transferFrom</a:t>
            </a:r>
            <a:endParaRPr lang="en-US" sz="1400" dirty="0"/>
          </a:p>
        </p:txBody>
      </p:sp>
      <p:sp>
        <p:nvSpPr>
          <p:cNvPr id="18" name="Chip Permit selector"/>
          <p:cNvSpPr/>
          <p:nvPr/>
        </p:nvSpPr>
        <p:spPr>
          <a:xfrm>
            <a:off x="6656832" y="265176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29984" y="26517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Permit selector</a:t>
            </a:r>
            <a:endParaRPr lang="en-US" sz="1400" dirty="0"/>
          </a:p>
        </p:txBody>
      </p:sp>
      <p:sp>
        <p:nvSpPr>
          <p:cNvPr id="20" name="Chip Compromised-planner drain"/>
          <p:cNvSpPr/>
          <p:nvPr/>
        </p:nvSpPr>
        <p:spPr>
          <a:xfrm>
            <a:off x="9244584" y="265176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17736" y="26517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Compromised-planner drain</a:t>
            </a:r>
            <a:endParaRPr lang="en-US" sz="1400" dirty="0"/>
          </a:p>
        </p:txBody>
      </p:sp>
      <p:sp>
        <p:nvSpPr>
          <p:cNvPr id="22" name="Chip Mixed batch"/>
          <p:cNvSpPr/>
          <p:nvPr/>
        </p:nvSpPr>
        <p:spPr>
          <a:xfrm>
            <a:off x="4069080" y="352044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42232" y="35204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batch</a:t>
            </a:r>
            <a:endParaRPr lang="en-US" sz="1400" dirty="0"/>
          </a:p>
        </p:txBody>
      </p:sp>
      <p:sp>
        <p:nvSpPr>
          <p:cNvPr id="24" name="Chip Delegatecall"/>
          <p:cNvSpPr/>
          <p:nvPr/>
        </p:nvSpPr>
        <p:spPr>
          <a:xfrm>
            <a:off x="6656832" y="352044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29984" y="35204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Delegatecall</a:t>
            </a:r>
            <a:endParaRPr lang="en-US" sz="1400" dirty="0"/>
          </a:p>
        </p:txBody>
      </p:sp>
      <p:sp>
        <p:nvSpPr>
          <p:cNvPr id="26" name="Chip Nested Kernel execution"/>
          <p:cNvSpPr/>
          <p:nvPr/>
        </p:nvSpPr>
        <p:spPr>
          <a:xfrm>
            <a:off x="9244584" y="352044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17736" y="35204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Nested Kernel execution</a:t>
            </a:r>
            <a:endParaRPr lang="en-US" sz="1400" dirty="0"/>
          </a:p>
        </p:txBody>
      </p:sp>
      <p:sp>
        <p:nvSpPr>
          <p:cNvPr id="28" name="Chip Session after owner revoke"/>
          <p:cNvSpPr/>
          <p:nvPr/>
        </p:nvSpPr>
        <p:spPr>
          <a:xfrm>
            <a:off x="4069080" y="438912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42232" y="43891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 after owner revoke</a:t>
            </a:r>
            <a:endParaRPr lang="en-US" sz="1400" dirty="0"/>
          </a:p>
        </p:txBody>
      </p:sp>
      <p:sp>
        <p:nvSpPr>
          <p:cNvPr id="30" name="Chip ERC-1271 session signature"/>
          <p:cNvSpPr/>
          <p:nvPr/>
        </p:nvSpPr>
        <p:spPr>
          <a:xfrm>
            <a:off x="6656832" y="4389120"/>
            <a:ext cx="2450592" cy="731520"/>
          </a:xfrm>
          <a:prstGeom prst="roundRect">
            <a:avLst>
              <a:gd name="adj" fmla="val 12500"/>
            </a:avLst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9984" y="43891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ERC-1271 session signature</a:t>
            </a:r>
            <a:endParaRPr lang="en-US" sz="1400" dirty="0"/>
          </a:p>
        </p:txBody>
      </p:sp>
      <p:sp>
        <p:nvSpPr>
          <p:cNvPr id="32" name="Caveat banner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11111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7240" y="544068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Permit limit: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session rejects the permit selector, but the MockUSD fixture doesn't implement EIP-2612—this is not a test of full token permit/Permit2 behavior.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Reliability and transaction evidence</a:t>
            </a:r>
            <a:endParaRPr lang="en-US" sz="3600" dirty="0"/>
          </a:p>
        </p:txBody>
      </p:sp>
      <p:sp>
        <p:nvSpPr>
          <p:cNvPr id="3" name="Stat 1 send"/>
          <p:cNvSpPr/>
          <p:nvPr/>
        </p:nvSpPr>
        <p:spPr>
          <a:xfrm>
            <a:off x="548640" y="1280160"/>
            <a:ext cx="357621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 send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lost response on a real Kernel fork: the task recovered to paid with no second send</a:t>
            </a:r>
            <a:endParaRPr lang="en-US" sz="1400" dirty="0"/>
          </a:p>
        </p:txBody>
      </p:sp>
      <p:sp>
        <p:nvSpPr>
          <p:cNvPr id="6" name="Stat 102"/>
          <p:cNvSpPr/>
          <p:nvPr/>
        </p:nvSpPr>
        <p:spPr>
          <a:xfrm>
            <a:off x="4307738" y="1280160"/>
            <a:ext cx="357621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90618" y="137160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90618" y="205740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confirmations recorded for public AI-01 (0.26 MockUSD, matching settlement)</a:t>
            </a:r>
            <a:endParaRPr lang="en-US" sz="1400" dirty="0"/>
          </a:p>
        </p:txBody>
      </p:sp>
      <p:sp>
        <p:nvSpPr>
          <p:cNvPr id="9" name="Stat 104+7 · 17 · 17"/>
          <p:cNvSpPr/>
          <p:nvPr/>
        </p:nvSpPr>
        <p:spPr>
          <a:xfrm>
            <a:off x="8066837" y="1280160"/>
            <a:ext cx="357621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49717" y="137160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104+7 · 17 · 17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49717" y="205740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integration+web · contract/fork · browser cases</a:t>
            </a:r>
            <a:endParaRPr lang="en-US" sz="1400" dirty="0"/>
          </a:p>
        </p:txBody>
      </p:sp>
      <p:sp>
        <p:nvSpPr>
          <p:cNvPr id="12" name="Scenario list"/>
          <p:cNvSpPr/>
          <p:nvPr/>
        </p:nvSpPr>
        <p:spPr>
          <a:xfrm>
            <a:off x="548640" y="28803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Reconciliation fixtures: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confirmed/pending receipts, reorg, confirmation delay, nonce mismatch/advance, consumed ID without receipt, partial batch evidence, outer-transaction revert, event-lookup limit, lagging head, timeout, bundler/RPC unavailable.</a:t>
            </a:r>
            <a:endParaRPr lang="en-US" sz="1400" dirty="0"/>
          </a:p>
        </p:txBody>
      </p:sp>
      <p:sp>
        <p:nvSpPr>
          <p:cNvPr id="14" name="Card Process restart"/>
          <p:cNvSpPr/>
          <p:nvPr/>
        </p:nvSpPr>
        <p:spPr>
          <a:xfrm>
            <a:off x="548640" y="416052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27024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Process restart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63600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second PGlite worker process reloaded the durable attempt and reconciled it without creating a new transaction.</a:t>
            </a:r>
            <a:endParaRPr lang="en-US" sz="1400" dirty="0"/>
          </a:p>
        </p:txBody>
      </p:sp>
      <p:sp>
        <p:nvSpPr>
          <p:cNvPr id="17" name="Card COST-01"/>
          <p:cNvSpPr/>
          <p:nvPr/>
        </p:nvSpPr>
        <p:spPr>
          <a:xfrm>
            <a:off x="4307738" y="416052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8906" y="427024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COST-01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08906" y="463600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 vs. batch, three runs per mode on a consistent fork; the metric is EVM gas, not USD.</a:t>
            </a:r>
            <a:endParaRPr lang="en-US" sz="1400" dirty="0"/>
          </a:p>
        </p:txBody>
      </p:sp>
      <p:sp>
        <p:nvSpPr>
          <p:cNvPr id="20" name="Card Reviewer browser"/>
          <p:cNvSpPr/>
          <p:nvPr/>
        </p:nvSpPr>
        <p:spPr>
          <a:xfrm>
            <a:off x="8066837" y="416052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68005" y="427024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Reviewer browser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68005" y="463600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hosted model for the recorded path, but chain execution runs on an isolated fork.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Tests passing do not guarantee freedom from risk, availability, or production configuration.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Known risks and residual limits (1/3)</a:t>
            </a:r>
            <a:endParaRPr lang="en-US" sz="3600" dirty="0"/>
          </a:p>
        </p:txBody>
      </p:sp>
      <p:graphicFrame>
        <p:nvGraphicFramePr>
          <p:cNvPr id="14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3749040"/>
                <a:gridCol w="35963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Impact / current status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 / follow-up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independent audit or formal verification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Solidity, permission, or recovery bugs remain possible; internal suites aren't an audit.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Third-party contract/app audit; permission bytecode review; fuzz/invariant/formal checks before valuable funds.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 compromise, malicious owner action, other modules, old allowances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owner can change policy or withdraw; old spenders/modules may sit outside the agent route's reserve guard.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 from a fresh zero-allowance account; inventory modules/sessions/allowances; monitor revokes; incident procedure.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Hot session/provider signer keys; privileged DB credential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host compromise could misuse limited authority or forge provider attestations/quotes.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Secret manager/HSM, rotation, isolated signer, least-privilege DB, access audit, key-revocation procedure.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Provider-signed delivery is a trust oracle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contract proves the signer attested readiness—not service quality or continued availability.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Attestation policy, independent monitoring/probes, dispute/refund design, ongoing verification.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 and delivery aren't atomic in direct mode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provider can fail after confirmed payment; the invoice isn't refunded automatically.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 escrow only if its trust model fits; bounded retry, owner attention, a provider refund/dispute policy.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Known risks and residual limits (2/3)</a:t>
            </a:r>
            <a:endParaRPr lang="en-US" sz="3600" dirty="0"/>
          </a:p>
        </p:txBody>
      </p:sp>
      <p:graphicFrame>
        <p:nvGraphicFramePr>
          <p:cNvPr id="15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3749040"/>
                <a:gridCol w="35963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Impact / current status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 / follow-up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Medium–high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Prompt injection / model misinterpretation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model may suggest an unnecessary purchase within limits; the 60/60 corpus doesn't predict all attacks.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Held-out multilingual corpus, independent red team, human review per risk tier, false-accept/refusal audit; keep contract enforcement.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Medium–high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Send ambiguity, reorg, RPC/bundler outage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Tasks can stay unknown/needs_review; a human may need to resolve conflicts.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Multi-provider/confirmation policy, production reorg stress, incident console, operator procedure; no blind retry.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UTC fixed-day budget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 owner can spend on both sides of midnight faster than in a rolling 24 h.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 a rolling-window cap if required; state the UTC-day definition clearly.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Token behavior differs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Fee-on-transfer, rebase, callback, or non-standard tokens can break the exact-balance-delta assumption.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Keep a small tested token allowlist; test any new token first.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Batching raises queue latency and failure blast radius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invalid quote/transfer reverts the whole atomic batch; a shorter deadline can defeat aggregation.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Keep default batch size 1; opt-in rollout, bounded size/window, observability, staging load test.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Known risks and residual limits (3/3)</a:t>
            </a:r>
            <a:endParaRPr lang="en-US" sz="3600" dirty="0"/>
          </a:p>
        </p:txBody>
      </p:sp>
      <p:graphicFrame>
        <p:nvGraphicFramePr>
          <p:cNvPr id="16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3749040"/>
                <a:gridCol w="35963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Impact / current status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 / follow-up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Economics exclude production costs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COST-01 omits OP L1-data, commercial bundler/paymaster pricing, hosting/model costs, congestion.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Measure all-in cost on the target chain with recorded prices/timestamps/payer before any ROI claim.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model compromise, availability, data privacy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User/vendor requests go to the model provider; quota, outage, or policy changes affect function and confidentiality.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Minimize prompt data, review retention terms, rotate keys, rate-limit; fail closed with no undocumented fallback.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Single-owner / single-instance design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In-memory login/session and one owner/account don't prove horizontal scale, multi-tenant auth, or distributed race safety.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Design durable sessions, multi-instance locks, and tenant isolation before scaling out.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 dependency advisories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runtime advisories; the full tree has 4 moderate (Drizzle/esbuild toolchain). Not a security audit.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Update compatible dependencies, review advisories regularly, minimize build dependencies in the runtime image.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Free/Trial hosting, quota, China network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Credit, RAM/CPU, cold start, lifetime, and reachability are no SLA; three probes don't guarantee every network or judge.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Monitor entitlement; smoke-test the real host/network; one-workspace capacity; keep a local demo and offline evidence.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Release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 Sepolia test-token acceptance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real public testnet transaction, not mainnet; organizer acceptance of testnet isn't assumed.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Label every transaction/test token explicitly; keep any official confirmation separately.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Dependency status and release scope</a:t>
            </a:r>
            <a:endParaRPr lang="en-US" sz="3600" dirty="0"/>
          </a:p>
        </p:txBody>
      </p:sp>
      <p:sp>
        <p:nvSpPr>
          <p:cNvPr id="3" name="Stat 0"/>
          <p:cNvSpPr/>
          <p:nvPr/>
        </p:nvSpPr>
        <p:spPr>
          <a:xfrm>
            <a:off x="548640" y="1280160"/>
            <a:ext cx="545896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093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5093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known runtime advisories in the project's last recorded scan</a:t>
            </a:r>
            <a:endParaRPr lang="en-US" sz="1400" dirty="0"/>
          </a:p>
        </p:txBody>
      </p:sp>
      <p:sp>
        <p:nvSpPr>
          <p:cNvPr id="6" name="Stat 4 moderate"/>
          <p:cNvSpPr/>
          <p:nvPr/>
        </p:nvSpPr>
        <p:spPr>
          <a:xfrm>
            <a:off x="6190488" y="1280160"/>
            <a:ext cx="5449824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73368" y="1371600"/>
            <a:ext cx="5084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 moderate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373368" y="205740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advisories in the full dev dependency tree (Drizzle/esbuild toolchain)</a:t>
            </a:r>
            <a:endParaRPr lang="en-US" sz="1400" dirty="0"/>
          </a:p>
        </p:txBody>
      </p:sp>
      <p:sp>
        <p:nvSpPr>
          <p:cNvPr id="9" name="Card What the scan does and doesn't say"/>
          <p:cNvSpPr/>
          <p:nvPr/>
        </p:nvSpPr>
        <p:spPr>
          <a:xfrm>
            <a:off x="548640" y="2926080"/>
            <a:ext cx="5458968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03580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the scan does and doesn't say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01568"/>
            <a:ext cx="505663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Build-only tooling is excluded from the reviewer runtime image.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Docker image status must be verified by actually building/deploying, not from configuration alone.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public GPT-OSS service depends on Groq quota/key; no automatic paid fallback.</a:t>
            </a:r>
            <a:endParaRPr lang="en-US" sz="1400" dirty="0"/>
          </a:p>
        </p:txBody>
      </p:sp>
      <p:sp>
        <p:nvSpPr>
          <p:cNvPr id="13" name="Card Not yet proven"/>
          <p:cNvSpPr/>
          <p:nvPr/>
        </p:nvSpPr>
        <p:spPr>
          <a:xfrm>
            <a:off x="6190488" y="2926080"/>
            <a:ext cx="5449824" cy="3337560"/>
          </a:xfrm>
          <a:prstGeom prst="roundRect">
            <a:avLst>
              <a:gd name="adj" fmla="val 3288"/>
            </a:avLst>
          </a:prstGeom>
          <a:solidFill>
            <a:srgbClr val="FCEF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1656" y="303580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 yet proven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3401568"/>
            <a:ext cx="50474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Mainnet funds and a multi-owner product.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High-volume worker deployment and production service-level metrics.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Hosted Free/Trial deployment is no uptime agreement; the reviewer access code is shared privately.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Bottom 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design with real evidence—and its limits stated openly.</a:t>
            </a:r>
            <a:endParaRPr lang="en-US" sz="3000" dirty="0"/>
          </a:p>
        </p:txBody>
      </p:sp>
      <p:sp>
        <p:nvSpPr>
          <p:cNvPr id="4" name="Closing In place"/>
          <p:cNvSpPr/>
          <p:nvPr/>
        </p:nvSpPr>
        <p:spPr>
          <a:xfrm>
            <a:off x="548640" y="2606040"/>
            <a:ext cx="3576218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5" name="Icon circle In place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In place" descr="In 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 place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separated from authorization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Contract-level limits on the agent route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Persist-before-send with reconciliation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Opt-in escrow with a 24 h cap</a:t>
            </a:r>
            <a:endParaRPr lang="en-US" sz="1400" dirty="0"/>
          </a:p>
        </p:txBody>
      </p:sp>
      <p:sp>
        <p:nvSpPr>
          <p:cNvPr id="9" name="Closing Not claimed"/>
          <p:cNvSpPr/>
          <p:nvPr/>
        </p:nvSpPr>
        <p:spPr>
          <a:xfrm>
            <a:off x="4307738" y="2606040"/>
            <a:ext cx="3576218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10" name="Icon circle Not claimed"/>
          <p:cNvSpPr/>
          <p:nvPr/>
        </p:nvSpPr>
        <p:spPr>
          <a:xfrm>
            <a:off x="4536338" y="2788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Not claimed" descr="Not claim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926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7858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Not claimed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36338" y="3520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Independent audit or formal verification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Mainnet security or full production cost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Multi-tenant isolation or an uptime SLA</a:t>
            </a:r>
            <a:endParaRPr lang="en-US" sz="1400" dirty="0"/>
          </a:p>
        </p:txBody>
      </p:sp>
      <p:sp>
        <p:nvSpPr>
          <p:cNvPr id="14" name="Closing Next"/>
          <p:cNvSpPr/>
          <p:nvPr/>
        </p:nvSpPr>
        <p:spPr>
          <a:xfrm>
            <a:off x="8066837" y="2606040"/>
            <a:ext cx="3576218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15" name="Icon circle Next"/>
          <p:cNvSpPr/>
          <p:nvPr/>
        </p:nvSpPr>
        <p:spPr>
          <a:xfrm>
            <a:off x="8295437" y="2788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Next" descr="N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926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26957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95437" y="35204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Third-party contract/app audit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Held-out multilingual red team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Secret manager/HSM and key rotation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All-in fee measurement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Internal references: docs/security-assessment.md · docs/technical-documentation.md · docs/architecture.md · docs/evidence/ (CLOUD-VALIDATION, security-kernel-fork, cost-fork) · tests/integration · contracts/test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Astra">
  <a:themeElements>
    <a:clrScheme name="Guardian Astra">
      <a:dk1>
        <a:srgbClr val="0B1F2A"/>
      </a:dk1>
      <a:lt1>
        <a:srgbClr val="FFFFFF"/>
      </a:lt1>
      <a:dk2>
        <a:srgbClr val="17404F"/>
      </a:dk2>
      <a:lt2>
        <a:srgbClr val="EEF4F3"/>
      </a:lt2>
      <a:accent1>
        <a:srgbClr val="13A898"/>
      </a:accent1>
      <a:accent2>
        <a:srgbClr val="F4A300"/>
      </a:accent2>
      <a:accent3>
        <a:srgbClr val="D64045"/>
      </a:accent3>
      <a:accent4>
        <a:srgbClr val="5E7380"/>
      </a:accent4>
      <a:accent5>
        <a:srgbClr val="2A7F9E"/>
      </a:accent5>
      <a:accent6>
        <a:srgbClr val="8FD3C8"/>
      </a:accent6>
      <a:hlink>
        <a:srgbClr val="0B7A6F"/>
      </a:hlink>
      <a:folHlink>
        <a:srgbClr val="5E7380"/>
      </a:folHlink>
    </a:clrScheme>
    <a:fontScheme name="Guardian As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Wallet: Astra — Security Self-Assessment</dc:title>
  <dc:subject>Guardian Wallet: Astra — International Track, Topic F</dc:subject>
  <dc:creator>PptxGenJS</dc:creator>
  <cp:lastModifiedBy>PptxGenJS</cp:lastModifiedBy>
  <cp:revision>1</cp:revision>
  <dcterms:created xsi:type="dcterms:W3CDTF">2026-10-20T01:11:44Z</dcterms:created>
  <dcterms:modified xsi:type="dcterms:W3CDTF">2026-10-20T01:11:44Z</dcterms:modified>
</cp:coreProperties>
</file>