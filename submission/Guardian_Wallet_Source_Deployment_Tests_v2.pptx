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ource code and deployment" id="{3f892690-c0ed-95a5-41d1-e4efd5df408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built from 02-source-code-deployment-and-tests.md (version of 19 October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1. The README is at github.com/farisal123uy/LombaGoestoChina/blob/feat/batching-evaluation/README.md.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2, repository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3, running the app scaffold. The financial runtime uses per-service .env.example templates.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4, local reviewer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4, Docker reviewer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4. Full recorded public build ID: 912063431ea05c663abd9df36bdff047687006d5cf8ea9fde87ba8b9b0f9d9c0. Public reviewer URL: https://preview-95c94201191f7206.up.railway.app/review. Readiness alone does not prove a transaction succeeded.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5. Guides: docs/SETUP_LAYANAN.md, docs/SPONSORED_SETUP.md, docs/PROCUREMENT_RUNTIME.md, docs/ESCROW_PROTOTYPE.md.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6, local checks without credentials; browser E2E; actual Kernel/EntryPoint on a local fork; additional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6. The latest stage-two README checkpoint: 104 integration cases + 7 web tests; 17 contract/fork cases; 17 browser cases; lint/typecheck/build passed. This is a recorded checkpoint, not a guarantee that every dependency, provider, or external deployment is always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6, distinguishing evidence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7. Other references: README, docs/REVIEW_DEPLOYMENT.md, docs/REVIEWER_GUIDE.md, docs/RELEASE_CHECKLIST.md, docs/BATCHING_AND_COST.md, docs/evidence/.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188720"/>
            <a:ext cx="108813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28600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566160"/>
            <a:ext cx="108813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Guardian Wallet: Astra  ·  Source, Deployment and Test Guide  ·  International Track, Topic 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Guardian Wallet: Astra  ·  Source, Deployment and Test Guide  ·  International Track, Topic 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farisal123uy/LombaGoestoChina" TargetMode="External"/><Relationship Id="rId2" Type="http://schemas.openxmlformats.org/officeDocument/2006/relationships/hyperlink" Target="https://github.com/farisal123uy/LombaGoestoChina/tree/feat/batching-evaluation" TargetMode="External"/><Relationship Id="rId3" Type="http://schemas.openxmlformats.org/officeDocument/2006/relationships/hyperlink" Target="https://github.com/farisal123uy/LombaGoestoChina/commit/b439c8fb5662acb13724314923951bb11091b71a" TargetMode="Externa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 International Track  ·  Topic F: Agent Wallet"/>
          <p:cNvSpPr/>
          <p:nvPr/>
        </p:nvSpPr>
        <p:spPr>
          <a:xfrm>
            <a:off x="640080" y="594360"/>
            <a:ext cx="4297680" cy="411480"/>
          </a:xfrm>
          <a:prstGeom prst="roundRect">
            <a:avLst>
              <a:gd name="adj" fmla="val 22222"/>
            </a:avLst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94360"/>
            <a:ext cx="4151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International Track  ·  Topic F: Agent Wallet</a:t>
            </a:r>
            <a:endParaRPr lang="en-US" sz="14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40080" y="11887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Source, Deployment &amp; Tests</a:t>
            </a:r>
            <a:endParaRPr lang="en-US" sz="54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Source code, README, deployment, and test guide for Guardian Wallet: Astra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37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6"/>
                </a:solidFill>
              </a:rPr>
              <a:t>Branch feat/batching-evaluation · commit b439c8f · stage-two checkpoint, 19 October 2026</a:t>
            </a:r>
            <a:endParaRPr lang="en-US" sz="1800" dirty="0"/>
          </a:p>
        </p:txBody>
      </p:sp>
      <p:sp>
        <p:nvSpPr>
          <p:cNvPr id="7" name="Node Clone"/>
          <p:cNvSpPr/>
          <p:nvPr/>
        </p:nvSpPr>
        <p:spPr>
          <a:xfrm>
            <a:off x="64008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8" name="Icon circle Clone"/>
          <p:cNvSpPr/>
          <p:nvPr/>
        </p:nvSpPr>
        <p:spPr>
          <a:xfrm>
            <a:off x="1211580" y="4224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 Clone" descr="Cl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384548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Clone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pinned branch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>
            <a:off x="2512314" y="4741164"/>
            <a:ext cx="347472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3" name="Node Install"/>
          <p:cNvSpPr/>
          <p:nvPr/>
        </p:nvSpPr>
        <p:spPr>
          <a:xfrm>
            <a:off x="294894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14" name="Icon circle Install"/>
          <p:cNvSpPr/>
          <p:nvPr/>
        </p:nvSpPr>
        <p:spPr>
          <a:xfrm>
            <a:off x="3520440" y="4224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 Install" descr="Insta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384548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4894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Install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294894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npm ci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4821174" y="4741164"/>
            <a:ext cx="347472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9" name="Node Test"/>
          <p:cNvSpPr/>
          <p:nvPr/>
        </p:nvSpPr>
        <p:spPr>
          <a:xfrm>
            <a:off x="525780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20" name="Icon circle Test"/>
          <p:cNvSpPr/>
          <p:nvPr/>
        </p:nvSpPr>
        <p:spPr>
          <a:xfrm>
            <a:off x="5829300" y="4224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 Test" descr="Te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438454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25780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Test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525780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unit · fork · e2e</a:t>
            </a:r>
            <a:endParaRPr lang="en-US" sz="1400" dirty="0"/>
          </a:p>
        </p:txBody>
      </p:sp>
      <p:sp>
        <p:nvSpPr>
          <p:cNvPr id="24" name="Arrow"/>
          <p:cNvSpPr/>
          <p:nvPr/>
        </p:nvSpPr>
        <p:spPr>
          <a:xfrm>
            <a:off x="7130034" y="4741164"/>
            <a:ext cx="347472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Node Run"/>
          <p:cNvSpPr/>
          <p:nvPr/>
        </p:nvSpPr>
        <p:spPr>
          <a:xfrm>
            <a:off x="756666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/>
        </p:spPr>
      </p:sp>
      <p:sp>
        <p:nvSpPr>
          <p:cNvPr id="26" name="Icon circle Run"/>
          <p:cNvSpPr/>
          <p:nvPr/>
        </p:nvSpPr>
        <p:spPr>
          <a:xfrm>
            <a:off x="8138160" y="422452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con Run" descr="Ru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8180" y="4384548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56666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Run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756666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reviewer sandbox</a:t>
            </a:r>
            <a:endParaRPr lang="en-US" sz="1400" dirty="0"/>
          </a:p>
        </p:txBody>
      </p:sp>
      <p:sp>
        <p:nvSpPr>
          <p:cNvPr id="30" name="Arrow"/>
          <p:cNvSpPr/>
          <p:nvPr/>
        </p:nvSpPr>
        <p:spPr>
          <a:xfrm>
            <a:off x="9438894" y="4741164"/>
            <a:ext cx="347472" cy="256032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31" name="Node Deploy"/>
          <p:cNvSpPr/>
          <p:nvPr/>
        </p:nvSpPr>
        <p:spPr>
          <a:xfrm>
            <a:off x="9875520" y="4023360"/>
            <a:ext cx="178308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sp>
        <p:nvSpPr>
          <p:cNvPr id="32" name="Icon circle Deploy"/>
          <p:cNvSpPr/>
          <p:nvPr/>
        </p:nvSpPr>
        <p:spPr>
          <a:xfrm>
            <a:off x="10447020" y="4224528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Icon Deploy" descr="Deplo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0" y="4384548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875520" y="496519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Deploy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9875520" y="53035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Docker / host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Everything here runs on a local fork or a testnet—no mainnet funds.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Source repository</a:t>
            </a:r>
            <a:endParaRPr lang="en-US" sz="3600" dirty="0"/>
          </a:p>
        </p:txBody>
      </p:sp>
      <p:sp>
        <p:nvSpPr>
          <p:cNvPr id="3" name="Card GitHub repository"/>
          <p:cNvSpPr/>
          <p:nvPr/>
        </p:nvSpPr>
        <p:spPr>
          <a:xfrm>
            <a:off x="548640" y="1280160"/>
            <a:ext cx="35762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38988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GitHub repository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55648"/>
            <a:ext cx="31738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317388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github.com/farisal123uy/LombaGoestoChina</a:t>
            </a:r>
            <a:endParaRPr lang="en-US" sz="1400" dirty="0"/>
          </a:p>
        </p:txBody>
      </p:sp>
      <p:sp>
        <p:nvSpPr>
          <p:cNvPr id="7" name="Card Branch"/>
          <p:cNvSpPr/>
          <p:nvPr/>
        </p:nvSpPr>
        <p:spPr>
          <a:xfrm>
            <a:off x="4307738" y="1280160"/>
            <a:ext cx="35762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08906" y="138988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Branch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08906" y="1755648"/>
            <a:ext cx="31738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08906" y="1874520"/>
            <a:ext cx="317388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feat/batching-evaluation</a:t>
            </a:r>
            <a:endParaRPr lang="en-US" sz="1400" dirty="0"/>
          </a:p>
        </p:txBody>
      </p:sp>
      <p:sp>
        <p:nvSpPr>
          <p:cNvPr id="11" name="Card Source commit"/>
          <p:cNvSpPr/>
          <p:nvPr/>
        </p:nvSpPr>
        <p:spPr>
          <a:xfrm>
            <a:off x="8066837" y="1280160"/>
            <a:ext cx="35762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68005" y="138988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Source commit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68005" y="1755648"/>
            <a:ext cx="31738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68005" y="1874520"/>
            <a:ext cx="317388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u="sng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b439c8fb5662acb13724314923951bb11091b71a</a:t>
            </a:r>
            <a:endParaRPr lang="en-US" sz="1400" dirty="0"/>
          </a:p>
        </p:txBody>
      </p:sp>
      <p:sp>
        <p:nvSpPr>
          <p:cNvPr id="15" name="Card Branch status"/>
          <p:cNvSpPr/>
          <p:nvPr/>
        </p:nvSpPr>
        <p:spPr>
          <a:xfrm>
            <a:off x="548640" y="3429000"/>
            <a:ext cx="357621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53872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Branch status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3904488"/>
            <a:ext cx="31738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Local branch aligned with origin/feat/batching-evaluation at preparation; main was not changed.</a:t>
            </a:r>
            <a:endParaRPr lang="en-US" sz="1400" dirty="0"/>
          </a:p>
        </p:txBody>
      </p:sp>
      <p:sp>
        <p:nvSpPr>
          <p:cNvPr id="18" name="Card README"/>
          <p:cNvSpPr/>
          <p:nvPr/>
        </p:nvSpPr>
        <p:spPr>
          <a:xfrm>
            <a:off x="4307738" y="3429000"/>
            <a:ext cx="357621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08906" y="353872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README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08906" y="3904488"/>
            <a:ext cx="31738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Main source guide and quick start, on the branch.</a:t>
            </a:r>
            <a:endParaRPr lang="en-US" sz="1400" dirty="0"/>
          </a:p>
        </p:txBody>
      </p:sp>
      <p:sp>
        <p:nvSpPr>
          <p:cNvPr id="21" name="Card Not in the public package"/>
          <p:cNvSpPr/>
          <p:nvPr/>
        </p:nvSpPr>
        <p:spPr>
          <a:xfrm>
            <a:off x="8066837" y="3429000"/>
            <a:ext cx="3576218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68005" y="3538728"/>
            <a:ext cx="31738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 in the public package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68005" y="3904488"/>
            <a:ext cx="317388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Credentials and .env / .local files.</a:t>
            </a:r>
            <a:endParaRPr lang="en-US" sz="1400" dirty="0"/>
          </a:p>
        </p:txBody>
      </p:sp>
      <p:sp>
        <p:nvSpPr>
          <p:cNvPr id="24" name="Caveat banner"/>
          <p:cNvSpPr/>
          <p:nvPr/>
        </p:nvSpPr>
        <p:spPr>
          <a:xfrm>
            <a:off x="548640" y="5486400"/>
            <a:ext cx="11094415" cy="731520"/>
          </a:xfrm>
          <a:prstGeom prst="roundRect">
            <a:avLst>
              <a:gd name="adj" fmla="val 12500"/>
            </a:avLst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48640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Publication note: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source lives on the GitHub branch above; the submission documents are provided separately as Markdown.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Repository map</a:t>
            </a:r>
            <a:endParaRPr lang="en-US" sz="3600" dirty="0"/>
          </a:p>
        </p:txBody>
      </p:sp>
      <p:sp>
        <p:nvSpPr>
          <p:cNvPr id="3" name="Folder apps/web"/>
          <p:cNvSpPr/>
          <p:nvPr/>
        </p:nvSpPr>
        <p:spPr>
          <a:xfrm>
            <a:off x="548640" y="1234440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07592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apps/web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18488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 dashboard, setup, evidence, reviewer UI</a:t>
            </a:r>
            <a:endParaRPr lang="en-US" sz="1400" dirty="0"/>
          </a:p>
        </p:txBody>
      </p:sp>
      <p:sp>
        <p:nvSpPr>
          <p:cNvPr id="6" name="Folder apps/api"/>
          <p:cNvSpPr/>
          <p:nvPr/>
        </p:nvSpPr>
        <p:spPr>
          <a:xfrm>
            <a:off x="3367735" y="1234440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50615" y="1307592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apps/api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550615" y="1618488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Fastify API, owner auth, planner, provider/reviewer routes</a:t>
            </a:r>
            <a:endParaRPr lang="en-US" sz="1400" dirty="0"/>
          </a:p>
        </p:txBody>
      </p:sp>
      <p:sp>
        <p:nvSpPr>
          <p:cNvPr id="9" name="Folder apps/worker"/>
          <p:cNvSpPr/>
          <p:nvPr/>
        </p:nvSpPr>
        <p:spPr>
          <a:xfrm>
            <a:off x="6186830" y="1234440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69710" y="1307592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apps/worker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69710" y="1618488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Restricted executor, batching, fulfillment, reconciliation</a:t>
            </a:r>
            <a:endParaRPr lang="en-US" sz="1400" dirty="0"/>
          </a:p>
        </p:txBody>
      </p:sp>
      <p:sp>
        <p:nvSpPr>
          <p:cNvPr id="12" name="Folder apps/reviewer"/>
          <p:cNvSpPr/>
          <p:nvPr/>
        </p:nvSpPr>
        <p:spPr>
          <a:xfrm>
            <a:off x="9005926" y="1234440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8806" y="1307592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apps/reviewer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88806" y="1618488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Dependency boundary for the reviewer runtime</a:t>
            </a:r>
            <a:endParaRPr lang="en-US" sz="1400" dirty="0"/>
          </a:p>
        </p:txBody>
      </p:sp>
      <p:sp>
        <p:nvSpPr>
          <p:cNvPr id="15" name="Folder packages/shared"/>
          <p:cNvSpPr/>
          <p:nvPr/>
        </p:nvSpPr>
        <p:spPr>
          <a:xfrm>
            <a:off x="548640" y="2487168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2560320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packages/shared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871216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Request, response, and payment types/schemas</a:t>
            </a:r>
            <a:endParaRPr lang="en-US" sz="1400" dirty="0"/>
          </a:p>
        </p:txBody>
      </p:sp>
      <p:sp>
        <p:nvSpPr>
          <p:cNvPr id="18" name="Folder packages/planner"/>
          <p:cNvSpPr/>
          <p:nvPr/>
        </p:nvSpPr>
        <p:spPr>
          <a:xfrm>
            <a:off x="3367735" y="2487168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50615" y="2560320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packages/planner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550615" y="2871216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adapter, deterministic planning, batching</a:t>
            </a:r>
            <a:endParaRPr lang="en-US" sz="1400" dirty="0"/>
          </a:p>
        </p:txBody>
      </p:sp>
      <p:sp>
        <p:nvSpPr>
          <p:cNvPr id="21" name="Folder packages/wallet"/>
          <p:cNvSpPr/>
          <p:nvPr/>
        </p:nvSpPr>
        <p:spPr>
          <a:xfrm>
            <a:off x="6186830" y="2487168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69710" y="2560320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packages/wallet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69710" y="2871216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Kernel/Guardian, quote validation, execution driver</a:t>
            </a:r>
            <a:endParaRPr lang="en-US" sz="1400" dirty="0"/>
          </a:p>
        </p:txBody>
      </p:sp>
      <p:sp>
        <p:nvSpPr>
          <p:cNvPr id="24" name="Folder packages/database"/>
          <p:cNvSpPr/>
          <p:nvPr/>
        </p:nvSpPr>
        <p:spPr>
          <a:xfrm>
            <a:off x="9005926" y="2487168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88806" y="2560320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packages/database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88806" y="2871216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Drizzle schema, migrations, task/attempt/provider store</a:t>
            </a:r>
            <a:endParaRPr lang="en-US" sz="1400" dirty="0"/>
          </a:p>
        </p:txBody>
      </p:sp>
      <p:sp>
        <p:nvSpPr>
          <p:cNvPr id="27" name="Folder contracts/contracts"/>
          <p:cNvSpPr/>
          <p:nvPr/>
        </p:nvSpPr>
        <p:spPr>
          <a:xfrm>
            <a:off x="548640" y="3739896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3813048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contracts/contracts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123944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GuardianPayments, MockUSD, contract fixtures</a:t>
            </a:r>
            <a:endParaRPr lang="en-US" sz="1400" dirty="0"/>
          </a:p>
        </p:txBody>
      </p:sp>
      <p:sp>
        <p:nvSpPr>
          <p:cNvPr id="30" name="Folder contracts/test"/>
          <p:cNvSpPr/>
          <p:nvPr/>
        </p:nvSpPr>
        <p:spPr>
          <a:xfrm>
            <a:off x="3367735" y="3739896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50615" y="3813048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contracts/test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550615" y="4123944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Unit, Kernel fork, escrow, and cost evaluation</a:t>
            </a:r>
            <a:endParaRPr lang="en-US" sz="1400" dirty="0"/>
          </a:p>
        </p:txBody>
      </p:sp>
      <p:sp>
        <p:nvSpPr>
          <p:cNvPr id="33" name="Folder tests/integration"/>
          <p:cNvSpPr/>
          <p:nvPr/>
        </p:nvSpPr>
        <p:spPr>
          <a:xfrm>
            <a:off x="6186830" y="3739896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69710" y="3813048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tests/integration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369710" y="4123944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API, database, planner, worker, provider, recovery</a:t>
            </a:r>
            <a:endParaRPr lang="en-US" sz="1400" dirty="0"/>
          </a:p>
        </p:txBody>
      </p:sp>
      <p:sp>
        <p:nvSpPr>
          <p:cNvPr id="36" name="Folder tests/e2e"/>
          <p:cNvSpPr/>
          <p:nvPr/>
        </p:nvSpPr>
        <p:spPr>
          <a:xfrm>
            <a:off x="9005926" y="3739896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88806" y="3813048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tests/e2e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188806" y="4123944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Browser acceptance scenarios</a:t>
            </a:r>
            <a:endParaRPr lang="en-US" sz="1400" dirty="0"/>
          </a:p>
        </p:txBody>
      </p:sp>
      <p:sp>
        <p:nvSpPr>
          <p:cNvPr id="39" name="Folder tools/"/>
          <p:cNvSpPr/>
          <p:nvPr/>
        </p:nvSpPr>
        <p:spPr>
          <a:xfrm>
            <a:off x="548640" y="4992624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1520" y="5065776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5376672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 setup/evaluation, deployment, review, evidence checks</a:t>
            </a:r>
            <a:endParaRPr lang="en-US" sz="1400" dirty="0"/>
          </a:p>
        </p:txBody>
      </p:sp>
      <p:sp>
        <p:nvSpPr>
          <p:cNvPr id="42" name="Folder docs/"/>
          <p:cNvSpPr/>
          <p:nvPr/>
        </p:nvSpPr>
        <p:spPr>
          <a:xfrm>
            <a:off x="3367735" y="4992624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550615" y="5065776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550615" y="5376672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Architecture, config, operations, evidence, risk assessment</a:t>
            </a:r>
            <a:endParaRPr lang="en-US" sz="1400" dirty="0"/>
          </a:p>
        </p:txBody>
      </p:sp>
      <p:sp>
        <p:nvSpPr>
          <p:cNvPr id="45" name="Folder Dockerfile.review"/>
          <p:cNvSpPr/>
          <p:nvPr/>
        </p:nvSpPr>
        <p:spPr>
          <a:xfrm>
            <a:off x="6186830" y="4992624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369710" y="5065776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Dockerfile.review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369710" y="5376672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Reviewer runtime image, separate from the owner runtime</a:t>
            </a:r>
            <a:endParaRPr lang="en-US" sz="1400" dirty="0"/>
          </a:p>
        </p:txBody>
      </p:sp>
      <p:sp>
        <p:nvSpPr>
          <p:cNvPr id="48" name="Folder README.md"/>
          <p:cNvSpPr/>
          <p:nvPr/>
        </p:nvSpPr>
        <p:spPr>
          <a:xfrm>
            <a:off x="9005926" y="4992624"/>
            <a:ext cx="2636215" cy="1161288"/>
          </a:xfrm>
          <a:prstGeom prst="roundRect">
            <a:avLst>
              <a:gd name="adj" fmla="val 9449"/>
            </a:avLst>
          </a:prstGeom>
          <a:solidFill>
            <a:schemeClr val="bg2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188806" y="5065776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188806" y="5376672"/>
            <a:ext cx="2270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Main source guide and quick start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Prerequisites and fresh setup</a:t>
            </a:r>
            <a:endParaRPr lang="en-US" sz="3600" dirty="0"/>
          </a:p>
        </p:txBody>
      </p:sp>
      <p:sp>
        <p:nvSpPr>
          <p:cNvPr id="3" name="Card Prerequisites"/>
          <p:cNvSpPr/>
          <p:nvPr/>
        </p:nvSpPr>
        <p:spPr>
          <a:xfrm>
            <a:off x="548640" y="1280160"/>
            <a:ext cx="5303520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389888"/>
            <a:ext cx="4901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Prerequisites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55648"/>
            <a:ext cx="4901184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4846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Node.js 22.13.0 or newer.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npm 10 (the repository pins npm 10.9.2).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Git and an internet connection to install dependencies.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Live model: a Groq API key kept as a secret/environment value—never in the browser or source.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Contract forks: Base Sepolia read-RPC access; test writes run on an isolated local fork.</a:t>
            </a:r>
            <a:endParaRPr lang="en-US" sz="1500" dirty="0"/>
          </a:p>
        </p:txBody>
      </p:sp>
      <p:sp>
        <p:nvSpPr>
          <p:cNvPr id="7" name="Code block"/>
          <p:cNvSpPr/>
          <p:nvPr/>
        </p:nvSpPr>
        <p:spPr>
          <a:xfrm>
            <a:off x="6035040" y="1280160"/>
            <a:ext cx="5608015" cy="27432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463040"/>
            <a:ext cx="51508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clone the source branch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--branch feat/batching-evaluation --single-branch https://github.com/farisal123uy/LombaGoestoChina.git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LombaGoestoChina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npm.cmd ci</a:t>
            </a:r>
            <a:endParaRPr lang="en-US" sz="1300" dirty="0"/>
          </a:p>
        </p:txBody>
      </p:sp>
      <p:sp>
        <p:nvSpPr>
          <p:cNvPr id="9" name="Caveat banner"/>
          <p:cNvSpPr/>
          <p:nvPr/>
        </p:nvSpPr>
        <p:spPr>
          <a:xfrm>
            <a:off x="6035040" y="4251960"/>
            <a:ext cx="5608015" cy="1965960"/>
          </a:xfrm>
          <a:prstGeom prst="roundRect">
            <a:avLst>
              <a:gd name="adj" fmla="val 4651"/>
            </a:avLst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4251960"/>
            <a:ext cx="515081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copy each service's .env.example to a local ignored file and fill secrets through secure tooling. Never commit the Groq key, database URL, private keys, access codes, or signed payloads.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Run the application scaffold</a:t>
            </a:r>
            <a:endParaRPr lang="en-US" sz="3600" dirty="0"/>
          </a:p>
        </p:txBody>
      </p:sp>
      <p:sp>
        <p:nvSpPr>
          <p:cNvPr id="3" name="Code block"/>
          <p:cNvSpPr/>
          <p:nvPr/>
        </p:nvSpPr>
        <p:spPr>
          <a:xfrm>
            <a:off x="548640" y="1280160"/>
            <a:ext cx="11094415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npm.cmd run dev    # builds shared packages, then starts web, API, and worker</a:t>
            </a:r>
            <a:endParaRPr lang="en-US" sz="1500" dirty="0"/>
          </a:p>
        </p:txBody>
      </p:sp>
      <p:graphicFrame>
        <p:nvGraphicFramePr>
          <p:cNvPr id="6" name="Endpoi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985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Service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URL / function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Web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http://localhost:3000 — dashboard/setup according to configuration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API health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http://localhost:4000/health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API status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http://localhost:4000/v1/status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Worker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Status/heartbeat in the terminal; execution needs configuration and owner authorization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aveat banner"/>
          <p:cNvSpPr/>
          <p:nvPr/>
        </p:nvSpPr>
        <p:spPr>
          <a:xfrm>
            <a:off x="548640" y="5120640"/>
            <a:ext cx="11094415" cy="1097280"/>
          </a:xfrm>
          <a:prstGeom prst="roundRect">
            <a:avLst>
              <a:gd name="adj" fmla="val 8333"/>
            </a:avLst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12064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Scaffold only: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without a database, RPC/bundler, model, and account configuration, the quick start validates app health—not live procurement or payment.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Run the reviewer workspace</a:t>
            </a:r>
            <a:endParaRPr lang="en-US" sz="3600" dirty="0"/>
          </a:p>
        </p:txBody>
      </p:sp>
      <p:sp>
        <p:nvSpPr>
          <p:cNvPr id="3" name="Step setup:ai-cloud"/>
          <p:cNvSpPr/>
          <p:nvPr/>
        </p:nvSpPr>
        <p:spPr>
          <a:xfrm>
            <a:off x="548640" y="1280160"/>
            <a:ext cx="35762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81328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npm.cmd run setup:ai-cloud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Save the model key/config to a private, ignored location.</a:t>
            </a:r>
            <a:endParaRPr lang="en-US" sz="1500" dirty="0"/>
          </a:p>
        </p:txBody>
      </p:sp>
      <p:sp>
        <p:nvSpPr>
          <p:cNvPr id="8" name="Step review:build"/>
          <p:cNvSpPr/>
          <p:nvPr/>
        </p:nvSpPr>
        <p:spPr>
          <a:xfrm>
            <a:off x="4307738" y="1280160"/>
            <a:ext cx="35762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4536338" y="14813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3633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76418" y="1481328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npm.cmd run review:build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36338" y="219456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the reviewer runtime.</a:t>
            </a:r>
            <a:endParaRPr lang="en-US" sz="1500" dirty="0"/>
          </a:p>
        </p:txBody>
      </p:sp>
      <p:sp>
        <p:nvSpPr>
          <p:cNvPr id="13" name="Step review:start"/>
          <p:cNvSpPr/>
          <p:nvPr/>
        </p:nvSpPr>
        <p:spPr>
          <a:xfrm>
            <a:off x="8066837" y="1280160"/>
            <a:ext cx="3576218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8295437" y="14813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95437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35517" y="1481328"/>
            <a:ext cx="2570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npm.cmd run review:start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95437" y="2194560"/>
            <a:ext cx="31190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Start it, then open the /review URL the tool prints.</a:t>
            </a:r>
            <a:endParaRPr lang="en-US" sz="1500" dirty="0"/>
          </a:p>
        </p:txBody>
      </p:sp>
      <p:sp>
        <p:nvSpPr>
          <p:cNvPr id="18" name="Card What reviewer mode does"/>
          <p:cNvSpPr/>
          <p:nvPr/>
        </p:nvSpPr>
        <p:spPr>
          <a:xfrm>
            <a:off x="548640" y="3429000"/>
            <a:ext cx="11094415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9808" y="3538728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reviewer mode does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904488"/>
            <a:ext cx="10692079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397764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Creates a disposable wallet, policy, test token, and PGlite database on an isolated Base Sepolia fork.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Needs no MetaMask and no personal funds; its transactions never reach a public explorer.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If the port/host differs, use the runtime values the tool prints.</a:t>
            </a:r>
            <a:endParaRPr lang="en-US" sz="15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Never copy the reviewer access code into public documents.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Reviewer container settings</a:t>
            </a:r>
            <a:endParaRPr lang="en-US" sz="3600" dirty="0"/>
          </a:p>
        </p:txBody>
      </p:sp>
      <p:graphicFrame>
        <p:nvGraphicFramePr>
          <p:cNvPr id="8" name="Env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Variable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GROQ_API_KEY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 model key (host secret manager)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GROQ_FREE_TIER_CONFIRMED=true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Operator confirmation, if it matches the account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AI_MODEL_ID=openai/gpt-oss-120b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Model identifier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REVIEW_ACCESS_CODE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 least 32 random characters; share privately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KERNEL_FORK_RPC_URL=https://sepolia.base.org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Fork initialization (read-only use)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REVIEW_MAX_SESSIONS=1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Initial capacity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PORT=7860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Web process port</a:t>
                      </a:r>
                      <a:endParaRPr lang="en-US" sz="14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rd Dockerfile.review"/>
          <p:cNvSpPr/>
          <p:nvPr/>
        </p:nvSpPr>
        <p:spPr>
          <a:xfrm>
            <a:off x="7680960" y="1280160"/>
            <a:ext cx="3962095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882128" y="1389888"/>
            <a:ext cx="35597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Dockerfile.review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882128" y="1755648"/>
            <a:ext cx="35597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reviewer runtime image—not the owner API/worker deployment. Variables are inventoried in deployment/review.env.example.</a:t>
            </a:r>
            <a:endParaRPr lang="en-US" sz="1400" dirty="0"/>
          </a:p>
        </p:txBody>
      </p:sp>
      <p:sp>
        <p:nvSpPr>
          <p:cNvPr id="7" name="Code block"/>
          <p:cNvSpPr/>
          <p:nvPr/>
        </p:nvSpPr>
        <p:spPr>
          <a:xfrm>
            <a:off x="7680960" y="2926080"/>
            <a:ext cx="3962095" cy="18288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909560" y="3108960"/>
            <a:ext cx="3504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-f Dockerfile.review -t guardian-review 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-p 7860:7860 --env-file C:\private\review.env guardian-review</a:t>
            </a:r>
            <a:endParaRPr lang="en-US" sz="1100" dirty="0"/>
          </a:p>
        </p:txBody>
      </p:sp>
      <p:sp>
        <p:nvSpPr>
          <p:cNvPr id="9" name="Caveat banner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25000"/>
            </a:scheme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Secrets: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real values in the host's secret manager or a private local file—never as a build argument.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Health checks, publishing, and the release boundary</a:t>
            </a:r>
            <a:endParaRPr lang="en-US" sz="3600" dirty="0"/>
          </a:p>
        </p:txBody>
      </p:sp>
      <p:sp>
        <p:nvSpPr>
          <p:cNvPr id="3" name="Card GET /api/review/health"/>
          <p:cNvSpPr/>
          <p:nvPr/>
        </p:nvSpPr>
        <p:spPr>
          <a:xfrm>
            <a:off x="548640" y="1280160"/>
            <a:ext cx="545896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38988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/api/review/health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55648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Liveness.</a:t>
            </a:r>
            <a:endParaRPr lang="en-US" sz="1400" dirty="0"/>
          </a:p>
        </p:txBody>
      </p:sp>
      <p:sp>
        <p:nvSpPr>
          <p:cNvPr id="6" name="Card GET /api/review/ready"/>
          <p:cNvSpPr/>
          <p:nvPr/>
        </p:nvSpPr>
        <p:spPr>
          <a:xfrm>
            <a:off x="548640" y="2468880"/>
            <a:ext cx="545896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57860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/api/review/ready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944368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Model, fork, and resource readiness—which does not prove a transaction succeeds.</a:t>
            </a:r>
            <a:endParaRPr lang="en-US" sz="1400" dirty="0"/>
          </a:p>
        </p:txBody>
      </p:sp>
      <p:sp>
        <p:nvSpPr>
          <p:cNvPr id="9" name="Card To publish on a host"/>
          <p:cNvSpPr/>
          <p:nvPr/>
        </p:nvSpPr>
        <p:spPr>
          <a:xfrm>
            <a:off x="548640" y="3794760"/>
            <a:ext cx="545896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390448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 publish on a host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4270248"/>
            <a:ext cx="50566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29768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Deploy the reviewed source branch.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Set secrets in the host's secret manager.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Verify public HTTPS and the build ID.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one end-to-end flow, then a second isolated session.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Watch RAM/CPU use.</a:t>
            </a:r>
            <a:endParaRPr lang="en-US" sz="1400" dirty="0"/>
          </a:p>
        </p:txBody>
      </p:sp>
      <p:sp>
        <p:nvSpPr>
          <p:cNvPr id="13" name="Release boundary card"/>
          <p:cNvSpPr/>
          <p:nvPr/>
        </p:nvSpPr>
        <p:spPr>
          <a:xfrm>
            <a:off x="6190488" y="1280160"/>
            <a:ext cx="5449824" cy="4983480"/>
          </a:xfrm>
          <a:prstGeom prst="roundRect">
            <a:avLst>
              <a:gd name="adj" fmla="val 2202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Recorded public deployment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920240"/>
            <a:ext cx="49377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URL: preview-95c94201191f7206.up.railway.app/review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Access code is shared privately, separately.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Recorded build ID 9120634…d9c0. Check it against a source archive/release before saying the server runs a specific commit.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Live model: GPT-OSS 120B. Contract/reviewer settlement runs on an isolated fork, not as a public transaction.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Free/Trial hosting and credit duration need monitoring—not an SLA.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The Docker image is prepared; a Docker build pass must not be claimed from configuration files alone.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Owner application runtime (optional)</a:t>
            </a:r>
            <a:endParaRPr lang="en-US" sz="3600" dirty="0"/>
          </a:p>
        </p:txBody>
      </p:sp>
      <p:sp>
        <p:nvSpPr>
          <p:cNvPr id="3" name="Number 1"/>
          <p:cNvSpPr/>
          <p:nvPr/>
        </p:nvSpPr>
        <p:spPr>
          <a:xfrm>
            <a:off x="548640" y="128016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5272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Prepare secrets and config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Separately for API, worker, web, provider signer/agent, and database.</a:t>
            </a:r>
            <a:endParaRPr lang="en-US" sz="1400" dirty="0"/>
          </a:p>
        </p:txBody>
      </p:sp>
      <p:sp>
        <p:nvSpPr>
          <p:cNvPr id="6" name="Number 2"/>
          <p:cNvSpPr/>
          <p:nvPr/>
        </p:nvSpPr>
        <p:spPr>
          <a:xfrm>
            <a:off x="548640" y="23774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5000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Run migrations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Batching needs 0004/0005; escrow needs 0006/0007.</a:t>
            </a:r>
            <a:endParaRPr lang="en-US" sz="1400" dirty="0"/>
          </a:p>
        </p:txBody>
      </p:sp>
      <p:sp>
        <p:nvSpPr>
          <p:cNvPr id="9" name="Number 3"/>
          <p:cNvSpPr/>
          <p:nvPr/>
        </p:nvSpPr>
        <p:spPr>
          <a:xfrm>
            <a:off x="548640" y="347472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44728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Verify network and contracts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Owner signs in the owner wallet; no private key in the API or browser.</a:t>
            </a:r>
            <a:endParaRPr lang="en-US" sz="1400" dirty="0"/>
          </a:p>
        </p:txBody>
      </p:sp>
      <p:sp>
        <p:nvSpPr>
          <p:cNvPr id="12" name="Number 4"/>
          <p:cNvSpPr/>
          <p:nvPr/>
        </p:nvSpPr>
        <p:spPr>
          <a:xfrm>
            <a:off x="548640" y="457200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572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54456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npm.cmd run owner:setup if the wallet isn't ready; review each intent.</a:t>
            </a:r>
            <a:endParaRPr lang="en-US" sz="1400" dirty="0"/>
          </a:p>
        </p:txBody>
      </p:sp>
      <p:sp>
        <p:nvSpPr>
          <p:cNvPr id="15" name="Number 5"/>
          <p:cNvSpPr/>
          <p:nvPr/>
        </p:nvSpPr>
        <p:spPr>
          <a:xfrm>
            <a:off x="6309360" y="128016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1280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125272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npm.cmd run runtime:dev; in another terminal, npm.cmd run dev:web.</a:t>
            </a:r>
            <a:endParaRPr lang="en-US" sz="1400" dirty="0"/>
          </a:p>
        </p:txBody>
      </p:sp>
      <p:sp>
        <p:nvSpPr>
          <p:cNvPr id="18" name="Number 6"/>
          <p:cNvSpPr/>
          <p:nvPr/>
        </p:nvSpPr>
        <p:spPr>
          <a:xfrm>
            <a:off x="6309360" y="237744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35000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and queue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Log in at /dashboard, check policy/queue, review the invoice, queue explicitly, then Start agent.</a:t>
            </a:r>
            <a:endParaRPr lang="en-US" sz="1400" dirty="0"/>
          </a:p>
        </p:txBody>
      </p:sp>
      <p:sp>
        <p:nvSpPr>
          <p:cNvPr id="21" name="Number 7"/>
          <p:cNvSpPr/>
          <p:nvPr/>
        </p:nvSpPr>
        <p:spPr>
          <a:xfrm>
            <a:off x="6309360" y="347472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3474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447288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Verify separately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Task/operation status, chain receipt, delivery signature, and service probe.</a:t>
            </a:r>
            <a:endParaRPr lang="en-US" sz="1400" dirty="0"/>
          </a:p>
        </p:txBody>
      </p:sp>
      <p:sp>
        <p:nvSpPr>
          <p:cNvPr id="24" name="Safety card"/>
          <p:cNvSpPr/>
          <p:nvPr/>
        </p:nvSpPr>
        <p:spPr>
          <a:xfrm>
            <a:off x="6309360" y="4663440"/>
            <a:ext cx="5333695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47548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Before enabling execution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EXECUTION_ENABLED is disabled by default. Don't run the worker with credentials until the owner authorizes a matching session and policy.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An escrow demo needs a fresh account/index; don't modify an account with a pending escrow.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Test and reproduction commands</a:t>
            </a:r>
            <a:endParaRPr lang="en-US" sz="3600" dirty="0"/>
          </a:p>
        </p:txBody>
      </p:sp>
      <p:graphicFrame>
        <p:nvGraphicFramePr>
          <p:cNvPr id="11" name="Test command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42513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Command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Covers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npm.cmd run lint · typecheck · build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Static checks and production build (no credentials)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npm.cmd run test:integration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API, database, planner, worker, provider, recovery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npm.cmd run test:web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Web tests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npm.cmd run test:contracts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Contract suite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npx.cmd playwright install chromium → npm.cmd run test:e2e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Browser acceptance (install Chromium once)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KERNEL_FORK_RPC_URL=https://sepolia.base.org → npm.cmd run test:kernel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Actual Kernel/EntryPoint tests on a local fork; unset afterwards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npm.cmd run test:cost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Single vs. batch on an isolated fork → docs/evidence/cost-fork.json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npm.cmd run model:security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Live model evaluation: synthetic finances, no transactions; needs a configured provider</a:t>
                      </a:r>
                      <a:endParaRPr lang="en-US" sz="1300" dirty="0"/>
                    </a:p>
                  </a:txBody>
                  <a:tcPr marL="109728" marR="109728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Recorded checkpoint and coverage</a:t>
            </a:r>
            <a:endParaRPr lang="en-US" sz="3600" dirty="0"/>
          </a:p>
        </p:txBody>
      </p:sp>
      <p:sp>
        <p:nvSpPr>
          <p:cNvPr id="3" name="Stat 104 + 7"/>
          <p:cNvSpPr/>
          <p:nvPr/>
        </p:nvSpPr>
        <p:spPr>
          <a:xfrm>
            <a:off x="548640" y="1234440"/>
            <a:ext cx="26362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270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104 + 7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2270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integration cases + web tests</a:t>
            </a:r>
            <a:endParaRPr lang="en-US" sz="1400" dirty="0"/>
          </a:p>
        </p:txBody>
      </p:sp>
      <p:sp>
        <p:nvSpPr>
          <p:cNvPr id="6" name="Stat 17"/>
          <p:cNvSpPr/>
          <p:nvPr/>
        </p:nvSpPr>
        <p:spPr>
          <a:xfrm>
            <a:off x="3367735" y="1234440"/>
            <a:ext cx="26362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50615" y="1325880"/>
            <a:ext cx="2270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17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550615" y="2011680"/>
            <a:ext cx="2270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contract / fork cases</a:t>
            </a:r>
            <a:endParaRPr lang="en-US" sz="1400" dirty="0"/>
          </a:p>
        </p:txBody>
      </p:sp>
      <p:sp>
        <p:nvSpPr>
          <p:cNvPr id="9" name="Stat 17"/>
          <p:cNvSpPr/>
          <p:nvPr/>
        </p:nvSpPr>
        <p:spPr>
          <a:xfrm>
            <a:off x="6186830" y="1234440"/>
            <a:ext cx="26362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69710" y="1325880"/>
            <a:ext cx="2270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17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369710" y="2011680"/>
            <a:ext cx="2270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browser cases</a:t>
            </a:r>
            <a:endParaRPr lang="en-US" sz="1400" dirty="0"/>
          </a:p>
        </p:txBody>
      </p:sp>
      <p:sp>
        <p:nvSpPr>
          <p:cNvPr id="12" name="Stat ✓"/>
          <p:cNvSpPr/>
          <p:nvPr/>
        </p:nvSpPr>
        <p:spPr>
          <a:xfrm>
            <a:off x="9005926" y="1234440"/>
            <a:ext cx="2636215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8806" y="1325880"/>
            <a:ext cx="2270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✓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9188806" y="2011680"/>
            <a:ext cx="2270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lint, typecheck, build</a:t>
            </a:r>
            <a:endParaRPr lang="en-US" sz="1400" dirty="0"/>
          </a:p>
        </p:txBody>
      </p:sp>
      <p:sp>
        <p:nvSpPr>
          <p:cNvPr id="15" name="Coverage Owner / auth"/>
          <p:cNvSpPr/>
          <p:nvPr/>
        </p:nvSpPr>
        <p:spPr>
          <a:xfrm>
            <a:off x="548640" y="2606040"/>
            <a:ext cx="357621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2679192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Owner / auth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97180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One-time nonce; invalid/expired signature; other owner's tasks denied</a:t>
            </a:r>
            <a:endParaRPr lang="en-US" sz="1300" dirty="0"/>
          </a:p>
        </p:txBody>
      </p:sp>
      <p:sp>
        <p:nvSpPr>
          <p:cNvPr id="18" name="Coverage Quote / planner"/>
          <p:cNvSpPr/>
          <p:nvPr/>
        </p:nvSpPr>
        <p:spPr>
          <a:xfrm>
            <a:off x="4307738" y="2606040"/>
            <a:ext cx="357621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90618" y="2679192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Quote / planner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90618" y="297180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Valid/invalid EIP-712; stale policy; expiry; wrong amount or recipient</a:t>
            </a:r>
            <a:endParaRPr lang="en-US" sz="1300" dirty="0"/>
          </a:p>
        </p:txBody>
      </p:sp>
      <p:sp>
        <p:nvSpPr>
          <p:cNvPr id="21" name="Coverage Budget / contract"/>
          <p:cNvSpPr/>
          <p:nvPr/>
        </p:nvSpPr>
        <p:spPr>
          <a:xfrm>
            <a:off x="8066837" y="2606040"/>
            <a:ext cx="357621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49717" y="2679192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Budget / contract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49717" y="297180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Per-invoice limit; UTC-day cap; reserve floor; duplicate ID; atomic batch failure</a:t>
            </a:r>
            <a:endParaRPr lang="en-US" sz="1300" dirty="0"/>
          </a:p>
        </p:txBody>
      </p:sp>
      <p:sp>
        <p:nvSpPr>
          <p:cNvPr id="24" name="Coverage Permission"/>
          <p:cNvSpPr/>
          <p:nvPr/>
        </p:nvSpPr>
        <p:spPr>
          <a:xfrm>
            <a:off x="548640" y="3840480"/>
            <a:ext cx="357621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3913632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Permission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20624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Payment selector allowed; transfer, approval, admin, nested, delegatecall, revoke denied</a:t>
            </a:r>
            <a:endParaRPr lang="en-US" sz="1300" dirty="0"/>
          </a:p>
        </p:txBody>
      </p:sp>
      <p:sp>
        <p:nvSpPr>
          <p:cNvPr id="27" name="Coverage Batching"/>
          <p:cNvSpPr/>
          <p:nvPr/>
        </p:nvSpPr>
        <p:spPr>
          <a:xfrm>
            <a:off x="4307738" y="3840480"/>
            <a:ext cx="357621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90618" y="3913632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Batching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490618" y="420624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Compatibility; aggregate cap; earliest deadline; membership; one-operation batch</a:t>
            </a:r>
            <a:endParaRPr lang="en-US" sz="1300" dirty="0"/>
          </a:p>
        </p:txBody>
      </p:sp>
      <p:sp>
        <p:nvSpPr>
          <p:cNvPr id="30" name="Coverage Recovery"/>
          <p:cNvSpPr/>
          <p:nvPr/>
        </p:nvSpPr>
        <p:spPr>
          <a:xfrm>
            <a:off x="8066837" y="3840480"/>
            <a:ext cx="357621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49717" y="3913632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Recovery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49717" y="420624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Lost response; worker restart; keyed nonce; receipt/event mismatch; reorg; partial settlement</a:t>
            </a:r>
            <a:endParaRPr lang="en-US" sz="1300" dirty="0"/>
          </a:p>
        </p:txBody>
      </p:sp>
      <p:sp>
        <p:nvSpPr>
          <p:cNvPr id="33" name="Coverage Delivery"/>
          <p:cNvSpPr/>
          <p:nvPr/>
        </p:nvSpPr>
        <p:spPr>
          <a:xfrm>
            <a:off x="548640" y="5074920"/>
            <a:ext cx="357621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1520" y="5148072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Delivery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544068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Quote/receipt binding; probe/write/read; service pending and retry without repayment</a:t>
            </a:r>
            <a:endParaRPr lang="en-US" sz="1300" dirty="0"/>
          </a:p>
        </p:txBody>
      </p:sp>
      <p:sp>
        <p:nvSpPr>
          <p:cNvPr id="36" name="Coverage Reviewer isolation"/>
          <p:cNvSpPr/>
          <p:nvPr/>
        </p:nvSpPr>
        <p:spPr>
          <a:xfrm>
            <a:off x="4307738" y="5074920"/>
            <a:ext cx="357621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490618" y="5148072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Reviewer isolation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4490618" y="544068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Capability expiry; route limit; session A/B isolation; cleanup</a:t>
            </a:r>
            <a:endParaRPr lang="en-US" sz="1300" dirty="0"/>
          </a:p>
        </p:txBody>
      </p:sp>
      <p:sp>
        <p:nvSpPr>
          <p:cNvPr id="39" name="Coverage Browser"/>
          <p:cNvSpPr/>
          <p:nvPr/>
        </p:nvSpPr>
        <p:spPr>
          <a:xfrm>
            <a:off x="8066837" y="5074920"/>
            <a:ext cx="357621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249717" y="5148072"/>
            <a:ext cx="3210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Browser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249717" y="5440680"/>
            <a:ext cx="32104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Owner setup/dashboard; assistant draft/review queue; evidence/reviewer workflow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Four classes of evidence</a:t>
            </a:r>
            <a:endParaRPr lang="en-US" sz="3600" dirty="0"/>
          </a:p>
        </p:txBody>
      </p:sp>
      <p:sp>
        <p:nvSpPr>
          <p:cNvPr id="3" name="Evidence Public testnet"/>
          <p:cNvSpPr/>
          <p:nvPr/>
        </p:nvSpPr>
        <p:spPr>
          <a:xfrm>
            <a:off x="548640" y="1280160"/>
            <a:ext cx="542513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481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Public testnet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Base Sepolia transaction you can look up on an explorer—for example AI-01, 0.26 MockUSD with a historical signed delivery and probe/write-read.</a:t>
            </a:r>
            <a:endParaRPr lang="en-US" sz="1500" dirty="0"/>
          </a:p>
        </p:txBody>
      </p:sp>
      <p:sp>
        <p:nvSpPr>
          <p:cNvPr id="8" name="Evidence Isolated fork"/>
          <p:cNvSpPr/>
          <p:nvPr/>
        </p:nvSpPr>
        <p:spPr>
          <a:xfrm>
            <a:off x="6126480" y="1280160"/>
            <a:ext cx="542513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6355080" y="14813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4813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Isolated fork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1488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Actual Kernel/EntryPoint/Guardian code on a simulated chain; the hashes are not on a public explorer.</a:t>
            </a:r>
            <a:endParaRPr lang="en-US" sz="1500" dirty="0"/>
          </a:p>
        </p:txBody>
      </p:sp>
      <p:sp>
        <p:nvSpPr>
          <p:cNvPr id="13" name="Evidence Live model evaluation"/>
          <p:cNvSpPr/>
          <p:nvPr/>
        </p:nvSpPr>
        <p:spPr>
          <a:xfrm>
            <a:off x="548640" y="3794760"/>
            <a:ext cx="542513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777240" y="39959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9959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Live model evaluation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6634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Real model requests with synthetic financial prompts/data—no signer key and no transaction.</a:t>
            </a:r>
            <a:endParaRPr lang="en-US" sz="1500" dirty="0"/>
          </a:p>
        </p:txBody>
      </p:sp>
      <p:sp>
        <p:nvSpPr>
          <p:cNvPr id="18" name="Evidence Browser fixtures"/>
          <p:cNvSpPr/>
          <p:nvPr/>
        </p:nvSpPr>
        <p:spPr>
          <a:xfrm>
            <a:off x="6126480" y="3794760"/>
            <a:ext cx="5425135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9" name="Number 4"/>
          <p:cNvSpPr/>
          <p:nvPr/>
        </p:nvSpPr>
        <p:spPr>
          <a:xfrm>
            <a:off x="6355080" y="399592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39959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Browser fixtures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46634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UI/API validation with specific mock inputs—not evidence of a live blockchain transaction.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Configuration files and secrets</a:t>
            </a:r>
            <a:endParaRPr lang="en-US" sz="3600" dirty="0"/>
          </a:p>
        </p:txBody>
      </p:sp>
      <p:sp>
        <p:nvSpPr>
          <p:cNvPr id="3" name="Card Templates provided"/>
          <p:cNvSpPr/>
          <p:nvPr/>
        </p:nvSpPr>
        <p:spPr>
          <a:xfrm>
            <a:off x="548640" y="1280160"/>
            <a:ext cx="5458968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389888"/>
            <a:ext cx="5056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Templates provided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55648"/>
            <a:ext cx="505663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apps/api/.env.example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apps/worker/.env.example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apps/web/.env.example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packages/database/.env.example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contracts/.env.example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deployment/review.env.example</a:t>
            </a:r>
            <a:endParaRPr lang="en-US" sz="1400" dirty="0"/>
          </a:p>
        </p:txBody>
      </p:sp>
      <p:sp>
        <p:nvSpPr>
          <p:cNvPr id="7" name="Card Rules"/>
          <p:cNvSpPr/>
          <p:nvPr/>
        </p:nvSpPr>
        <p:spPr>
          <a:xfrm>
            <a:off x="6190488" y="1280160"/>
            <a:ext cx="5449824" cy="49377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91656" y="138988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391656" y="1755648"/>
            <a:ext cx="504748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19088" y="182880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Never commit the Groq key, database URL, owner/session/provider private keys, bearer or access codes, signed payloads, or private evidence.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owner key stays in the owner's wallet.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Keep worker session and provider signer credentials apart from the process that holds the model API.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Don't expose KERNEL_FORK_RPC_URL as an arbitrary RPC proxy for reviewers.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.gitignore and the deployment archive before publishing.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ardian Astra">
  <a:themeElements>
    <a:clrScheme name="Guardian Astra">
      <a:dk1>
        <a:srgbClr val="0B1F2A"/>
      </a:dk1>
      <a:lt1>
        <a:srgbClr val="FFFFFF"/>
      </a:lt1>
      <a:dk2>
        <a:srgbClr val="17404F"/>
      </a:dk2>
      <a:lt2>
        <a:srgbClr val="EEF4F3"/>
      </a:lt2>
      <a:accent1>
        <a:srgbClr val="13A898"/>
      </a:accent1>
      <a:accent2>
        <a:srgbClr val="F4A300"/>
      </a:accent2>
      <a:accent3>
        <a:srgbClr val="D64045"/>
      </a:accent3>
      <a:accent4>
        <a:srgbClr val="5E7380"/>
      </a:accent4>
      <a:accent5>
        <a:srgbClr val="2A7F9E"/>
      </a:accent5>
      <a:accent6>
        <a:srgbClr val="8FD3C8"/>
      </a:accent6>
      <a:hlink>
        <a:srgbClr val="0B7A6F"/>
      </a:hlink>
      <a:folHlink>
        <a:srgbClr val="5E7380"/>
      </a:folHlink>
    </a:clrScheme>
    <a:fontScheme name="Guardian Astr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 Wallet: Astra — Source Code, README, Deployment and Test Guide</dc:title>
  <dc:subject>Guardian Wallet: Astra — International Track, Topic F</dc:subject>
  <dc:creator>PptxGenJS</dc:creator>
  <cp:lastModifiedBy>PptxGenJS</cp:lastModifiedBy>
  <cp:revision>1</cp:revision>
  <dcterms:created xsi:type="dcterms:W3CDTF">2026-10-19T18:51:01Z</dcterms:created>
  <dcterms:modified xsi:type="dcterms:W3CDTF">2026-10-19T18:51:01Z</dcterms:modified>
</cp:coreProperties>
</file>