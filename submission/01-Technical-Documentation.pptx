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chnical Documentation" id="{0228a9c0-3171-2a15-681c-d1a16935651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0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02B"/>
                </a:solidFill>
                <a:latin typeface="+mn-lt"/>
              </a:rPr>
              <a:t>COST-01 median EVM gas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invoices</c:v>
                </c:pt>
              </c:strCache>
            </c:strRef>
          </c:tx>
          <c:spPr>
            <a:solidFill>
              <a:srgbClr val="1F3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 invoices</c:v>
                  </c:pt>
                  <c:pt idx="1">
                    <c:v>7 invoices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1086084</c:v>
                </c:pt>
                <c:pt idx="1">
                  <c:v>1870809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Batched</c:v>
                </c:pt>
              </c:strCache>
            </c:strRef>
          </c:tx>
          <c:spPr>
            <a:solidFill>
              <a:srgbClr val="0B6E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 invoices</c:v>
                  </c:pt>
                  <c:pt idx="1">
                    <c:v>7 invoices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449692</c:v>
                </c:pt>
                <c:pt idx="1">
                  <c:v>600987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0000"/>
          <c:min val="0"/>
        </c:scaling>
        <c:delete val="1"/>
        <c:axPos val="l"/>
        <c:majorGridlines>
          <c:spPr>
            <a:ln w="6350" cap="flat">
              <a:solidFill>
                <a:srgbClr val="D5E1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2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020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FE3E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7C"/>
                </a:solidFill>
              </a:rPr>
              <a:t>Guardian Wallet: Astra · Technical Documentation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Technical Documentation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Guardian Wallet: Astra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International Track, Topic F (Agent Wallet)</a:t>
            </a:r>
            <a:endParaRPr lang="en-US" sz="1800" dirty="0"/>
          </a:p>
        </p:txBody>
      </p:sp>
      <p:sp>
        <p:nvSpPr>
          <p:cNvPr id="4" name="motif-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5" name="motif-2"/>
          <p:cNvSpPr/>
          <p:nvPr/>
        </p:nvSpPr>
        <p:spPr>
          <a:xfrm>
            <a:off x="114300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/>
        </p:spPr>
      </p:sp>
      <p:sp>
        <p:nvSpPr>
          <p:cNvPr id="6" name="meta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B8"/>
                </a:solidFill>
              </a:rPr>
              <a:t>Aligned October 20, 2026 · branch feat/batching-evaluation · Base Sepolia, MockUSD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Guardian Wallet does</a:t>
            </a:r>
            <a:endParaRPr lang="en-US" sz="3000" dirty="0"/>
          </a:p>
        </p:txBody>
      </p:sp>
      <p:sp>
        <p:nvSpPr>
          <p:cNvPr id="3" name="card Bounded delegation"/>
          <p:cNvSpPr/>
          <p:nvPr/>
        </p:nvSpPr>
        <p:spPr>
          <a:xfrm>
            <a:off x="457200" y="1188720"/>
            <a:ext cx="411480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4" name="text Bounded delegation"/>
          <p:cNvSpPr txBox="1"/>
          <p:nvPr/>
        </p:nvSpPr>
        <p:spPr>
          <a:xfrm>
            <a:off x="594360" y="128016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Bounded delegation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Owner delegates a procurement task to Astra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Models propose; deterministic code verifies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GuardianPayments, an ERC-7579 executor on Kernel 0.3.1, enforces policy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MockUSD is a test token, not USDC</a:t>
            </a:r>
            <a:endParaRPr lang="en-US" sz="1600" dirty="0"/>
          </a:p>
        </p:txBody>
      </p:sp>
      <p:sp>
        <p:nvSpPr>
          <p:cNvPr id="5" name="stat 10"/>
          <p:cNvSpPr/>
          <p:nvPr/>
        </p:nvSpPr>
        <p:spPr>
          <a:xfrm>
            <a:off x="4754880" y="1188720"/>
            <a:ext cx="19659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6" name="stat value 10"/>
          <p:cNvSpPr txBox="1"/>
          <p:nvPr/>
        </p:nvSpPr>
        <p:spPr>
          <a:xfrm>
            <a:off x="4892040" y="1261872"/>
            <a:ext cx="16916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stat label 10"/>
          <p:cNvSpPr txBox="1"/>
          <p:nvPr/>
        </p:nvSpPr>
        <p:spPr>
          <a:xfrm>
            <a:off x="4892040" y="206883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MockUSD demo allocation</a:t>
            </a:r>
            <a:endParaRPr lang="en-US" sz="1400" dirty="0"/>
          </a:p>
        </p:txBody>
      </p:sp>
      <p:sp>
        <p:nvSpPr>
          <p:cNvPr id="8" name="stat 6"/>
          <p:cNvSpPr/>
          <p:nvPr/>
        </p:nvSpPr>
        <p:spPr>
          <a:xfrm>
            <a:off x="6858000" y="118872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9" name="stat value 6"/>
          <p:cNvSpPr txBox="1"/>
          <p:nvPr/>
        </p:nvSpPr>
        <p:spPr>
          <a:xfrm>
            <a:off x="6995160" y="1261872"/>
            <a:ext cx="1554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stat label 6"/>
          <p:cNvSpPr txBox="1"/>
          <p:nvPr/>
        </p:nvSpPr>
        <p:spPr>
          <a:xfrm>
            <a:off x="6995160" y="206883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protected reserve</a:t>
            </a:r>
            <a:endParaRPr lang="en-US" sz="1400" dirty="0"/>
          </a:p>
        </p:txBody>
      </p:sp>
      <p:sp>
        <p:nvSpPr>
          <p:cNvPr id="11" name="stat 1"/>
          <p:cNvSpPr/>
          <p:nvPr/>
        </p:nvSpPr>
        <p:spPr>
          <a:xfrm>
            <a:off x="4754880" y="2926080"/>
            <a:ext cx="19659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2" name="stat value 1"/>
          <p:cNvSpPr txBox="1"/>
          <p:nvPr/>
        </p:nvSpPr>
        <p:spPr>
          <a:xfrm>
            <a:off x="4892040" y="2999232"/>
            <a:ext cx="16916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3" name="stat label 1"/>
          <p:cNvSpPr txBox="1"/>
          <p:nvPr/>
        </p:nvSpPr>
        <p:spPr>
          <a:xfrm>
            <a:off x="4892040" y="380619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per-payment limit</a:t>
            </a:r>
            <a:endParaRPr lang="en-US" sz="1400" dirty="0"/>
          </a:p>
        </p:txBody>
      </p:sp>
      <p:sp>
        <p:nvSpPr>
          <p:cNvPr id="14" name="stat 2"/>
          <p:cNvSpPr/>
          <p:nvPr/>
        </p:nvSpPr>
        <p:spPr>
          <a:xfrm>
            <a:off x="6858000" y="292608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5" name="stat value 2"/>
          <p:cNvSpPr txBox="1"/>
          <p:nvPr/>
        </p:nvSpPr>
        <p:spPr>
          <a:xfrm>
            <a:off x="6995160" y="2999232"/>
            <a:ext cx="1554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stat label 2"/>
          <p:cNvSpPr txBox="1"/>
          <p:nvPr/>
        </p:nvSpPr>
        <p:spPr>
          <a:xfrm>
            <a:off x="6995160" y="380619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fixed UTC-day cap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 and authority boundaries</a:t>
            </a:r>
            <a:endParaRPr lang="en-US" sz="3000" dirty="0"/>
          </a:p>
        </p:txBody>
      </p:sp>
      <p:sp>
        <p:nvSpPr>
          <p:cNvPr id="3" name="flow box 1"/>
          <p:cNvSpPr/>
          <p:nvPr/>
        </p:nvSpPr>
        <p:spPr>
          <a:xfrm>
            <a:off x="457200" y="1234440"/>
            <a:ext cx="1203960" cy="86868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4" name="flow label 1"/>
          <p:cNvSpPr txBox="1"/>
          <p:nvPr/>
        </p:nvSpPr>
        <p:spPr>
          <a:xfrm>
            <a:off x="493776" y="1234440"/>
            <a:ext cx="1130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Owner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MetaMask</a:t>
            </a:r>
            <a:endParaRPr lang="en-US" sz="1200" dirty="0"/>
          </a:p>
        </p:txBody>
      </p:sp>
      <p:sp>
        <p:nvSpPr>
          <p:cNvPr id="5" name="flow arrow 1"/>
          <p:cNvSpPr/>
          <p:nvPr/>
        </p:nvSpPr>
        <p:spPr>
          <a:xfrm>
            <a:off x="1679448" y="158648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" name="flow box 2"/>
          <p:cNvSpPr/>
          <p:nvPr/>
        </p:nvSpPr>
        <p:spPr>
          <a:xfrm>
            <a:off x="1862328" y="1234440"/>
            <a:ext cx="1203960" cy="86868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7" name="flow label 2"/>
          <p:cNvSpPr txBox="1"/>
          <p:nvPr/>
        </p:nvSpPr>
        <p:spPr>
          <a:xfrm>
            <a:off x="1898904" y="1234440"/>
            <a:ext cx="1130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Web +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Fastify</a:t>
            </a:r>
            <a:endParaRPr lang="en-US" sz="1200" dirty="0"/>
          </a:p>
        </p:txBody>
      </p:sp>
      <p:sp>
        <p:nvSpPr>
          <p:cNvPr id="8" name="flow arrow 2"/>
          <p:cNvSpPr/>
          <p:nvPr/>
        </p:nvSpPr>
        <p:spPr>
          <a:xfrm>
            <a:off x="3084576" y="158648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flow box 3"/>
          <p:cNvSpPr/>
          <p:nvPr/>
        </p:nvSpPr>
        <p:spPr>
          <a:xfrm>
            <a:off x="3267456" y="1234440"/>
            <a:ext cx="1203960" cy="86868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10" name="flow label 3"/>
          <p:cNvSpPr txBox="1"/>
          <p:nvPr/>
        </p:nvSpPr>
        <p:spPr>
          <a:xfrm>
            <a:off x="3304032" y="1234440"/>
            <a:ext cx="1130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Task 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1" name="flow arrow 3"/>
          <p:cNvSpPr/>
          <p:nvPr/>
        </p:nvSpPr>
        <p:spPr>
          <a:xfrm>
            <a:off x="4489704" y="158648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flow box 4"/>
          <p:cNvSpPr/>
          <p:nvPr/>
        </p:nvSpPr>
        <p:spPr>
          <a:xfrm>
            <a:off x="4672584" y="1234440"/>
            <a:ext cx="1203960" cy="86868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13" name="flow label 4"/>
          <p:cNvSpPr txBox="1"/>
          <p:nvPr/>
        </p:nvSpPr>
        <p:spPr>
          <a:xfrm>
            <a:off x="4709160" y="1234440"/>
            <a:ext cx="1130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Worker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scoped session</a:t>
            </a:r>
            <a:endParaRPr lang="en-US" sz="1200" dirty="0"/>
          </a:p>
        </p:txBody>
      </p:sp>
      <p:sp>
        <p:nvSpPr>
          <p:cNvPr id="14" name="flow arrow 4"/>
          <p:cNvSpPr/>
          <p:nvPr/>
        </p:nvSpPr>
        <p:spPr>
          <a:xfrm>
            <a:off x="5894832" y="158648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flow box 5"/>
          <p:cNvSpPr/>
          <p:nvPr/>
        </p:nvSpPr>
        <p:spPr>
          <a:xfrm>
            <a:off x="6077712" y="1234440"/>
            <a:ext cx="1203960" cy="86868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16" name="flow label 5"/>
          <p:cNvSpPr txBox="1"/>
          <p:nvPr/>
        </p:nvSpPr>
        <p:spPr>
          <a:xfrm>
            <a:off x="6114288" y="1234440"/>
            <a:ext cx="1130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Bundler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EntryPoint 0.7</a:t>
            </a:r>
            <a:endParaRPr lang="en-US" sz="1200" dirty="0"/>
          </a:p>
        </p:txBody>
      </p:sp>
      <p:sp>
        <p:nvSpPr>
          <p:cNvPr id="17" name="flow arrow 5"/>
          <p:cNvSpPr/>
          <p:nvPr/>
        </p:nvSpPr>
        <p:spPr>
          <a:xfrm>
            <a:off x="7299960" y="158648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flow box 6"/>
          <p:cNvSpPr/>
          <p:nvPr/>
        </p:nvSpPr>
        <p:spPr>
          <a:xfrm>
            <a:off x="7482840" y="1234440"/>
            <a:ext cx="120396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19" name="flow label 6"/>
          <p:cNvSpPr txBox="1"/>
          <p:nvPr/>
        </p:nvSpPr>
        <p:spPr>
          <a:xfrm>
            <a:off x="7519416" y="1234440"/>
            <a:ext cx="1130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Kernel 0.3.1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 Guardian</a:t>
            </a:r>
            <a:endParaRPr lang="en-US" sz="1200" dirty="0"/>
          </a:p>
        </p:txBody>
      </p:sp>
      <p:sp>
        <p:nvSpPr>
          <p:cNvPr id="20" name="card Model"/>
          <p:cNvSpPr/>
          <p:nvPr/>
        </p:nvSpPr>
        <p:spPr>
          <a:xfrm>
            <a:off x="457200" y="242316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1" name="text Model"/>
          <p:cNvSpPr txBox="1"/>
          <p:nvPr/>
        </p:nvSpPr>
        <p:spPr>
          <a:xfrm>
            <a:off x="594360" y="25146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Returns bounded JSON only. No keys, no calldata, no invoice fields.</a:t>
            </a:r>
            <a:endParaRPr lang="en-US" sz="1600" dirty="0"/>
          </a:p>
        </p:txBody>
      </p:sp>
      <p:sp>
        <p:nvSpPr>
          <p:cNvPr id="22" name="card Worker"/>
          <p:cNvSpPr/>
          <p:nvPr/>
        </p:nvSpPr>
        <p:spPr>
          <a:xfrm>
            <a:off x="3268980" y="242316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3" name="text Worker"/>
          <p:cNvSpPr txBox="1"/>
          <p:nvPr/>
        </p:nvSpPr>
        <p:spPr>
          <a:xfrm>
            <a:off x="3406140" y="25146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Worker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Holds only the delegated session. Runs no model inference.</a:t>
            </a:r>
            <a:endParaRPr lang="en-US" sz="1600" dirty="0"/>
          </a:p>
        </p:txBody>
      </p:sp>
      <p:sp>
        <p:nvSpPr>
          <p:cNvPr id="24" name="card Provider signer"/>
          <p:cNvSpPr/>
          <p:nvPr/>
        </p:nvSpPr>
        <p:spPr>
          <a:xfrm>
            <a:off x="6080760" y="242316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5" name="text Provider signer"/>
          <p:cNvSpPr txBox="1"/>
          <p:nvPr/>
        </p:nvSpPr>
        <p:spPr>
          <a:xfrm>
            <a:off x="6217920" y="25146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Provider signer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Separate process with no owner or session key. A trust assumption.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can do what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Principal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Authority and limit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Owner / root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Authorizes deployment and session; sets policy; pauses and revokes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Intent and decision only; cannot change invoice fields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Financial API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Validates quotes, plans tasks; holds no signing key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Worker session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Guardian selectors only, CALL type, zero native value, expiry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Guardian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Per-account policy, accounting and replay protection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Provider signer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Fixed-catalog quotes and delivery attestations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request to completed service</a:t>
            </a:r>
            <a:endParaRPr lang="en-US" sz="3000" dirty="0"/>
          </a:p>
        </p:txBody>
      </p:sp>
      <p:sp>
        <p:nvSpPr>
          <p:cNvPr id="3" name="card Wallet assistant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4" name="text Wallet assistant"/>
          <p:cNvSpPr txBox="1"/>
          <p:nvPr/>
        </p:nvSpPr>
        <p:spPr>
          <a:xfrm>
            <a:off x="594360" y="128016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Wallet assistant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Draft, then budget and risk review, then explicit queue release.</a:t>
            </a:r>
            <a:endParaRPr lang="en-US" sz="1600" dirty="0"/>
          </a:p>
        </p:txBody>
      </p:sp>
      <p:sp>
        <p:nvSpPr>
          <p:cNvPr id="5" name="card Direct service request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6" name="text Direct service request"/>
          <p:cNvSpPr txBox="1"/>
          <p:nvPr/>
        </p:nvSpPr>
        <p:spPr>
          <a:xfrm>
            <a:off x="4800600" y="128016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Direct service request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/v1/procure stores an eligible task as planned.</a:t>
            </a:r>
            <a:endParaRPr lang="en-US" sz="1600" dirty="0"/>
          </a:p>
        </p:txBody>
      </p:sp>
      <p:sp>
        <p:nvSpPr>
          <p:cNvPr id="7" name="flow box 1"/>
          <p:cNvSpPr/>
          <p:nvPr/>
        </p:nvSpPr>
        <p:spPr>
          <a:xfrm>
            <a:off x="457200" y="2971800"/>
            <a:ext cx="1203960" cy="6858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flow label 1"/>
          <p:cNvSpPr txBox="1"/>
          <p:nvPr/>
        </p:nvSpPr>
        <p:spPr>
          <a:xfrm>
            <a:off x="493776" y="2971800"/>
            <a:ext cx="1130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Validate</a:t>
            </a:r>
            <a:endParaRPr lang="en-US" sz="1200" dirty="0"/>
          </a:p>
        </p:txBody>
      </p:sp>
      <p:sp>
        <p:nvSpPr>
          <p:cNvPr id="9" name="flow arrow 1"/>
          <p:cNvSpPr/>
          <p:nvPr/>
        </p:nvSpPr>
        <p:spPr>
          <a:xfrm>
            <a:off x="1679448" y="323240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flow box 2"/>
          <p:cNvSpPr/>
          <p:nvPr/>
        </p:nvSpPr>
        <p:spPr>
          <a:xfrm>
            <a:off x="1862328" y="2971800"/>
            <a:ext cx="1203960" cy="6858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1" name="flow label 2"/>
          <p:cNvSpPr txBox="1"/>
          <p:nvPr/>
        </p:nvSpPr>
        <p:spPr>
          <a:xfrm>
            <a:off x="1898904" y="2971800"/>
            <a:ext cx="1130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Sign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persist</a:t>
            </a:r>
            <a:endParaRPr lang="en-US" sz="1200" dirty="0"/>
          </a:p>
        </p:txBody>
      </p:sp>
      <p:sp>
        <p:nvSpPr>
          <p:cNvPr id="12" name="flow arrow 2"/>
          <p:cNvSpPr/>
          <p:nvPr/>
        </p:nvSpPr>
        <p:spPr>
          <a:xfrm>
            <a:off x="3084576" y="323240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3" name="flow box 3"/>
          <p:cNvSpPr/>
          <p:nvPr/>
        </p:nvSpPr>
        <p:spPr>
          <a:xfrm>
            <a:off x="3267456" y="2971800"/>
            <a:ext cx="1203960" cy="6858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4" name="flow label 3"/>
          <p:cNvSpPr txBox="1"/>
          <p:nvPr/>
        </p:nvSpPr>
        <p:spPr>
          <a:xfrm>
            <a:off x="3304032" y="2971800"/>
            <a:ext cx="1130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Submit</a:t>
            </a:r>
            <a:endParaRPr lang="en-US" sz="1200" dirty="0"/>
          </a:p>
        </p:txBody>
      </p:sp>
      <p:sp>
        <p:nvSpPr>
          <p:cNvPr id="15" name="flow arrow 3"/>
          <p:cNvSpPr/>
          <p:nvPr/>
        </p:nvSpPr>
        <p:spPr>
          <a:xfrm>
            <a:off x="4489704" y="323240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6" name="flow box 4"/>
          <p:cNvSpPr/>
          <p:nvPr/>
        </p:nvSpPr>
        <p:spPr>
          <a:xfrm>
            <a:off x="4672584" y="2971800"/>
            <a:ext cx="1203960" cy="6858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7" name="flow label 4"/>
          <p:cNvSpPr txBox="1"/>
          <p:nvPr/>
        </p:nvSpPr>
        <p:spPr>
          <a:xfrm>
            <a:off x="4709160" y="2971800"/>
            <a:ext cx="1130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Reconcile</a:t>
            </a:r>
            <a:endParaRPr lang="en-US" sz="1200" dirty="0"/>
          </a:p>
        </p:txBody>
      </p:sp>
      <p:sp>
        <p:nvSpPr>
          <p:cNvPr id="18" name="flow arrow 4"/>
          <p:cNvSpPr/>
          <p:nvPr/>
        </p:nvSpPr>
        <p:spPr>
          <a:xfrm>
            <a:off x="5894832" y="323240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9" name="flow box 5"/>
          <p:cNvSpPr/>
          <p:nvPr/>
        </p:nvSpPr>
        <p:spPr>
          <a:xfrm>
            <a:off x="6077712" y="2971800"/>
            <a:ext cx="1203960" cy="6858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0" name="flow label 5"/>
          <p:cNvSpPr txBox="1"/>
          <p:nvPr/>
        </p:nvSpPr>
        <p:spPr>
          <a:xfrm>
            <a:off x="6114288" y="2971800"/>
            <a:ext cx="1130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Deliver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probe</a:t>
            </a:r>
            <a:endParaRPr lang="en-US" sz="1200" dirty="0"/>
          </a:p>
        </p:txBody>
      </p:sp>
      <p:sp>
        <p:nvSpPr>
          <p:cNvPr id="21" name="flow arrow 5"/>
          <p:cNvSpPr/>
          <p:nvPr/>
        </p:nvSpPr>
        <p:spPr>
          <a:xfrm>
            <a:off x="7299960" y="323240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2" name="flow box 6"/>
          <p:cNvSpPr/>
          <p:nvPr/>
        </p:nvSpPr>
        <p:spPr>
          <a:xfrm>
            <a:off x="7482840" y="2971800"/>
            <a:ext cx="1203960" cy="6858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23" name="flow label 6"/>
          <p:cNvSpPr txBox="1"/>
          <p:nvPr/>
        </p:nvSpPr>
        <p:spPr>
          <a:xfrm>
            <a:off x="7519416" y="2971800"/>
            <a:ext cx="1130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Completed</a:t>
            </a:r>
            <a:endParaRPr lang="en-US" sz="1200" dirty="0"/>
          </a:p>
        </p:txBody>
      </p:sp>
      <p:sp>
        <p:nvSpPr>
          <p:cNvPr id="24" name="lifecycle note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Direct: paid, then completed.  Escrow: escrowed, then release, or refunded.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Budget and plan construction</a:t>
            </a:r>
            <a:endParaRPr lang="en-US" sz="3000" dirty="0"/>
          </a:p>
        </p:txBody>
      </p:sp>
      <p:sp>
        <p:nvSpPr>
          <p:cNvPr id="3" name="formula panel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0202B"/>
          </a:solidFill>
          <a:ln/>
        </p:spPr>
      </p:sp>
      <p:sp>
        <p:nvSpPr>
          <p:cNvPr id="4" name="formula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= max(0, min(balance - reserve, daily_cap - spent) - queued)</a:t>
            </a:r>
            <a:endParaRPr lang="en-US" sz="1400" dirty="0"/>
          </a:p>
        </p:txBody>
      </p:sp>
      <p:sp>
        <p:nvSpPr>
          <p:cNvPr id="5" name="card Integer math"/>
          <p:cNvSpPr/>
          <p:nvPr/>
        </p:nvSpPr>
        <p:spPr>
          <a:xfrm>
            <a:off x="457200" y="23774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6" name="text Integer math"/>
          <p:cNvSpPr txBox="1"/>
          <p:nvPr/>
        </p:nvSpPr>
        <p:spPr>
          <a:xfrm>
            <a:off x="594360" y="2468880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Integer math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Base-unit bigint amounts. No floating point in payments.</a:t>
            </a:r>
            <a:endParaRPr lang="en-US" sz="1600" dirty="0"/>
          </a:p>
        </p:txBody>
      </p:sp>
      <p:sp>
        <p:nvSpPr>
          <p:cNvPr id="7" name="card Code builds plans"/>
          <p:cNvSpPr/>
          <p:nvPr/>
        </p:nvSpPr>
        <p:spPr>
          <a:xfrm>
            <a:off x="3268980" y="23774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8" name="text Code builds plans"/>
          <p:cNvSpPr txBox="1"/>
          <p:nvPr/>
        </p:nvSpPr>
        <p:spPr>
          <a:xfrm>
            <a:off x="3406140" y="2468880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Code builds plans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 gives a decision and summary. Code builds PaymentPlan.</a:t>
            </a:r>
            <a:endParaRPr lang="en-US" sz="1600" dirty="0"/>
          </a:p>
        </p:txBody>
      </p:sp>
      <p:sp>
        <p:nvSpPr>
          <p:cNvPr id="9" name="card Short deadline"/>
          <p:cNvSpPr/>
          <p:nvPr/>
        </p:nvSpPr>
        <p:spPr>
          <a:xfrm>
            <a:off x="6080760" y="23774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0" name="text Short deadline"/>
          <p:cNvSpPr txBox="1"/>
          <p:nvPr/>
        </p:nvSpPr>
        <p:spPr>
          <a:xfrm>
            <a:off x="6217920" y="2468880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Short deadline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 most min(quote expiry, policy expiry, observed + 120 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Atomic settlement in Guardian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4572000" cy="3337560"/>
          </a:xfrm>
          <a:prstGeom prst="roundRect">
            <a:avLst>
              <a:gd name="adj" fmla="val 2192"/>
            </a:avLst>
          </a:prstGeom>
          <a:solidFill>
            <a:srgbClr val="10202B"/>
          </a:solidFill>
          <a:ln/>
        </p:spPr>
      </p:sp>
      <p:sp>
        <p:nvSpPr>
          <p:cNvPr id="4" name="code text"/>
          <p:cNvSpPr txBox="1"/>
          <p:nvPr/>
        </p:nvSpPr>
        <p:spPr>
          <a:xfrm>
            <a:off x="640080" y="1298448"/>
            <a:ext cx="42062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7B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on every batch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spent_day + total &lt;= daily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&gt;= reserve + total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&gt;= reserve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- after == total</a:t>
            </a:r>
            <a:endParaRPr lang="en-US" sz="1400" dirty="0"/>
          </a:p>
        </p:txBody>
      </p:sp>
      <p:sp>
        <p:nvSpPr>
          <p:cNvPr id="5" name="card Safeguards"/>
          <p:cNvSpPr/>
          <p:nvPr/>
        </p:nvSpPr>
        <p:spPr>
          <a:xfrm>
            <a:off x="5212080" y="1188720"/>
            <a:ext cx="347472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6" name="text Safeguards"/>
          <p:cNvSpPr txBox="1"/>
          <p:nvPr/>
        </p:nvSpPr>
        <p:spPr>
          <a:xfrm>
            <a:off x="5349240" y="1280160"/>
            <a:ext cx="3200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Safeguards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Spending and IDs reserved before the token call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Reentrancy guard and return checks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failed item reverts the whole batch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most 10 invoices; default 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Persist before send</a:t>
            </a:r>
            <a:endParaRPr lang="en-US" sz="3000" dirty="0"/>
          </a:p>
        </p:txBody>
      </p:sp>
      <p:sp>
        <p:nvSpPr>
          <p:cNvPr id="3" name="step circle 1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number 1"/>
          <p:cNvSpPr txBox="1"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"/>
          <p:cNvSpPr txBox="1"/>
          <p:nvPr/>
        </p:nvSpPr>
        <p:spPr>
          <a:xfrm>
            <a:off x="987552" y="1188720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Lease the account and read current state</a:t>
            </a:r>
            <a:endParaRPr lang="en-US" sz="1400" dirty="0"/>
          </a:p>
        </p:txBody>
      </p:sp>
      <p:sp>
        <p:nvSpPr>
          <p:cNvPr id="6" name="step circle 2"/>
          <p:cNvSpPr/>
          <p:nvPr/>
        </p:nvSpPr>
        <p:spPr>
          <a:xfrm>
            <a:off x="457200" y="19568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number 2"/>
          <p:cNvSpPr txBox="1"/>
          <p:nvPr/>
        </p:nvSpPr>
        <p:spPr>
          <a:xfrm>
            <a:off x="45720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2"/>
          <p:cNvSpPr txBox="1"/>
          <p:nvPr/>
        </p:nvSpPr>
        <p:spPr>
          <a:xfrm>
            <a:off x="987552" y="1865376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 the exact UserOperation</a:t>
            </a:r>
            <a:endParaRPr lang="en-US" sz="1400" dirty="0"/>
          </a:p>
        </p:txBody>
      </p:sp>
      <p:sp>
        <p:nvSpPr>
          <p:cNvPr id="9" name="step circle 3"/>
          <p:cNvSpPr/>
          <p:nvPr/>
        </p:nvSpPr>
        <p:spPr>
          <a:xfrm>
            <a:off x="457200" y="26334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number 3"/>
          <p:cNvSpPr txBox="1"/>
          <p:nvPr/>
        </p:nvSpPr>
        <p:spPr>
          <a:xfrm>
            <a:off x="4572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3"/>
          <p:cNvSpPr txBox="1"/>
          <p:nvPr/>
        </p:nvSpPr>
        <p:spPr>
          <a:xfrm>
            <a:off x="987552" y="2542032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Commit payload, hash and nonce before sending</a:t>
            </a:r>
            <a:endParaRPr lang="en-US" sz="1400" dirty="0"/>
          </a:p>
        </p:txBody>
      </p:sp>
      <p:sp>
        <p:nvSpPr>
          <p:cNvPr id="12" name="step circle 4"/>
          <p:cNvSpPr/>
          <p:nvPr/>
        </p:nvSpPr>
        <p:spPr>
          <a:xfrm>
            <a:off x="457200" y="3310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number 4"/>
          <p:cNvSpPr txBox="1"/>
          <p:nvPr/>
        </p:nvSpPr>
        <p:spPr>
          <a:xfrm>
            <a:off x="45720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4"/>
          <p:cNvSpPr txBox="1"/>
          <p:nvPr/>
        </p:nvSpPr>
        <p:spPr>
          <a:xfrm>
            <a:off x="987552" y="3218688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a lost response as unknown; no fresh-nonce payment</a:t>
            </a:r>
            <a:endParaRPr lang="en-US" sz="1400" dirty="0"/>
          </a:p>
        </p:txBody>
      </p:sp>
      <p:sp>
        <p:nvSpPr>
          <p:cNvPr id="15" name="step circle 5"/>
          <p:cNvSpPr/>
          <p:nvPr/>
        </p:nvSpPr>
        <p:spPr>
          <a:xfrm>
            <a:off x="457200" y="3986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number 5"/>
          <p:cNvSpPr txBox="1"/>
          <p:nvPr/>
        </p:nvSpPr>
        <p:spPr>
          <a:xfrm>
            <a:off x="45720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step text 5"/>
          <p:cNvSpPr txBox="1"/>
          <p:nvPr/>
        </p:nvSpPr>
        <p:spPr>
          <a:xfrm>
            <a:off x="987552" y="3895344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 receipt, EntryPoint hash and Guardian events</a:t>
            </a:r>
            <a:endParaRPr lang="en-US" sz="1400" dirty="0"/>
          </a:p>
        </p:txBody>
      </p:sp>
      <p:sp>
        <p:nvSpPr>
          <p:cNvPr id="18" name="card Pending is not dropped"/>
          <p:cNvSpPr/>
          <p:nvPr/>
        </p:nvSpPr>
        <p:spPr>
          <a:xfrm>
            <a:off x="5669280" y="1188720"/>
            <a:ext cx="3017520" cy="3337560"/>
          </a:xfrm>
          <a:prstGeom prst="roundRect">
            <a:avLst>
              <a:gd name="adj" fmla="val 2424"/>
            </a:avLst>
          </a:prstGeom>
          <a:solidFill>
            <a:srgbClr val="EEF4F3"/>
          </a:solidFill>
          <a:ln/>
        </p:spPr>
      </p:sp>
      <p:sp>
        <p:nvSpPr>
          <p:cNvPr id="19" name="text Pending is not dropped"/>
          <p:cNvSpPr txBox="1"/>
          <p:nvPr/>
        </p:nvSpPr>
        <p:spPr>
          <a:xfrm>
            <a:off x="5806440" y="1280160"/>
            <a:ext cx="2743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Pending is not dropped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Insufficient evidence stays pending. Conflicts move to needs_review and pause scheduling.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Escrow for service delivery</a:t>
            </a:r>
            <a:endParaRPr lang="en-US" sz="3000" dirty="0"/>
          </a:p>
        </p:txBody>
      </p:sp>
      <p:sp>
        <p:nvSpPr>
          <p:cNvPr id="3" name="card 1  Lock"/>
          <p:cNvSpPr/>
          <p:nvPr/>
        </p:nvSpPr>
        <p:spPr>
          <a:xfrm>
            <a:off x="45720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1  Lock"/>
          <p:cNvSpPr txBox="1"/>
          <p:nvPr/>
        </p:nvSpPr>
        <p:spPr>
          <a:xfrm>
            <a:off x="594360" y="12801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 Lock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Invoice consumed; amount held in Guardian.</a:t>
            </a:r>
            <a:endParaRPr lang="en-US" sz="1600" dirty="0"/>
          </a:p>
        </p:txBody>
      </p:sp>
      <p:sp>
        <p:nvSpPr>
          <p:cNvPr id="5" name="card 2  Stage"/>
          <p:cNvSpPr/>
          <p:nvPr/>
        </p:nvSpPr>
        <p:spPr>
          <a:xfrm>
            <a:off x="326898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6" name="text 2  Stage"/>
          <p:cNvSpPr txBox="1"/>
          <p:nvPr/>
        </p:nvSpPr>
        <p:spPr>
          <a:xfrm>
            <a:off x="3406140" y="12801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 Stage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Provider readies a hidden namespace; worker probes it.</a:t>
            </a:r>
            <a:endParaRPr lang="en-US" sz="1600" dirty="0"/>
          </a:p>
        </p:txBody>
      </p:sp>
      <p:sp>
        <p:nvSpPr>
          <p:cNvPr id="7" name="card 3  Release"/>
          <p:cNvSpPr/>
          <p:nvPr/>
        </p:nvSpPr>
        <p:spPr>
          <a:xfrm>
            <a:off x="608076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8" name="text 3  Release"/>
          <p:cNvSpPr txBox="1"/>
          <p:nvPr/>
        </p:nvSpPr>
        <p:spPr>
          <a:xfrm>
            <a:off x="6217920" y="12801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 Release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Access activates after a confirmed release.</a:t>
            </a:r>
            <a:endParaRPr lang="en-US" sz="1600" dirty="0"/>
          </a:p>
        </p:txBody>
      </p:sp>
      <p:sp>
        <p:nvSpPr>
          <p:cNvPr id="9" name="card Refund path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BF3E2"/>
          </a:solidFill>
          <a:ln/>
        </p:spPr>
      </p:sp>
      <p:sp>
        <p:nvSpPr>
          <p:cNvPr id="10" name="text Refund path"/>
          <p:cNvSpPr txBox="1"/>
          <p:nvPr/>
        </p:nvSpPr>
        <p:spPr>
          <a:xfrm>
            <a:off x="594360" y="36118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Refund path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After refundAfter, anyone may submit refundEscrow. No on-chain timer; worker window defaults to 600 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Verification evidence</a:t>
            </a:r>
            <a:endParaRPr lang="en-US" sz="3000" dirty="0"/>
          </a:p>
        </p:txBody>
      </p:sp>
      <p:graphicFrame>
        <p:nvGraphicFramePr>
          <p:cNvPr id="3" name="gas chart" descr=""/>
          <p:cNvGraphicFramePr/>
          <p:nvPr/>
        </p:nvGraphicFramePr>
        <p:xfrm>
          <a:off x="457200" y="1143000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156"/>
          <p:cNvSpPr/>
          <p:nvPr/>
        </p:nvSpPr>
        <p:spPr>
          <a:xfrm>
            <a:off x="5394960" y="1188720"/>
            <a:ext cx="32918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5" name="stat value 156"/>
          <p:cNvSpPr txBox="1"/>
          <p:nvPr/>
        </p:nvSpPr>
        <p:spPr>
          <a:xfrm>
            <a:off x="5532120" y="1261872"/>
            <a:ext cx="30175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3200" dirty="0"/>
          </a:p>
        </p:txBody>
      </p:sp>
      <p:sp>
        <p:nvSpPr>
          <p:cNvPr id="6" name="stat label 156"/>
          <p:cNvSpPr txBox="1"/>
          <p:nvPr/>
        </p:nvSpPr>
        <p:spPr>
          <a:xfrm>
            <a:off x="5532120" y="191795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 passed, Oct 20 checkpoint</a:t>
            </a:r>
            <a:endParaRPr lang="en-US" sz="1400" dirty="0"/>
          </a:p>
        </p:txBody>
      </p:sp>
      <p:sp>
        <p:nvSpPr>
          <p:cNvPr id="7" name="stat -58.6% / -67.9%"/>
          <p:cNvSpPr/>
          <p:nvPr/>
        </p:nvSpPr>
        <p:spPr>
          <a:xfrm>
            <a:off x="5394960" y="2651760"/>
            <a:ext cx="32918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8" name="stat value -58.6% / -67.9%"/>
          <p:cNvSpPr txBox="1"/>
          <p:nvPr/>
        </p:nvSpPr>
        <p:spPr>
          <a:xfrm>
            <a:off x="5532120" y="2724912"/>
            <a:ext cx="30175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-58.6% / -67.9%</a:t>
            </a:r>
            <a:endParaRPr lang="en-US" sz="2200" dirty="0"/>
          </a:p>
        </p:txBody>
      </p:sp>
      <p:sp>
        <p:nvSpPr>
          <p:cNvPr id="9" name="stat label -58.6% / -67.9%"/>
          <p:cNvSpPr txBox="1"/>
          <p:nvPr/>
        </p:nvSpPr>
        <p:spPr>
          <a:xfrm>
            <a:off x="5532120" y="338099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gas for 4 / 7 invoice batches</a:t>
            </a:r>
            <a:endParaRPr lang="en-US" sz="1400" dirty="0"/>
          </a:p>
        </p:txBody>
      </p:sp>
      <p:sp>
        <p:nvSpPr>
          <p:cNvPr id="10" name="evidence note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 Base Sepolia receipts: direct 0.26 MockUSD (AI-01) and escrow lock to release. Batching measured on a local fork 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ardian Ink">
  <a:themeElements>
    <a:clrScheme name="Guardian Ink">
      <a:dk1>
        <a:srgbClr val="10202B"/>
      </a:dk1>
      <a:lt1>
        <a:srgbClr val="FFFFFF"/>
      </a:lt1>
      <a:dk2>
        <a:srgbClr val="1F3A4D"/>
      </a:dk2>
      <a:lt2>
        <a:srgbClr val="EEF4F3"/>
      </a:lt2>
      <a:accent1>
        <a:srgbClr val="0B6E70"/>
      </a:accent1>
      <a:accent2>
        <a:srgbClr val="C98A1B"/>
      </a:accent2>
      <a:accent3>
        <a:srgbClr val="2F6F5E"/>
      </a:accent3>
      <a:accent4>
        <a:srgbClr val="B4432F"/>
      </a:accent4>
      <a:accent5>
        <a:srgbClr val="5B7C99"/>
      </a:accent5>
      <a:accent6>
        <a:srgbClr val="8AA29E"/>
      </a:accent6>
      <a:hlink>
        <a:srgbClr val="0B6E70"/>
      </a:hlink>
      <a:folHlink>
        <a:srgbClr val="5B7C99"/>
      </a:folHlink>
    </a:clrScheme>
    <a:fontScheme name="Guardian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Documentation</dc:title>
  <dc:subject>PptxGenJS Presentation</dc:subject>
  <dc:creator>Guardian Wallet: Astra</dc:creator>
  <cp:lastModifiedBy>Guardian Wallet: Astra</cp:lastModifiedBy>
  <cp:revision>1</cp:revision>
  <dcterms:created xsi:type="dcterms:W3CDTF">2026-10-20T11:30:17Z</dcterms:created>
  <dcterms:modified xsi:type="dcterms:W3CDTF">2026-10-20T11:30:17Z</dcterms:modified>
</cp:coreProperties>
</file>