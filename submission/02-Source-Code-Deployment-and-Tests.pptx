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urce Code, Deployment and Tests" id="{25945482-2aae-ed35-d0b0-8d18c1009e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02B"/>
                </a:solidFill>
                <a:latin typeface="+mn-lt"/>
              </a:rPr>
              <a:t>Oct 20 checkpoint, all passing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0B6E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Integration</c:v>
                  </c:pt>
                  <c:pt idx="1">
                    <c:v>Browser</c:v>
                  </c:pt>
                  <c:pt idx="2">
                    <c:v>Contract/fork</c:v>
                  </c:pt>
                  <c:pt idx="3">
                    <c:v>Web unit</c:v>
                  </c:pt>
                  <c:pt idx="4">
                    <c:v>Tooling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</c:v>
                </c:pt>
                <c:pt idx="1">
                  <c:v>25</c:v>
                </c:pt>
                <c:pt idx="2">
                  <c:v>17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b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27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FE3E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C"/>
                </a:solidFill>
              </a:rPr>
              <a:t>Guardian Wallet: Astra · Source Code, Deployment and Tests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Source Code, Deployment and Tests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Guardian Wallet: Astra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International Track, Topic F (Agent Wallet)</a:t>
            </a:r>
            <a:endParaRPr lang="en-US" sz="1800" dirty="0"/>
          </a:p>
        </p:txBody>
      </p:sp>
      <p:sp>
        <p:nvSpPr>
          <p:cNvPr id="4" name="motif-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5" name="motif-2"/>
          <p:cNvSpPr/>
          <p:nvPr/>
        </p:nvSpPr>
        <p:spPr>
          <a:xfrm>
            <a:off x="114300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/>
        </p:spPr>
      </p:sp>
      <p:sp>
        <p:nvSpPr>
          <p:cNvPr id="6" name="meta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B8"/>
                </a:solidFill>
              </a:rPr>
              <a:t>Aligned October 20, 2026 · branch feat/batching-evaluation · 156 recorded tests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Repository and revision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Repository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github.com/farisal123uy/LombaGoestoChina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Branch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feat/batching-evaluation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Base commit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b439c8f, October 19, plus October 20 updates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Entry points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B"/>
                          </a:solidFill>
                        </a:rPr>
                        <a:t>README.md, docs/PROGRESS.md, release checklist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 Freeze the revision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BF3E2"/>
          </a:solidFill>
          <a:ln/>
        </p:spPr>
      </p:sp>
      <p:sp>
        <p:nvSpPr>
          <p:cNvPr id="5" name="text Freeze the revision"/>
          <p:cNvSpPr txBox="1"/>
          <p:nvPr/>
        </p:nvSpPr>
        <p:spPr>
          <a:xfrm>
            <a:off x="594360" y="37490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Freeze the revision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branch name does not prove checkout, remote and hosted build match. Cite the commit or archive SHA-256 inventory.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Repository layout</a:t>
            </a:r>
            <a:endParaRPr lang="en-US" sz="3000" dirty="0"/>
          </a:p>
        </p:txBody>
      </p:sp>
      <p:sp>
        <p:nvSpPr>
          <p:cNvPr id="3" name="card apps/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xt apps/"/>
          <p:cNvSpPr txBox="1"/>
          <p:nvPr/>
        </p:nvSpPr>
        <p:spPr>
          <a:xfrm>
            <a:off x="594360" y="128016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apps/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web, api, worker, reviewer</a:t>
            </a:r>
            <a:endParaRPr lang="en-US" sz="1600" dirty="0"/>
          </a:p>
        </p:txBody>
      </p:sp>
      <p:sp>
        <p:nvSpPr>
          <p:cNvPr id="5" name="card packages/"/>
          <p:cNvSpPr/>
          <p:nvPr/>
        </p:nvSpPr>
        <p:spPr>
          <a:xfrm>
            <a:off x="326898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6" name="text packages/"/>
          <p:cNvSpPr txBox="1"/>
          <p:nvPr/>
        </p:nvSpPr>
        <p:spPr>
          <a:xfrm>
            <a:off x="3406140" y="128016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packages/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shared, planner, wallet, database</a:t>
            </a:r>
            <a:endParaRPr lang="en-US" sz="1600" dirty="0"/>
          </a:p>
        </p:txBody>
      </p:sp>
      <p:sp>
        <p:nvSpPr>
          <p:cNvPr id="7" name="card contracts/"/>
          <p:cNvSpPr/>
          <p:nvPr/>
        </p:nvSpPr>
        <p:spPr>
          <a:xfrm>
            <a:off x="608076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8" name="text contracts/"/>
          <p:cNvSpPr txBox="1"/>
          <p:nvPr/>
        </p:nvSpPr>
        <p:spPr>
          <a:xfrm>
            <a:off x="6217920" y="128016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contracts/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GuardianPayments, tokens, policy and fork tests</a:t>
            </a:r>
            <a:endParaRPr lang="en-US" sz="1600" dirty="0"/>
          </a:p>
        </p:txBody>
      </p:sp>
      <p:sp>
        <p:nvSpPr>
          <p:cNvPr id="9" name="card tests/ and tools/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text tests/ and tools/"/>
          <p:cNvSpPr txBox="1"/>
          <p:nvPr/>
        </p:nvSpPr>
        <p:spPr>
          <a:xfrm>
            <a:off x="594360" y="30175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tests/ and tools/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integration, browser, setup, release scripts</a:t>
            </a:r>
            <a:endParaRPr lang="en-US" sz="1600" dirty="0"/>
          </a:p>
        </p:txBody>
      </p:sp>
      <p:sp>
        <p:nvSpPr>
          <p:cNvPr id="11" name="card deployment/"/>
          <p:cNvSpPr/>
          <p:nvPr/>
        </p:nvSpPr>
        <p:spPr>
          <a:xfrm>
            <a:off x="326898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text deployment/"/>
          <p:cNvSpPr txBox="1"/>
          <p:nvPr/>
        </p:nvSpPr>
        <p:spPr>
          <a:xfrm>
            <a:off x="3406140" y="30175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deployment/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reviewer hosting config, two Dockerfiles</a:t>
            </a:r>
            <a:endParaRPr lang="en-US" sz="1600" dirty="0"/>
          </a:p>
        </p:txBody>
      </p:sp>
      <p:sp>
        <p:nvSpPr>
          <p:cNvPr id="13" name="card docs/ and submission/"/>
          <p:cNvSpPr/>
          <p:nvPr/>
        </p:nvSpPr>
        <p:spPr>
          <a:xfrm>
            <a:off x="608076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text docs/ and submission/"/>
          <p:cNvSpPr txBox="1"/>
          <p:nvPr/>
        </p:nvSpPr>
        <p:spPr>
          <a:xfrm>
            <a:off x="6217920" y="301752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docs/ and submission/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evidence, guides, team deliverables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Requirements and install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"/>
          <p:cNvSpPr txBox="1"/>
          <p:nvPr/>
        </p:nvSpPr>
        <p:spPr>
          <a:xfrm>
            <a:off x="987552" y="1188720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Node.js 22.13+ and npm 10.9.2</a:t>
            </a:r>
            <a:endParaRPr lang="en-US" sz="1400" dirty="0"/>
          </a:p>
        </p:txBody>
      </p:sp>
      <p:sp>
        <p:nvSpPr>
          <p:cNvPr id="6" name="step circle 2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number 2"/>
          <p:cNvSpPr txBox="1"/>
          <p:nvPr/>
        </p:nvSpPr>
        <p:spPr>
          <a:xfrm>
            <a:off x="4572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"/>
          <p:cNvSpPr txBox="1"/>
          <p:nvPr/>
        </p:nvSpPr>
        <p:spPr>
          <a:xfrm>
            <a:off x="987552" y="186537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root lockfile; private workspaces</a:t>
            </a:r>
            <a:endParaRPr lang="en-US" sz="1400" dirty="0"/>
          </a:p>
        </p:txBody>
      </p:sp>
      <p:sp>
        <p:nvSpPr>
          <p:cNvPr id="9" name="step circle 3"/>
          <p:cNvSpPr/>
          <p:nvPr/>
        </p:nvSpPr>
        <p:spPr>
          <a:xfrm>
            <a:off x="457200" y="26334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3"/>
          <p:cNvSpPr txBox="1"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3"/>
          <p:cNvSpPr txBox="1"/>
          <p:nvPr/>
        </p:nvSpPr>
        <p:spPr>
          <a:xfrm>
            <a:off x="987552" y="254203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Playwright Chromium for browser tests</a:t>
            </a:r>
            <a:endParaRPr lang="en-US" sz="1400" dirty="0"/>
          </a:p>
        </p:txBody>
      </p:sp>
      <p:sp>
        <p:nvSpPr>
          <p:cNvPr id="12" name="step circle 4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number 4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4"/>
          <p:cNvSpPr txBox="1"/>
          <p:nvPr/>
        </p:nvSpPr>
        <p:spPr>
          <a:xfrm>
            <a:off x="987552" y="321868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LFS only for the screen recording</a:t>
            </a:r>
            <a:endParaRPr lang="en-US" sz="1400" dirty="0"/>
          </a:p>
        </p:txBody>
      </p:sp>
      <p:sp>
        <p:nvSpPr>
          <p:cNvPr id="15" name="step circle 5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 5"/>
          <p:cNvSpPr txBox="1"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5"/>
          <p:cNvSpPr txBox="1"/>
          <p:nvPr/>
        </p:nvSpPr>
        <p:spPr>
          <a:xfrm>
            <a:off x="987552" y="389534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3.9+ only for source packaging</a:t>
            </a:r>
            <a:endParaRPr lang="en-US" sz="1400" dirty="0"/>
          </a:p>
        </p:txBody>
      </p:sp>
      <p:sp>
        <p:nvSpPr>
          <p:cNvPr id="18" name="code panel"/>
          <p:cNvSpPr/>
          <p:nvPr/>
        </p:nvSpPr>
        <p:spPr>
          <a:xfrm>
            <a:off x="5120640" y="118872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0202B"/>
          </a:solidFill>
          <a:ln/>
        </p:spPr>
      </p:sp>
      <p:sp>
        <p:nvSpPr>
          <p:cNvPr id="19" name="code text"/>
          <p:cNvSpPr txBox="1"/>
          <p:nvPr/>
        </p:nvSpPr>
        <p:spPr>
          <a:xfrm>
            <a:off x="5303520" y="1298448"/>
            <a:ext cx="32004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and run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LombaGoestoChina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20" name="powershell note"/>
          <p:cNvSpPr txBox="1"/>
          <p:nvPr/>
        </p:nvSpPr>
        <p:spPr>
          <a:xfrm>
            <a:off x="512064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PowerShell: use npm.cmd and npx.cmd if script policy blocks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Owner setup and runtime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0202B"/>
          </a:solidFill>
          <a:ln/>
        </p:spPr>
      </p:sp>
      <p:sp>
        <p:nvSpPr>
          <p:cNvPr id="4" name="code text"/>
          <p:cNvSpPr txBox="1"/>
          <p:nvPr/>
        </p:nvSpPr>
        <p:spPr>
          <a:xfrm>
            <a:off x="640080" y="1298448"/>
            <a:ext cx="3657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setup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setup:services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setup:ai-cloud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db:migrate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owner:setup</a:t>
            </a:r>
            <a:endParaRPr lang="en-US" sz="1400" dirty="0"/>
          </a:p>
        </p:txBody>
      </p:sp>
      <p:sp>
        <p:nvSpPr>
          <p:cNvPr id="5" name="code panel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0202B"/>
          </a:solidFill>
          <a:ln/>
        </p:spPr>
      </p:sp>
      <p:sp>
        <p:nvSpPr>
          <p:cNvPr id="6" name="code text"/>
          <p:cNvSpPr txBox="1"/>
          <p:nvPr/>
        </p:nvSpPr>
        <p:spPr>
          <a:xfrm>
            <a:off x="4846320" y="1298448"/>
            <a:ext cx="3657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runtime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FB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runtime:dev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FB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dev:web</a:t>
            </a:r>
            <a:endParaRPr lang="en-US" sz="1400" dirty="0"/>
          </a:p>
        </p:txBody>
      </p:sp>
      <p:sp>
        <p:nvSpPr>
          <p:cNvPr id="7" name="card At /setup"/>
          <p:cNvSpPr/>
          <p:nvPr/>
        </p:nvSpPr>
        <p:spPr>
          <a:xfrm>
            <a:off x="45720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At /setup"/>
          <p:cNvSpPr txBox="1"/>
          <p:nvPr/>
        </p:nvSpPr>
        <p:spPr>
          <a:xfrm>
            <a:off x="59436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At /setup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signs login, deployment and session in MetaMask.</a:t>
            </a:r>
            <a:endParaRPr lang="en-US" sz="1600" dirty="0"/>
          </a:p>
        </p:txBody>
      </p:sp>
      <p:sp>
        <p:nvSpPr>
          <p:cNvPr id="9" name="card Default ports"/>
          <p:cNvSpPr/>
          <p:nvPr/>
        </p:nvSpPr>
        <p:spPr>
          <a:xfrm>
            <a:off x="466344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Default ports"/>
          <p:cNvSpPr txBox="1"/>
          <p:nvPr/>
        </p:nvSpPr>
        <p:spPr>
          <a:xfrm>
            <a:off x="480060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Default ports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3000, API 4000, coordinator 4100, provider 4200/4201.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Reviewer runtime and hosting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10202B"/>
          </a:solidFill>
          <a:ln/>
        </p:spPr>
      </p:sp>
      <p:sp>
        <p:nvSpPr>
          <p:cNvPr id="4" name="code text"/>
          <p:cNvSpPr txBox="1"/>
          <p:nvPr/>
        </p:nvSpPr>
        <p:spPr>
          <a:xfrm>
            <a:off x="640080" y="1298448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7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isolated reviewer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setup:ai-cloud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review:build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D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review:start</a:t>
            </a:r>
            <a:endParaRPr lang="en-US" sz="1400" dirty="0"/>
          </a:p>
        </p:txBody>
      </p:sp>
      <p:sp>
        <p:nvSpPr>
          <p:cNvPr id="5" name="card Local URL"/>
          <p:cNvSpPr/>
          <p:nvPr/>
        </p:nvSpPr>
        <p:spPr>
          <a:xfrm>
            <a:off x="457200" y="310896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text Local URL"/>
          <p:cNvSpPr txBox="1"/>
          <p:nvPr/>
        </p:nvSpPr>
        <p:spPr>
          <a:xfrm>
            <a:off x="594360" y="32004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Local URL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http://127.0.0.1:3100/review. Access link in .local/review/.</a:t>
            </a:r>
            <a:endParaRPr lang="en-US" sz="1600" dirty="0"/>
          </a:p>
        </p:txBody>
      </p:sp>
      <p:sp>
        <p:nvSpPr>
          <p:cNvPr id="7" name="card Disposable fork workspace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8" name="text Disposable fork workspace"/>
          <p:cNvSpPr txBox="1"/>
          <p:nvPr/>
        </p:nvSpPr>
        <p:spPr>
          <a:xfrm>
            <a:off x="4800600" y="1280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Disposable fork workspace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wallet, contracts and PGlite database.</a:t>
            </a:r>
            <a:endParaRPr lang="en-US" sz="1600" dirty="0"/>
          </a:p>
        </p:txBody>
      </p:sp>
      <p:sp>
        <p:nvSpPr>
          <p:cNvPr id="9" name="card No reviewer setup"/>
          <p:cNvSpPr/>
          <p:nvPr/>
        </p:nvSpPr>
        <p:spPr>
          <a:xfrm>
            <a:off x="4663440" y="237744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No reviewer setup"/>
          <p:cNvSpPr txBox="1"/>
          <p:nvPr/>
        </p:nvSpPr>
        <p:spPr>
          <a:xfrm>
            <a:off x="4800600" y="2468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 reviewer setup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MetaMask, funds or model account.</a:t>
            </a:r>
            <a:endParaRPr lang="en-US" sz="1600" dirty="0"/>
          </a:p>
        </p:txBody>
      </p:sp>
      <p:sp>
        <p:nvSpPr>
          <p:cNvPr id="11" name="card 15-minute capability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2" name="text 15-minute capability"/>
          <p:cNvSpPr txBox="1"/>
          <p:nvPr/>
        </p:nvSpPr>
        <p:spPr>
          <a:xfrm>
            <a:off x="480060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15-minute capability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Route-limited; code shared privately.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 results</a:t>
            </a:r>
            <a:endParaRPr lang="en-US" sz="3000" dirty="0"/>
          </a:p>
        </p:txBody>
      </p:sp>
      <p:graphicFrame>
        <p:nvGraphicFramePr>
          <p:cNvPr id="3" name="tests chart" descr=""/>
          <p:cNvGraphicFramePr/>
          <p:nvPr/>
        </p:nvGraphicFramePr>
        <p:xfrm>
          <a:off x="457200" y="114300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156 / 156"/>
          <p:cNvSpPr/>
          <p:nvPr/>
        </p:nvSpPr>
        <p:spPr>
          <a:xfrm>
            <a:off x="5212080" y="118872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stat value 156 / 156"/>
          <p:cNvSpPr txBox="1"/>
          <p:nvPr/>
        </p:nvSpPr>
        <p:spPr>
          <a:xfrm>
            <a:off x="5349240" y="12618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/ 156</a:t>
            </a:r>
            <a:endParaRPr lang="en-US" sz="3200" dirty="0"/>
          </a:p>
        </p:txBody>
      </p:sp>
      <p:sp>
        <p:nvSpPr>
          <p:cNvPr id="6" name="stat label 156 / 156"/>
          <p:cNvSpPr txBox="1"/>
          <p:nvPr/>
        </p:nvSpPr>
        <p:spPr>
          <a:xfrm>
            <a:off x="5349240" y="19431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lint, typecheck, build also passed</a:t>
            </a:r>
            <a:endParaRPr lang="en-US" sz="1400" dirty="0"/>
          </a:p>
        </p:txBody>
      </p:sp>
      <p:sp>
        <p:nvSpPr>
          <p:cNvPr id="7" name="card Fork cases"/>
          <p:cNvSpPr/>
          <p:nvPr/>
        </p:nvSpPr>
        <p:spPr>
          <a:xfrm>
            <a:off x="5212080" y="2697480"/>
            <a:ext cx="347472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text Fork cases"/>
          <p:cNvSpPr txBox="1"/>
          <p:nvPr/>
        </p:nvSpPr>
        <p:spPr>
          <a:xfrm>
            <a:off x="5349240" y="27889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Fork cases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local contract cases plus 5 fork cases. Set KERNEL_FORK_RPC_URL to run all 17.</a:t>
            </a:r>
            <a:endParaRPr lang="en-US" sz="1600" dirty="0"/>
          </a:p>
        </p:txBody>
      </p:sp>
      <p:sp>
        <p:nvSpPr>
          <p:cNvPr id="9" name="test commands"/>
          <p:cNvSpPr txBox="1"/>
          <p:nvPr/>
        </p:nvSpPr>
        <p:spPr>
          <a:xfrm>
            <a:off x="4572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Run: lint, typecheck, build, test:integration, test:web, test:contracts, test:e2e.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Configuration and secret scope</a:t>
            </a:r>
            <a:endParaRPr lang="en-US" sz="30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Template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apps/web/.env.example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Public API and coordinator URLs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apps/api/.env.example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Owner, module, DB/RPC, model, provider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apps/worker/.env.example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Restricted session, bundler, gas, batching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packages/database/.env.example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Migration connection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deployment/review.env.example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Model, access code, port, capacity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secret note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keys stay in the wallet. Worker and provider credentials stay separate from model and API processes.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Source freeze and submission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457200" y="13853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457200" y="1385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"/>
          <p:cNvSpPr txBox="1"/>
          <p:nvPr/>
        </p:nvSpPr>
        <p:spPr>
          <a:xfrm>
            <a:off x="987552" y="1188720"/>
            <a:ext cx="4315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npm run release:source builds the review archive with SOURCE-INVENTORY.json</a:t>
            </a:r>
            <a:endParaRPr lang="en-US" sz="1400" dirty="0"/>
          </a:p>
        </p:txBody>
      </p:sp>
      <p:sp>
        <p:nvSpPr>
          <p:cNvPr id="6" name="step circle 2"/>
          <p:cNvSpPr/>
          <p:nvPr/>
        </p:nvSpPr>
        <p:spPr>
          <a:xfrm>
            <a:off x="457200" y="22997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number 2"/>
          <p:cNvSpPr txBox="1"/>
          <p:nvPr/>
        </p:nvSpPr>
        <p:spPr>
          <a:xfrm>
            <a:off x="457200" y="2299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"/>
          <p:cNvSpPr txBox="1"/>
          <p:nvPr/>
        </p:nvSpPr>
        <p:spPr>
          <a:xfrm>
            <a:off x="987552" y="2103120"/>
            <a:ext cx="4315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frozen source, deployed build and submitted files separately</a:t>
            </a:r>
            <a:endParaRPr lang="en-US" sz="1400" dirty="0"/>
          </a:p>
        </p:txBody>
      </p:sp>
      <p:sp>
        <p:nvSpPr>
          <p:cNvPr id="9" name="step circle 3"/>
          <p:cNvSpPr/>
          <p:nvPr/>
        </p:nvSpPr>
        <p:spPr>
          <a:xfrm>
            <a:off x="457200" y="32141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3"/>
          <p:cNvSpPr txBox="1"/>
          <p:nvPr/>
        </p:nvSpPr>
        <p:spPr>
          <a:xfrm>
            <a:off x="457200" y="32141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3"/>
          <p:cNvSpPr txBox="1"/>
          <p:nvPr/>
        </p:nvSpPr>
        <p:spPr>
          <a:xfrm>
            <a:off x="987552" y="3017520"/>
            <a:ext cx="4315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Recording is stored through Git LFS and excluded from the archive</a:t>
            </a:r>
            <a:endParaRPr lang="en-US" sz="1400" dirty="0"/>
          </a:p>
        </p:txBody>
      </p:sp>
      <p:sp>
        <p:nvSpPr>
          <p:cNvPr id="12" name="card Not claimed"/>
          <p:cNvSpPr/>
          <p:nvPr/>
        </p:nvSpPr>
        <p:spPr>
          <a:xfrm>
            <a:off x="5577840" y="1188720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FBF3E2"/>
          </a:solidFill>
          <a:ln/>
        </p:spPr>
      </p:sp>
      <p:sp>
        <p:nvSpPr>
          <p:cNvPr id="13" name="text Not claimed"/>
          <p:cNvSpPr txBox="1"/>
          <p:nvPr/>
        </p:nvSpPr>
        <p:spPr>
          <a:xfrm>
            <a:off x="5715000" y="1280160"/>
            <a:ext cx="2834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Not claimed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image not built or run in the Windows workspace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 ID 912063431ea0 is the Oct 18 hosting capture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uptime guarantee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Ink">
  <a:themeElements>
    <a:clrScheme name="Guardian Ink">
      <a:dk1>
        <a:srgbClr val="10202B"/>
      </a:dk1>
      <a:lt1>
        <a:srgbClr val="FFFFFF"/>
      </a:lt1>
      <a:dk2>
        <a:srgbClr val="1F3A4D"/>
      </a:dk2>
      <a:lt2>
        <a:srgbClr val="EEF4F3"/>
      </a:lt2>
      <a:accent1>
        <a:srgbClr val="0B6E70"/>
      </a:accent1>
      <a:accent2>
        <a:srgbClr val="C98A1B"/>
      </a:accent2>
      <a:accent3>
        <a:srgbClr val="2F6F5E"/>
      </a:accent3>
      <a:accent4>
        <a:srgbClr val="B4432F"/>
      </a:accent4>
      <a:accent5>
        <a:srgbClr val="5B7C99"/>
      </a:accent5>
      <a:accent6>
        <a:srgbClr val="8AA29E"/>
      </a:accent6>
      <a:hlink>
        <a:srgbClr val="0B6E70"/>
      </a:hlink>
      <a:folHlink>
        <a:srgbClr val="5B7C99"/>
      </a:folHlink>
    </a:clrScheme>
    <a:fontScheme name="Guardian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 Code, Deployment and Tests</dc:title>
  <dc:subject>PptxGenJS Presentation</dc:subject>
  <dc:creator>Guardian Wallet: Astra</dc:creator>
  <cp:lastModifiedBy>Guardian Wallet: Astra</cp:lastModifiedBy>
  <cp:revision>1</cp:revision>
  <dcterms:created xsi:type="dcterms:W3CDTF">2026-10-20T11:30:18Z</dcterms:created>
  <dcterms:modified xsi:type="dcterms:W3CDTF">2026-10-20T11:30:18Z</dcterms:modified>
</cp:coreProperties>
</file>