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urity Self-Assessment" id="{e9e759db-20a1-3f99-d918-615e73d387e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0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202B"/>
                </a:solidFill>
                <a:latin typeface="+mn-lt"/>
              </a:rPr>
              <a:t>Passes out of 60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Passed</c:v>
                </c:pt>
              </c:strCache>
            </c:strRef>
          </c:tx>
          <c:spPr>
            <a:solidFill>
              <a:srgbClr val="0B6E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Baseline</c:v>
                  </c:pt>
                  <c:pt idx="1">
                    <c:v>After correction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</c:v>
                </c:pt>
                <c:pt idx="1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02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0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l"/>
        <c:majorGridlines>
          <c:spPr>
            <a:ln w="6350" cap="flat">
              <a:solidFill>
                <a:srgbClr val="D5E1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27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0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FE3E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7C"/>
                </a:solidFill>
              </a:rPr>
              <a:t>Guardian Wallet: Astra · Security Self-Assessment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Security Self-Assessment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3E1"/>
                </a:solidFill>
              </a:rPr>
              <a:t>Guardian Wallet: Astra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FE3E1"/>
                </a:solidFill>
              </a:rPr>
              <a:t>Internal assessment, not a third-party audit</a:t>
            </a:r>
            <a:endParaRPr lang="en-US" sz="1800" dirty="0"/>
          </a:p>
        </p:txBody>
      </p:sp>
      <p:sp>
        <p:nvSpPr>
          <p:cNvPr id="4" name="motif-1"/>
          <p:cNvSpPr/>
          <p:nvPr/>
        </p:nvSpPr>
        <p:spPr>
          <a:xfrm>
            <a:off x="548640" y="54864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/>
        </p:spPr>
      </p:sp>
      <p:sp>
        <p:nvSpPr>
          <p:cNvPr id="5" name="motif-2"/>
          <p:cNvSpPr/>
          <p:nvPr/>
        </p:nvSpPr>
        <p:spPr>
          <a:xfrm>
            <a:off x="1143000" y="54864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  <a:ln/>
        </p:spPr>
      </p:sp>
      <p:sp>
        <p:nvSpPr>
          <p:cNvPr id="6" name="meta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B8"/>
                </a:solidFill>
              </a:rPr>
              <a:t>Aligned October 20, 2026 · branch feat/batching-evaluation · Base Sepolia, MockUSD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Executive assessment</a:t>
            </a:r>
            <a:endParaRPr lang="en-US" sz="3000" dirty="0"/>
          </a:p>
        </p:txBody>
      </p:sp>
      <p:sp>
        <p:nvSpPr>
          <p:cNvPr id="3" name="stat 156"/>
          <p:cNvSpPr/>
          <p:nvPr/>
        </p:nvSpPr>
        <p:spPr>
          <a:xfrm>
            <a:off x="45720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4" name="stat value 156"/>
          <p:cNvSpPr txBox="1"/>
          <p:nvPr/>
        </p:nvSpPr>
        <p:spPr>
          <a:xfrm>
            <a:off x="594360" y="12618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</a:t>
            </a:r>
            <a:endParaRPr lang="en-US" sz="3200" dirty="0"/>
          </a:p>
        </p:txBody>
      </p:sp>
      <p:sp>
        <p:nvSpPr>
          <p:cNvPr id="5" name="stat label 156"/>
          <p:cNvSpPr txBox="1"/>
          <p:nvPr/>
        </p:nvSpPr>
        <p:spPr>
          <a:xfrm>
            <a:off x="594360" y="204368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tests passing, Oct 20 checkpoint</a:t>
            </a:r>
            <a:endParaRPr lang="en-US" sz="1400" dirty="0"/>
          </a:p>
        </p:txBody>
      </p:sp>
      <p:sp>
        <p:nvSpPr>
          <p:cNvPr id="6" name="stat 0"/>
          <p:cNvSpPr/>
          <p:nvPr/>
        </p:nvSpPr>
        <p:spPr>
          <a:xfrm>
            <a:off x="326898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7" name="stat value 0"/>
          <p:cNvSpPr txBox="1"/>
          <p:nvPr/>
        </p:nvSpPr>
        <p:spPr>
          <a:xfrm>
            <a:off x="3406140" y="12618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8" name="stat label 0"/>
          <p:cNvSpPr txBox="1"/>
          <p:nvPr/>
        </p:nvSpPr>
        <p:spPr>
          <a:xfrm>
            <a:off x="3406140" y="204368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known advisories, full and production npm audit</a:t>
            </a:r>
            <a:endParaRPr lang="en-US" sz="1400" dirty="0"/>
          </a:p>
        </p:txBody>
      </p:sp>
      <p:sp>
        <p:nvSpPr>
          <p:cNvPr id="9" name="stat 60/60"/>
          <p:cNvSpPr/>
          <p:nvPr/>
        </p:nvSpPr>
        <p:spPr>
          <a:xfrm>
            <a:off x="608076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stat value 60/60"/>
          <p:cNvSpPr txBox="1"/>
          <p:nvPr/>
        </p:nvSpPr>
        <p:spPr>
          <a:xfrm>
            <a:off x="6217920" y="12618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60/60</a:t>
            </a:r>
            <a:endParaRPr lang="en-US" sz="3200" dirty="0"/>
          </a:p>
        </p:txBody>
      </p:sp>
      <p:sp>
        <p:nvSpPr>
          <p:cNvPr id="11" name="stat label 60/60"/>
          <p:cNvSpPr txBox="1"/>
          <p:nvPr/>
        </p:nvSpPr>
        <p:spPr>
          <a:xfrm>
            <a:off x="6217920" y="204368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adversarial objectives, in-sample</a:t>
            </a:r>
            <a:endParaRPr lang="en-US" sz="1400" dirty="0"/>
          </a:p>
        </p:txBody>
      </p:sp>
      <p:sp>
        <p:nvSpPr>
          <p:cNvPr id="12" name="card Not claimed"/>
          <p:cNvSpPr/>
          <p:nvPr/>
        </p:nvSpPr>
        <p:spPr>
          <a:xfrm>
            <a:off x="457200" y="292608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BF3E2"/>
          </a:solidFill>
          <a:ln/>
        </p:spPr>
      </p:sp>
      <p:sp>
        <p:nvSpPr>
          <p:cNvPr id="13" name="text Not claimed"/>
          <p:cNvSpPr txBox="1"/>
          <p:nvPr/>
        </p:nvSpPr>
        <p:spPr>
          <a:xfrm>
            <a:off x="594360" y="3017520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Not claimed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Independent audit, formal verification, held-out red-team benchmark, mainnet acceptance, production multi-tenant validation or an uptime guarantee.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Assets and trust boundaries</a:t>
            </a:r>
            <a:endParaRPr lang="en-US" sz="3000" dirty="0"/>
          </a:p>
        </p:txBody>
      </p:sp>
      <p:sp>
        <p:nvSpPr>
          <p:cNvPr id="3" name="card Owner wallet and app"/>
          <p:cNvSpPr/>
          <p:nvPr/>
        </p:nvSpPr>
        <p:spPr>
          <a:xfrm>
            <a:off x="457200" y="1188720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4" name="text Owner wallet and app"/>
          <p:cNvSpPr txBox="1"/>
          <p:nvPr/>
        </p:nvSpPr>
        <p:spPr>
          <a:xfrm>
            <a:off x="594360" y="128016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Owner wallet and app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Login proves control; it installs no policy.</a:t>
            </a:r>
            <a:endParaRPr lang="en-US" sz="1500" dirty="0"/>
          </a:p>
        </p:txBody>
      </p:sp>
      <p:sp>
        <p:nvSpPr>
          <p:cNvPr id="5" name="card Browser and API"/>
          <p:cNvSpPr/>
          <p:nvPr/>
        </p:nvSpPr>
        <p:spPr>
          <a:xfrm>
            <a:off x="4663440" y="1188720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6" name="text Browser and API"/>
          <p:cNvSpPr txBox="1"/>
          <p:nvPr/>
        </p:nvSpPr>
        <p:spPr>
          <a:xfrm>
            <a:off x="4800600" y="128016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Browser and API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Short-lived tokens, never signing keys.</a:t>
            </a:r>
            <a:endParaRPr lang="en-US" sz="1500" dirty="0"/>
          </a:p>
        </p:txBody>
      </p:sp>
      <p:sp>
        <p:nvSpPr>
          <p:cNvPr id="7" name="card Model and code"/>
          <p:cNvSpPr/>
          <p:nvPr/>
        </p:nvSpPr>
        <p:spPr>
          <a:xfrm>
            <a:off x="457200" y="2331720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8" name="text Model and code"/>
          <p:cNvSpPr txBox="1"/>
          <p:nvPr/>
        </p:nvSpPr>
        <p:spPr>
          <a:xfrm>
            <a:off x="594360" y="242316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Model and code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Structured output is untrusted data.</a:t>
            </a:r>
            <a:endParaRPr lang="en-US" sz="1500" dirty="0"/>
          </a:p>
        </p:txBody>
      </p:sp>
      <p:sp>
        <p:nvSpPr>
          <p:cNvPr id="9" name="card API and provider"/>
          <p:cNvSpPr/>
          <p:nvPr/>
        </p:nvSpPr>
        <p:spPr>
          <a:xfrm>
            <a:off x="4663440" y="2331720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0" name="text API and provider"/>
          <p:cNvSpPr txBox="1"/>
          <p:nvPr/>
        </p:nvSpPr>
        <p:spPr>
          <a:xfrm>
            <a:off x="4800600" y="242316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API and provider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signature binds a signer, not independence.</a:t>
            </a:r>
            <a:endParaRPr lang="en-US" sz="1500" dirty="0"/>
          </a:p>
        </p:txBody>
      </p:sp>
      <p:sp>
        <p:nvSpPr>
          <p:cNvPr id="11" name="card Worker and chain"/>
          <p:cNvSpPr/>
          <p:nvPr/>
        </p:nvSpPr>
        <p:spPr>
          <a:xfrm>
            <a:off x="457200" y="3474720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2" name="text Worker and chain"/>
          <p:cNvSpPr txBox="1"/>
          <p:nvPr/>
        </p:nvSpPr>
        <p:spPr>
          <a:xfrm>
            <a:off x="594360" y="356616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Worker and chain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Submission success is not settlement.</a:t>
            </a:r>
            <a:endParaRPr lang="en-US" sz="1500" dirty="0"/>
          </a:p>
        </p:txBody>
      </p:sp>
      <p:sp>
        <p:nvSpPr>
          <p:cNvPr id="13" name="card Reviewer and host"/>
          <p:cNvSpPr/>
          <p:nvPr/>
        </p:nvSpPr>
        <p:spPr>
          <a:xfrm>
            <a:off x="4663440" y="3474720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4" name="text Reviewer and host"/>
          <p:cNvSpPr txBox="1"/>
          <p:nvPr/>
        </p:nvSpPr>
        <p:spPr>
          <a:xfrm>
            <a:off x="4800600" y="356616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Reviewer and host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Capabilities isolate forks; host risk remains.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Seven permission tiers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286000"/>
                <a:gridCol w="5303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Principal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Authority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Owner / root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Authorizes deployment, session and policy; can withdraw funds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Intent and decision only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Financial API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Reads, validates, plans; no signing key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Worker session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Guardian selectors, CALL, zero value, expiry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Guardian executor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Per-account policy, replay and escrow checks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Provider agent + signer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Fixed quotes and attestations; no owner authority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Reviewer capability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One disposable workspace, short-lived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Authentication and model integrity</a:t>
            </a:r>
            <a:endParaRPr lang="en-US" sz="3000" dirty="0"/>
          </a:p>
        </p:txBody>
      </p:sp>
      <p:sp>
        <p:nvSpPr>
          <p:cNvPr id="3" name="card Sessions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/>
        </p:spPr>
      </p:sp>
      <p:sp>
        <p:nvSpPr>
          <p:cNvPr id="4" name="text Sessions"/>
          <p:cNvSpPr txBox="1"/>
          <p:nvPr/>
        </p:nvSpPr>
        <p:spPr>
          <a:xfrm>
            <a:off x="594360" y="12801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Sessions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EIP-191 challenge binds domain, chain, address and nonce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Nonce lasts 5 minutes; bearer session 15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Setup and API sessions are separate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Task views filtered to the active account</a:t>
            </a:r>
            <a:endParaRPr lang="en-US" sz="1600" dirty="0"/>
          </a:p>
        </p:txBody>
      </p:sp>
      <p:sp>
        <p:nvSpPr>
          <p:cNvPr id="5" name="card Model and invoice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/>
        </p:spPr>
      </p:sp>
      <p:sp>
        <p:nvSpPr>
          <p:cNvPr id="6" name="text Model and invoice"/>
          <p:cNvSpPr txBox="1"/>
          <p:nvPr/>
        </p:nvSpPr>
        <p:spPr>
          <a:xfrm>
            <a:off x="4800600" y="12801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Model and invoice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Pinned HTTPS host, schema validation, no fallback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Code builds amounts from the signed catalog quote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EIP-712 binds chain, account, token, recipient, amount, expiry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Tool-free parser reads escaped vendor content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Contract and durability controls</a:t>
            </a:r>
            <a:endParaRPr lang="en-US" sz="3000" dirty="0"/>
          </a:p>
        </p:txBody>
      </p:sp>
      <p:sp>
        <p:nvSpPr>
          <p:cNvPr id="3" name="card Guardian on-chain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/>
        </p:spPr>
      </p:sp>
      <p:sp>
        <p:nvSpPr>
          <p:cNvPr id="4" name="text Guardian on-chain"/>
          <p:cNvSpPr txBox="1"/>
          <p:nvPr/>
        </p:nvSpPr>
        <p:spPr>
          <a:xfrm>
            <a:off x="594360" y="12801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Guardian on-chain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Per-payment cap, UTC-day cap and reserve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Consumed invoice IDs are permanent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Effects precede the token transfer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 most 10 invoices; one failure reverts all</a:t>
            </a:r>
            <a:endParaRPr lang="en-US" sz="1600" dirty="0"/>
          </a:p>
        </p:txBody>
      </p:sp>
      <p:sp>
        <p:nvSpPr>
          <p:cNvPr id="5" name="card Durable execution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/>
        </p:spPr>
      </p:sp>
      <p:sp>
        <p:nvSpPr>
          <p:cNvPr id="6" name="text Durable execution"/>
          <p:cNvSpPr txBox="1"/>
          <p:nvPr/>
        </p:nvSpPr>
        <p:spPr>
          <a:xfrm>
            <a:off x="4800600" y="12801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Durable execution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Exact signed payload stored before send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Unknown result never triggers a fresh-nonce payment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Receipt, EntryPoint hash and Guardian events must match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Conflicts become needs_review and pause scheduling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Escrow controls</a:t>
            </a:r>
            <a:endParaRPr lang="en-US" sz="3000" dirty="0"/>
          </a:p>
        </p:txBody>
      </p:sp>
      <p:sp>
        <p:nvSpPr>
          <p:cNvPr id="3" name="flow box 1"/>
          <p:cNvSpPr/>
          <p:nvPr/>
        </p:nvSpPr>
        <p:spPr>
          <a:xfrm>
            <a:off x="457200" y="1234440"/>
            <a:ext cx="1906524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4" name="flow label 1"/>
          <p:cNvSpPr txBox="1"/>
          <p:nvPr/>
        </p:nvSpPr>
        <p:spPr>
          <a:xfrm>
            <a:off x="493776" y="1234440"/>
            <a:ext cx="18333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Lock + consume ID</a:t>
            </a:r>
            <a:endParaRPr lang="en-US" sz="1400" dirty="0"/>
          </a:p>
        </p:txBody>
      </p:sp>
      <p:sp>
        <p:nvSpPr>
          <p:cNvPr id="5" name="flow arrow 1"/>
          <p:cNvSpPr/>
          <p:nvPr/>
        </p:nvSpPr>
        <p:spPr>
          <a:xfrm>
            <a:off x="2382012" y="151790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6" name="flow box 2"/>
          <p:cNvSpPr/>
          <p:nvPr/>
        </p:nvSpPr>
        <p:spPr>
          <a:xfrm>
            <a:off x="2564892" y="1234440"/>
            <a:ext cx="1906524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7" name="flow label 2"/>
          <p:cNvSpPr txBox="1"/>
          <p:nvPr/>
        </p:nvSpPr>
        <p:spPr>
          <a:xfrm>
            <a:off x="2601468" y="1234440"/>
            <a:ext cx="18333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Stage hidden service</a:t>
            </a:r>
            <a:endParaRPr lang="en-US" sz="1400" dirty="0"/>
          </a:p>
        </p:txBody>
      </p:sp>
      <p:sp>
        <p:nvSpPr>
          <p:cNvPr id="8" name="flow arrow 2"/>
          <p:cNvSpPr/>
          <p:nvPr/>
        </p:nvSpPr>
        <p:spPr>
          <a:xfrm>
            <a:off x="4489704" y="151790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flow box 3"/>
          <p:cNvSpPr/>
          <p:nvPr/>
        </p:nvSpPr>
        <p:spPr>
          <a:xfrm>
            <a:off x="4672584" y="1234440"/>
            <a:ext cx="1906524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10" name="flow label 3"/>
          <p:cNvSpPr txBox="1"/>
          <p:nvPr/>
        </p:nvSpPr>
        <p:spPr>
          <a:xfrm>
            <a:off x="4709160" y="1234440"/>
            <a:ext cx="18333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Probe + release</a:t>
            </a:r>
            <a:endParaRPr lang="en-US" sz="1400" dirty="0"/>
          </a:p>
        </p:txBody>
      </p:sp>
      <p:sp>
        <p:nvSpPr>
          <p:cNvPr id="11" name="flow arrow 3"/>
          <p:cNvSpPr/>
          <p:nvPr/>
        </p:nvSpPr>
        <p:spPr>
          <a:xfrm>
            <a:off x="6597396" y="151790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2" name="flow box 4"/>
          <p:cNvSpPr/>
          <p:nvPr/>
        </p:nvSpPr>
        <p:spPr>
          <a:xfrm>
            <a:off x="6780276" y="1234440"/>
            <a:ext cx="1906524" cy="7315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/>
        </p:spPr>
      </p:sp>
      <p:sp>
        <p:nvSpPr>
          <p:cNvPr id="13" name="flow label 4"/>
          <p:cNvSpPr txBox="1"/>
          <p:nvPr/>
        </p:nvSpPr>
        <p:spPr>
          <a:xfrm>
            <a:off x="6816852" y="1234440"/>
            <a:ext cx="18333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Activate access</a:t>
            </a:r>
            <a:endParaRPr lang="en-US" sz="1400" dirty="0"/>
          </a:p>
        </p:txBody>
      </p:sp>
      <p:sp>
        <p:nvSpPr>
          <p:cNvPr id="14" name="card Assumptions"/>
          <p:cNvSpPr/>
          <p:nvPr/>
        </p:nvSpPr>
        <p:spPr>
          <a:xfrm>
            <a:off x="457200" y="2286000"/>
            <a:ext cx="4023360" cy="2240280"/>
          </a:xfrm>
          <a:prstGeom prst="roundRect">
            <a:avLst>
              <a:gd name="adj" fmla="val 3265"/>
            </a:avLst>
          </a:prstGeom>
          <a:solidFill>
            <a:srgbClr val="FBF3E2"/>
          </a:solidFill>
          <a:ln/>
        </p:spPr>
      </p:sp>
      <p:sp>
        <p:nvSpPr>
          <p:cNvPr id="15" name="text Assumptions"/>
          <p:cNvSpPr txBox="1"/>
          <p:nvPr/>
        </p:nvSpPr>
        <p:spPr>
          <a:xfrm>
            <a:off x="594360" y="2377440"/>
            <a:ext cx="3749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Assumptions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Signatures attest readiness, not quality or uptime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automatic on-chain refund timer</a:t>
            </a:r>
            <a:endParaRPr lang="en-US" sz="1600" dirty="0"/>
          </a:p>
        </p:txBody>
      </p:sp>
      <p:sp>
        <p:nvSpPr>
          <p:cNvPr id="16" name="card Protections"/>
          <p:cNvSpPr/>
          <p:nvPr/>
        </p:nvSpPr>
        <p:spPr>
          <a:xfrm>
            <a:off x="4663440" y="2286000"/>
            <a:ext cx="40233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7" name="text Protections"/>
          <p:cNvSpPr txBox="1"/>
          <p:nvPr/>
        </p:nvSpPr>
        <p:spPr>
          <a:xfrm>
            <a:off x="4800600" y="2377440"/>
            <a:ext cx="3749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Protections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Anyone may submit a refund after the deadline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Pending escrow blocks module uninstall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Same-day refund frees capacity; ID stays consumed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Live adversarial regression</a:t>
            </a:r>
            <a:endParaRPr lang="en-US" sz="3000" dirty="0"/>
          </a:p>
        </p:txBody>
      </p:sp>
      <p:graphicFrame>
        <p:nvGraphicFramePr>
          <p:cNvPr id="3" name="regression chart" descr=""/>
          <p:cNvGraphicFramePr/>
          <p:nvPr/>
        </p:nvGraphicFramePr>
        <p:xfrm>
          <a:off x="457200" y="1143000"/>
          <a:ext cx="35661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188720"/>
          <a:ext cx="4389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Track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Planner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16 / 16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Buyer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16 / 16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Provider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12 / 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Vendor parser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16 / 16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gression note"/>
          <p:cNvSpPr txBox="1"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GPT-OSS 120B, 30 cases twice. Baseline had 6 inconclusive errors. The corpus guided the fix, so this is in-sample.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Residual risks</a:t>
            </a:r>
            <a:endParaRPr lang="en-US" sz="30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657600"/>
                <a:gridCol w="34747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Next work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432F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Undiscovered contract or recovery defects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Independent audit, fuzz tests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432F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Owner compromise, other modules, old allowances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Inventory authority, verify revocation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432F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Hot session or provider keys, privileged DB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Rotation, stronger key custody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432F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Provider readiness oracle; non-atomic direct delivery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Dispute, refund and monitoring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98A1B"/>
                          </a:solidFill>
                        </a:rPr>
                        <a:t>Med-high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Model injection or intent misalignment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Held-out multilingual testing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98A1B"/>
                          </a:solidFill>
                        </a:rPr>
                        <a:t>Med-high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RPC or bundler ambiguity, deep reorg, crash races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Multi-provider stress, operator tools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98A1B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UTC window, token semantics, cost and privacy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Reviewed assets, full cost study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Dependency and release status</a:t>
            </a:r>
            <a:endParaRPr lang="en-US" sz="3000" dirty="0"/>
          </a:p>
        </p:txBody>
      </p:sp>
      <p:sp>
        <p:nvSpPr>
          <p:cNvPr id="3" name="card Dependencies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4" name="text Dependencies"/>
          <p:cNvSpPr txBox="1"/>
          <p:nvPr/>
        </p:nvSpPr>
        <p:spPr>
          <a:xfrm>
            <a:off x="594360" y="128016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Dependencies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Zero known advisories after a scoped esbuild 0.25.12 override.</a:t>
            </a:r>
            <a:endParaRPr lang="en-US" sz="1600" dirty="0"/>
          </a:p>
        </p:txBody>
      </p:sp>
      <p:sp>
        <p:nvSpPr>
          <p:cNvPr id="5" name="card Label the network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6" name="text Label the network"/>
          <p:cNvSpPr txBox="1"/>
          <p:nvPr/>
        </p:nvSpPr>
        <p:spPr>
          <a:xfrm>
            <a:off x="4800600" y="128016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Label the network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Base Sepolia and MockUSD; no mainnet acceptance.</a:t>
            </a:r>
            <a:endParaRPr lang="en-US" sz="1600" dirty="0"/>
          </a:p>
        </p:txBody>
      </p:sp>
      <p:sp>
        <p:nvSpPr>
          <p:cNvPr id="7" name="card Separate identities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8" name="text Separate identities"/>
          <p:cNvSpPr txBox="1"/>
          <p:nvPr/>
        </p:nvSpPr>
        <p:spPr>
          <a:xfrm>
            <a:off x="594360" y="301752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Separate identities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Frozen source, deployed build and submitted files.</a:t>
            </a:r>
            <a:endParaRPr lang="en-US" sz="1600" dirty="0"/>
          </a:p>
        </p:txBody>
      </p:sp>
      <p:sp>
        <p:nvSpPr>
          <p:cNvPr id="9" name="card Hosting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BF3E2"/>
          </a:solidFill>
          <a:ln/>
        </p:spPr>
      </p:sp>
      <p:sp>
        <p:nvSpPr>
          <p:cNvPr id="10" name="text Hosting"/>
          <p:cNvSpPr txBox="1"/>
          <p:nvPr/>
        </p:nvSpPr>
        <p:spPr>
          <a:xfrm>
            <a:off x="4800600" y="301752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Hosting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Free-tier hosting, no SLA. Docker image not built in the Windows workspace.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uardian Ink">
  <a:themeElements>
    <a:clrScheme name="Guardian Ink">
      <a:dk1>
        <a:srgbClr val="10202B"/>
      </a:dk1>
      <a:lt1>
        <a:srgbClr val="FFFFFF"/>
      </a:lt1>
      <a:dk2>
        <a:srgbClr val="1F3A4D"/>
      </a:dk2>
      <a:lt2>
        <a:srgbClr val="EEF4F3"/>
      </a:lt2>
      <a:accent1>
        <a:srgbClr val="0B6E70"/>
      </a:accent1>
      <a:accent2>
        <a:srgbClr val="C98A1B"/>
      </a:accent2>
      <a:accent3>
        <a:srgbClr val="2F6F5E"/>
      </a:accent3>
      <a:accent4>
        <a:srgbClr val="B4432F"/>
      </a:accent4>
      <a:accent5>
        <a:srgbClr val="5B7C99"/>
      </a:accent5>
      <a:accent6>
        <a:srgbClr val="8AA29E"/>
      </a:accent6>
      <a:hlink>
        <a:srgbClr val="0B6E70"/>
      </a:hlink>
      <a:folHlink>
        <a:srgbClr val="5B7C99"/>
      </a:folHlink>
    </a:clrScheme>
    <a:fontScheme name="Guardian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Self-Assessment</dc:title>
  <dc:subject>PptxGenJS Presentation</dc:subject>
  <dc:creator>Guardian Wallet: Astra</dc:creator>
  <cp:lastModifiedBy>Guardian Wallet: Astra</cp:lastModifiedBy>
  <cp:revision>1</cp:revision>
  <dcterms:created xsi:type="dcterms:W3CDTF">2026-10-20T11:30:34Z</dcterms:created>
  <dcterms:modified xsi:type="dcterms:W3CDTF">2026-10-20T11:30:34Z</dcterms:modified>
</cp:coreProperties>
</file>