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chnical documentation" id="{ab3ef099-b750-bade-4409-67211e226ca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documentation deck, built from 01-technical-documentation.md (version of 19 October 2026). Source: branch feat/batching-evaluation, commit b439c8fb5662acb13724314923951bb11091b71a. Status: stage-two implementation on the Base Sepolia testnet and local forks; not mainnet.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of the technical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what is built, why it is needed, goal and design difference, scope and non-goals. The demo database is a time-limited JSONB namespace, not a dedicated database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Mermaid flow in the source: Owner/MetaMask → Next.js dashboard → Fastify API → Groq (GPT-OSS 120B); API → provider agent → separate provider signer → API; API → PostgreSQL/Drizzle → worker (restricted session) → UserOperation → ERC-4337 bundler → EntryPoint 0.7 → Kernel 0.3.1 → GuardianPayments → MockUSD/policy token; signer → PostgreSQL JSONB namespace; worker → (receipt + probe) → service namespace.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3, components and security boundaries. Technologies: Web = Next.js, React, TypeScript; API/worker = Node.js, TypeScript, Fastify; planner = Groq openai/gpt-oss-120b with structured JSON and Zod; database = PostgreSQL, Drizzle (PGlite for reviewer/test).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3, main technologies.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sequence: owner login; instruction; offer request to the provider agent; signed EIP-712 quote; schema/account/policy/budget/expiry/quote validation; draft stored; owner reviews and queues; account locked and budget/eligibility recomputed; worker claims with lease/fencing; reads state, validates, simulates, signs; persists payload/hash/nonce/membership before send; sends the UserOperation; reconciles receipt, nonce, Guardian event, and consumed ID; provisions/probes after settlement depending on mode; outcome paid / completed / service_pending / needs_review. Completed requires settlement/release plus verified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Sections 5.1–5.3. For instructions that need owner authorization or don't fit the catalog/policy, the planner returns needs_owner or unsupported; it never changes permissions. Batch selection is stable and deterministic; the model is not asked to re-decide with signer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5.6 and the escrow note under the permission tiers. In escrow mode the staged service is tested internally before the attestation releases funds, and user-facing activation waits for the release receipt. Status values `escrowed` and `refunded` exist for this path. The session for an escrow deployment explicitly allows the selectors lockPayment, releaseEscrow, and refundEscrow; the contract still checks attestation, deadline, and status. These permissions are not silently added to a direct-mode account. Evidence: docs/evidence/public-escrow-procurement.json.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6, permission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6, defense-in-depth. Owner login: challenge expires after 5 minutes, bearer session after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7, test checkpoint: 104 integration cases + 7 web tests; 17 contract/fork cases; 17 browser cases; lint/typecheck/build pass per the stage-two README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7. The 120B model was chosen for the whole flow and selected security regressions, not for general superiority. COST-01: Base Sepolia fork, isolated, three repetitions per mode; excludes L1 data, provider pricing, hosting, model, and production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566160"/>
            <a:ext cx="10881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Guardian Wallet: Astra  ·  Technical Documentation  ·  International Track, Topic 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Guardian Wallet: Astra  ·  Technical Documentation  ·  International Track, Topic 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International Track  ·  Topic F: Agent Wallet"/>
          <p:cNvSpPr/>
          <p:nvPr/>
        </p:nvSpPr>
        <p:spPr>
          <a:xfrm>
            <a:off x="640080" y="594360"/>
            <a:ext cx="4297680" cy="411480"/>
          </a:xfrm>
          <a:prstGeom prst="roundRect">
            <a:avLst>
              <a:gd name="adj" fmla="val 22222"/>
            </a:avLst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94360"/>
            <a:ext cx="4151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International Track  ·  Topic F: Agent Wallet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Technical Documentation</a:t>
            </a:r>
            <a:endParaRPr lang="en-US" sz="54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Guardian Wallet: Astra — an owner-controlled smart-account wallet for bounded AI-assisted procurement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feat/batching-evaluation · commit b439c8f · prepared 19 October 2026 · stage two, testnet and fork only</a:t>
            </a:r>
            <a:endParaRPr lang="en-US" sz="1800" dirty="0"/>
          </a:p>
        </p:txBody>
      </p:sp>
      <p:sp>
        <p:nvSpPr>
          <p:cNvPr id="7" name="Node Owner"/>
          <p:cNvSpPr/>
          <p:nvPr/>
        </p:nvSpPr>
        <p:spPr>
          <a:xfrm>
            <a:off x="64008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8" name="Icon circle Owner"/>
          <p:cNvSpPr/>
          <p:nvPr/>
        </p:nvSpPr>
        <p:spPr>
          <a:xfrm>
            <a:off x="121158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Owner" descr="Ow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38454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Owner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signs and reviews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251231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Node Astra planner"/>
          <p:cNvSpPr/>
          <p:nvPr/>
        </p:nvSpPr>
        <p:spPr>
          <a:xfrm>
            <a:off x="294894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14" name="Icon circle Astra planner"/>
          <p:cNvSpPr/>
          <p:nvPr/>
        </p:nvSpPr>
        <p:spPr>
          <a:xfrm>
            <a:off x="352044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Astra planner" descr="Astra plann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38454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4894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Astra planner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94894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structured intent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482117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9" name="Node Provider signer"/>
          <p:cNvSpPr/>
          <p:nvPr/>
        </p:nvSpPr>
        <p:spPr>
          <a:xfrm>
            <a:off x="525780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20" name="Icon circle Provider signer"/>
          <p:cNvSpPr/>
          <p:nvPr/>
        </p:nvSpPr>
        <p:spPr>
          <a:xfrm>
            <a:off x="582930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 Provider signer" descr="Provider sig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38454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5780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Provider signer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525780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signed quotes</a:t>
            </a:r>
            <a:endParaRPr lang="en-US" sz="1400" dirty="0"/>
          </a:p>
        </p:txBody>
      </p:sp>
      <p:sp>
        <p:nvSpPr>
          <p:cNvPr id="24" name="Arrow"/>
          <p:cNvSpPr/>
          <p:nvPr/>
        </p:nvSpPr>
        <p:spPr>
          <a:xfrm>
            <a:off x="713003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Node Worker"/>
          <p:cNvSpPr/>
          <p:nvPr/>
        </p:nvSpPr>
        <p:spPr>
          <a:xfrm>
            <a:off x="756666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26" name="Icon circle Worker"/>
          <p:cNvSpPr/>
          <p:nvPr/>
        </p:nvSpPr>
        <p:spPr>
          <a:xfrm>
            <a:off x="813816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 Worker" descr="Work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0" y="4384548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6666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Worker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56666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restricted session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943889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1" name="Node Guardian"/>
          <p:cNvSpPr/>
          <p:nvPr/>
        </p:nvSpPr>
        <p:spPr>
          <a:xfrm>
            <a:off x="987552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32" name="Icon circle Guardian"/>
          <p:cNvSpPr/>
          <p:nvPr/>
        </p:nvSpPr>
        <p:spPr>
          <a:xfrm>
            <a:off x="10447020" y="422452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Icon Guardian" descr="Guardi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4384548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87552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Guardian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987552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final policy boundary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Authority narrows at every step; the Guardian contract has the last word.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Summary</a:t>
            </a:r>
            <a:endParaRPr lang="en-US" sz="3600" dirty="0"/>
          </a:p>
        </p:txBody>
      </p:sp>
      <p:sp>
        <p:nvSpPr>
          <p:cNvPr id="3" name="Card Owner-controlled"/>
          <p:cNvSpPr/>
          <p:nvPr/>
        </p:nvSpPr>
        <p:spPr>
          <a:xfrm>
            <a:off x="548640" y="1280160"/>
            <a:ext cx="542239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4" name="Icon circle Owner-controlled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 Owner-controlled" descr="Owner-control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15887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6304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Owner-controlled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owner authorizes policy and the agent session. Astra holds no owner key and sends no transaction directly.</a:t>
            </a:r>
            <a:endParaRPr lang="en-US" sz="1500" dirty="0"/>
          </a:p>
        </p:txBody>
      </p:sp>
      <p:sp>
        <p:nvSpPr>
          <p:cNvPr id="8" name="Card Astra prepares, never decides money"/>
          <p:cNvSpPr/>
          <p:nvPr/>
        </p:nvSpPr>
        <p:spPr>
          <a:xfrm>
            <a:off x="6126480" y="1280160"/>
            <a:ext cx="542239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9" name="Icon circle Astra prepares, never decides money"/>
          <p:cNvSpPr/>
          <p:nvPr/>
        </p:nvSpPr>
        <p:spPr>
          <a:xfrm>
            <a:off x="6355080" y="14630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 Astra prepares, never decides money" descr="Astra prepares, never decides mone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10" y="15887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95160" y="146304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Astra prepares, never decides money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355080" y="214884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Astra turns instructions into a structured intent and a draft. It sets neither the invoice amount nor the recipient.</a:t>
            </a:r>
            <a:endParaRPr lang="en-US" sz="1500" dirty="0"/>
          </a:p>
        </p:txBody>
      </p:sp>
      <p:sp>
        <p:nvSpPr>
          <p:cNvPr id="13" name="Card Checked at every layer"/>
          <p:cNvSpPr/>
          <p:nvPr/>
        </p:nvSpPr>
        <p:spPr>
          <a:xfrm>
            <a:off x="548640" y="3383280"/>
            <a:ext cx="542239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4" name="Icon circle Checked at every layer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 Checked at every layer" descr="Checked at every lay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36918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56616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Checked at every layer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25196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API checks signed invoices, the worker persists the operation before sending, and GuardianPayments rechecks policy on-chain.</a:t>
            </a:r>
            <a:endParaRPr lang="en-US" sz="1500" dirty="0"/>
          </a:p>
        </p:txBody>
      </p:sp>
      <p:sp>
        <p:nvSpPr>
          <p:cNvPr id="18" name="Card Completed means proven"/>
          <p:cNvSpPr/>
          <p:nvPr/>
        </p:nvSpPr>
        <p:spPr>
          <a:xfrm>
            <a:off x="6126480" y="3383280"/>
            <a:ext cx="5422392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9" name="Icon circle Completed means proven"/>
          <p:cNvSpPr/>
          <p:nvPr/>
        </p:nvSpPr>
        <p:spPr>
          <a:xfrm>
            <a:off x="6355080" y="356616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con Completed means proven" descr="Completed means prov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810" y="369189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3566160"/>
            <a:ext cx="441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Completed means proven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355080" y="4251960"/>
            <a:ext cx="4965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completed needs settlement evidence and, separately, verified service delivery.</a:t>
            </a:r>
            <a:endParaRPr lang="en-US" sz="1500" dirty="0"/>
          </a:p>
        </p:txBody>
      </p:sp>
      <p:sp>
        <p:nvSpPr>
          <p:cNvPr id="23" name="Caveat banner"/>
          <p:cNvSpPr/>
          <p:nvPr/>
        </p:nvSpPr>
        <p:spPr>
          <a:xfrm>
            <a:off x="548640" y="553212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77240" y="553212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Demo service and token: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PostgreSQL JSONB namespace with limited capacity and duration. MockUSD has six decimals and is a test token—not USDC, USD, or a dollar value. Public evidence is on Base Sepolia (chain ID 84532).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Topic F: why, goal, and scope</a:t>
            </a:r>
            <a:endParaRPr lang="en-US" sz="3600" dirty="0"/>
          </a:p>
        </p:txBody>
      </p:sp>
      <p:sp>
        <p:nvSpPr>
          <p:cNvPr id="3" name="Card Why it is needed"/>
          <p:cNvSpPr/>
          <p:nvPr/>
        </p:nvSpPr>
        <p:spPr>
          <a:xfrm>
            <a:off x="548640" y="1280160"/>
            <a:ext cx="5458968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8988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is needed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55648"/>
            <a:ext cx="50566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 agent that only answers cannot finish operational tasks such as buying a service another app needs.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Giving a model a private key or a full wallet adds prompt-injection, misreading, and wrong-output risk.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Payment and fulfillment are different events; a transaction receipt alone doesn't prove the service exists.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If an RPC response is lost after acceptance, a blind resend can duplicate the payment.</a:t>
            </a:r>
            <a:endParaRPr lang="en-US" sz="1500" dirty="0"/>
          </a:p>
        </p:txBody>
      </p:sp>
      <p:sp>
        <p:nvSpPr>
          <p:cNvPr id="7" name="Card Goal and design difference"/>
          <p:cNvSpPr/>
          <p:nvPr/>
        </p:nvSpPr>
        <p:spPr>
          <a:xfrm>
            <a:off x="6190488" y="1280160"/>
            <a:ext cx="5449824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91656" y="138988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Goal and design difference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91656" y="1755648"/>
            <a:ext cx="50474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8288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Let an agent propose and execute bounded tasks while keeping owner control, authenticated invoices, on-chain fund limits, recovery evidence, and delivery verification. Model refusal is not the main authorization control.</a:t>
            </a:r>
            <a:endParaRPr lang="en-US" sz="1400" dirty="0"/>
          </a:p>
        </p:txBody>
      </p:sp>
      <p:sp>
        <p:nvSpPr>
          <p:cNvPr id="11" name="Card Scope and non-goals"/>
          <p:cNvSpPr/>
          <p:nvPr/>
        </p:nvSpPr>
        <p:spPr>
          <a:xfrm>
            <a:off x="6190488" y="3657600"/>
            <a:ext cx="5449824" cy="25603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1656" y="376732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Scope and non-goals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4133088"/>
            <a:ext cx="50474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16052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owner/account, one chain, one policy token—not a multi-tenant platform.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trading, swaps, staking, rebalancing, arbitrary recipients, or AI policy admin.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Fork batch/security tests are not public payments or an independent audit.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16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Owner side</a:t>
            </a:r>
            <a:endParaRPr lang="en-US" sz="1400" dirty="0"/>
          </a:p>
        </p:txBody>
      </p:sp>
      <p:sp>
        <p:nvSpPr>
          <p:cNvPr id="4" name="Chip Owner / MetaMask"/>
          <p:cNvSpPr/>
          <p:nvPr/>
        </p:nvSpPr>
        <p:spPr>
          <a:xfrm>
            <a:off x="548640" y="1508760"/>
            <a:ext cx="2567864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508760"/>
            <a:ext cx="242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Owner / MetaMask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3134792" y="181965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Chip Next.js dashboard"/>
          <p:cNvSpPr/>
          <p:nvPr/>
        </p:nvSpPr>
        <p:spPr>
          <a:xfrm>
            <a:off x="3390824" y="1508760"/>
            <a:ext cx="2567864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63976" y="1508760"/>
            <a:ext cx="242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Next.js dashboard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5976976" y="181965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0" name="Chip Fastify API"/>
          <p:cNvSpPr/>
          <p:nvPr/>
        </p:nvSpPr>
        <p:spPr>
          <a:xfrm>
            <a:off x="6233008" y="1508760"/>
            <a:ext cx="2567864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6160" y="1508760"/>
            <a:ext cx="242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Fastify API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8819159" y="181965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Chip Groq GPT-OSS 120B (structured JSON)"/>
          <p:cNvSpPr/>
          <p:nvPr/>
        </p:nvSpPr>
        <p:spPr>
          <a:xfrm>
            <a:off x="9075191" y="1508760"/>
            <a:ext cx="2567864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8343" y="1508760"/>
            <a:ext cx="242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Groq GPT-OSS 120B (structured JSON)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Provider side</a:t>
            </a:r>
            <a:endParaRPr lang="en-US" sz="1400" dirty="0"/>
          </a:p>
        </p:txBody>
      </p:sp>
      <p:sp>
        <p:nvSpPr>
          <p:cNvPr id="16" name="Chip Provider agent"/>
          <p:cNvSpPr/>
          <p:nvPr/>
        </p:nvSpPr>
        <p:spPr>
          <a:xfrm>
            <a:off x="548640" y="3017520"/>
            <a:ext cx="35152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3017520"/>
            <a:ext cx="3368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Provider agent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4082186" y="332841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9" name="Chip Separate provider signer"/>
          <p:cNvSpPr/>
          <p:nvPr/>
        </p:nvSpPr>
        <p:spPr>
          <a:xfrm>
            <a:off x="4338218" y="3017520"/>
            <a:ext cx="35152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11370" y="3017520"/>
            <a:ext cx="3368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Separate provider signer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7871765" y="332841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2" name="Chip PostgreSQL JSONB service namespace"/>
          <p:cNvSpPr/>
          <p:nvPr/>
        </p:nvSpPr>
        <p:spPr>
          <a:xfrm>
            <a:off x="8127797" y="3017520"/>
            <a:ext cx="3515258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00949" y="3017520"/>
            <a:ext cx="33689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PostgreSQL JSONB service namespace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33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Execution</a:t>
            </a:r>
            <a:endParaRPr lang="en-US" sz="1400" dirty="0"/>
          </a:p>
        </p:txBody>
      </p:sp>
      <p:sp>
        <p:nvSpPr>
          <p:cNvPr id="25" name="Chip PostgreSQL / Drizzle"/>
          <p:cNvSpPr/>
          <p:nvPr/>
        </p:nvSpPr>
        <p:spPr>
          <a:xfrm>
            <a:off x="548640" y="4526280"/>
            <a:ext cx="134978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" y="4526280"/>
            <a:ext cx="12034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PostgreSQL / Drizzle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1916713" y="483717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8" name="Chip Worker (restricted session)"/>
          <p:cNvSpPr/>
          <p:nvPr/>
        </p:nvSpPr>
        <p:spPr>
          <a:xfrm>
            <a:off x="2172745" y="4526280"/>
            <a:ext cx="134978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245897" y="4526280"/>
            <a:ext cx="12034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Worker (restricted session)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3540818" y="483717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1" name="Chip ERC-4337 bundler"/>
          <p:cNvSpPr/>
          <p:nvPr/>
        </p:nvSpPr>
        <p:spPr>
          <a:xfrm>
            <a:off x="3796850" y="4526280"/>
            <a:ext cx="134978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870002" y="4526280"/>
            <a:ext cx="12034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ERC-4337 bundler</a:t>
            </a:r>
            <a:endParaRPr lang="en-US" sz="1400" dirty="0"/>
          </a:p>
        </p:txBody>
      </p:sp>
      <p:sp>
        <p:nvSpPr>
          <p:cNvPr id="33" name="Arrow"/>
          <p:cNvSpPr/>
          <p:nvPr/>
        </p:nvSpPr>
        <p:spPr>
          <a:xfrm>
            <a:off x="5164923" y="483717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4" name="Chip EntryPoint 0.7"/>
          <p:cNvSpPr/>
          <p:nvPr/>
        </p:nvSpPr>
        <p:spPr>
          <a:xfrm>
            <a:off x="5420955" y="4526280"/>
            <a:ext cx="134978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94107" y="4526280"/>
            <a:ext cx="12034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EntryPoint 0.7</a:t>
            </a:r>
            <a:endParaRPr lang="en-US" sz="1400" dirty="0"/>
          </a:p>
        </p:txBody>
      </p:sp>
      <p:sp>
        <p:nvSpPr>
          <p:cNvPr id="36" name="Arrow"/>
          <p:cNvSpPr/>
          <p:nvPr/>
        </p:nvSpPr>
        <p:spPr>
          <a:xfrm>
            <a:off x="6789028" y="483717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7" name="Chip Kernel 0.3.1 account"/>
          <p:cNvSpPr/>
          <p:nvPr/>
        </p:nvSpPr>
        <p:spPr>
          <a:xfrm>
            <a:off x="7045060" y="4526280"/>
            <a:ext cx="134978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118212" y="4526280"/>
            <a:ext cx="12034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Kernel 0.3.1 account</a:t>
            </a:r>
            <a:endParaRPr lang="en-US" sz="1400" dirty="0"/>
          </a:p>
        </p:txBody>
      </p:sp>
      <p:sp>
        <p:nvSpPr>
          <p:cNvPr id="39" name="Arrow"/>
          <p:cNvSpPr/>
          <p:nvPr/>
        </p:nvSpPr>
        <p:spPr>
          <a:xfrm>
            <a:off x="8413133" y="483717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40" name="Chip Guardian Payments"/>
          <p:cNvSpPr/>
          <p:nvPr/>
        </p:nvSpPr>
        <p:spPr>
          <a:xfrm>
            <a:off x="8669165" y="4526280"/>
            <a:ext cx="1349785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42317" y="4526280"/>
            <a:ext cx="12034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Guardian Payments</a:t>
            </a:r>
            <a:endParaRPr lang="en-US" sz="1400" dirty="0"/>
          </a:p>
        </p:txBody>
      </p:sp>
      <p:sp>
        <p:nvSpPr>
          <p:cNvPr id="42" name="Arrow"/>
          <p:cNvSpPr/>
          <p:nvPr/>
        </p:nvSpPr>
        <p:spPr>
          <a:xfrm>
            <a:off x="10037238" y="4837176"/>
            <a:ext cx="237744" cy="237744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43" name="Chip MockUSD"/>
          <p:cNvSpPr/>
          <p:nvPr/>
        </p:nvSpPr>
        <p:spPr>
          <a:xfrm>
            <a:off x="10293270" y="4526280"/>
            <a:ext cx="134978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0366422" y="4526280"/>
            <a:ext cx="1203481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MockUSD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Guardian is the final boundary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the agent route. The provider signer is a separate process from the API and the model; the worker also reads the service namespace for receipt and probe.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Components and trust boundaries</a:t>
            </a:r>
            <a:endParaRPr lang="en-US" sz="3600" dirty="0"/>
          </a:p>
        </p:txBody>
      </p:sp>
      <p:sp>
        <p:nvSpPr>
          <p:cNvPr id="3" name="Card Web"/>
          <p:cNvSpPr/>
          <p:nvPr/>
        </p:nvSpPr>
        <p:spPr>
          <a:xfrm>
            <a:off x="548640" y="1234440"/>
            <a:ext cx="357621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4416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Web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09928"/>
            <a:ext cx="31738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model API key, signer key, or owner private key reaches the UI.</a:t>
            </a:r>
            <a:endParaRPr lang="en-US" sz="1400" dirty="0"/>
          </a:p>
        </p:txBody>
      </p:sp>
      <p:sp>
        <p:nvSpPr>
          <p:cNvPr id="6" name="Card API (Fastify)"/>
          <p:cNvSpPr/>
          <p:nvPr/>
        </p:nvSpPr>
        <p:spPr>
          <a:xfrm>
            <a:off x="4307738" y="1234440"/>
            <a:ext cx="357621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08906" y="134416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API (Fastify)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08906" y="1709928"/>
            <a:ext cx="31738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 auth, quote/policy validation, planning, draft, queue release; no session signing key.</a:t>
            </a:r>
            <a:endParaRPr lang="en-US" sz="1400" dirty="0"/>
          </a:p>
        </p:txBody>
      </p:sp>
      <p:sp>
        <p:nvSpPr>
          <p:cNvPr id="9" name="Card Planner / model"/>
          <p:cNvSpPr/>
          <p:nvPr/>
        </p:nvSpPr>
        <p:spPr>
          <a:xfrm>
            <a:off x="8066837" y="1234440"/>
            <a:ext cx="357621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68005" y="134416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Planner / model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68005" y="1709928"/>
            <a:ext cx="31738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Returns structured decisions only; cannot call the signer or set price/recipient.</a:t>
            </a:r>
            <a:endParaRPr lang="en-US" sz="1400" dirty="0"/>
          </a:p>
        </p:txBody>
      </p:sp>
      <p:sp>
        <p:nvSpPr>
          <p:cNvPr id="12" name="Card Database"/>
          <p:cNvSpPr/>
          <p:nvPr/>
        </p:nvSpPr>
        <p:spPr>
          <a:xfrm>
            <a:off x="548640" y="2880360"/>
            <a:ext cx="357621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299008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355848"/>
            <a:ext cx="31738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Tasks, attempts, batch membership, leases, quotes, statuses; reached only via server-side API/runtime.</a:t>
            </a:r>
            <a:endParaRPr lang="en-US" sz="1400" dirty="0"/>
          </a:p>
        </p:txBody>
      </p:sp>
      <p:sp>
        <p:nvSpPr>
          <p:cNvPr id="15" name="Card Worker"/>
          <p:cNvSpPr/>
          <p:nvPr/>
        </p:nvSpPr>
        <p:spPr>
          <a:xfrm>
            <a:off x="4307738" y="2880360"/>
            <a:ext cx="357621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08906" y="299008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08906" y="3355848"/>
            <a:ext cx="31738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Limited session credential; fresh validation, persist-before-send, reconciliation; no owner or model key.</a:t>
            </a:r>
            <a:endParaRPr lang="en-US" sz="1400" dirty="0"/>
          </a:p>
        </p:txBody>
      </p:sp>
      <p:sp>
        <p:nvSpPr>
          <p:cNvPr id="18" name="Card Provider agent"/>
          <p:cNvSpPr/>
          <p:nvPr/>
        </p:nvSpPr>
        <p:spPr>
          <a:xfrm>
            <a:off x="8066837" y="2880360"/>
            <a:ext cx="357621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68005" y="299008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Provider agent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68005" y="3355848"/>
            <a:ext cx="31738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Chooses a catalog offer; holds no private signing key.</a:t>
            </a:r>
            <a:endParaRPr lang="en-US" sz="1400" dirty="0"/>
          </a:p>
        </p:txBody>
      </p:sp>
      <p:sp>
        <p:nvSpPr>
          <p:cNvPr id="21" name="Card Provider signer"/>
          <p:cNvSpPr/>
          <p:nvPr/>
        </p:nvSpPr>
        <p:spPr>
          <a:xfrm>
            <a:off x="548640" y="4526280"/>
            <a:ext cx="357621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463600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Provider signer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001768"/>
            <a:ext cx="31738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Separate process; signs catalog quotes and delivery attestations; not the wallet owner.</a:t>
            </a:r>
            <a:endParaRPr lang="en-US" sz="1400" dirty="0"/>
          </a:p>
        </p:txBody>
      </p:sp>
      <p:sp>
        <p:nvSpPr>
          <p:cNvPr id="24" name="Card Kernel / EntryPoint / Guardian"/>
          <p:cNvSpPr/>
          <p:nvPr/>
        </p:nvSpPr>
        <p:spPr>
          <a:xfrm>
            <a:off x="4307738" y="4526280"/>
            <a:ext cx="357621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08906" y="463600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Kernel / EntryPoint / Guardian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08906" y="5001768"/>
            <a:ext cx="31738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smart account holds tokens; Guardian enforces policy for the agent route.</a:t>
            </a:r>
            <a:endParaRPr lang="en-US" sz="1400" dirty="0"/>
          </a:p>
        </p:txBody>
      </p:sp>
      <p:sp>
        <p:nvSpPr>
          <p:cNvPr id="27" name="Card Reviewer host"/>
          <p:cNvSpPr/>
          <p:nvPr/>
        </p:nvSpPr>
        <p:spPr>
          <a:xfrm>
            <a:off x="8066837" y="4526280"/>
            <a:ext cx="3576218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68005" y="463600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Reviewer host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268005" y="5001768"/>
            <a:ext cx="317388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HTTPS UI with capability-scoped workspaces; disposable wallet, DB, and contracts on an isolated fork.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Technology stack</a:t>
            </a:r>
            <a:endParaRPr lang="en-US" sz="3600" dirty="0"/>
          </a:p>
        </p:txBody>
      </p:sp>
      <p:graphicFrame>
        <p:nvGraphicFramePr>
          <p:cNvPr id="7" name="Stac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98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Languages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TypeScript (frontend, API, planner, worker, tooling, tests); Solidity 0.8.28 (contracts); SQL (schema/migrations)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Web / API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Next.js, React, Fastify, Zod, viem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Database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PostgreSQL, Drizzle ORM/migrations; PGlite for reviewer workspaces and tests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AI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Groq API; openai/gpt-oss-120b with strict JSON Schema; gpt-oss-20b as comparison; no automatic model fallback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Wallet / chain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Kernel 0.3.1, EntryPoint 0.7, ERC-4337 UserOperation, ERC-7579-based Guardian executor, Base Sepolia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Cryptography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EIP-712 for quotes and delivery attestations; signature nonce for owner login; OpenZeppelin ECDSA, EIP712, ReentrancyGuard/SafeERC20 semantics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Verification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Vitest, Hardhat, Playwright, isolated Base Sepolia fork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Procurement and payment flow</a:t>
            </a:r>
            <a:endParaRPr lang="en-US" sz="3600" dirty="0"/>
          </a:p>
        </p:txBody>
      </p:sp>
      <p:sp>
        <p:nvSpPr>
          <p:cNvPr id="3" name="Number 1"/>
          <p:cNvSpPr/>
          <p:nvPr/>
        </p:nvSpPr>
        <p:spPr>
          <a:xfrm>
            <a:off x="548640" y="128016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5272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Owner login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One-use nonce + address-bound signature; challenge expires in 5 min, bearer session in 15 min.</a:t>
            </a:r>
            <a:endParaRPr lang="en-US" sz="1400" dirty="0"/>
          </a:p>
        </p:txBody>
      </p:sp>
      <p:sp>
        <p:nvSpPr>
          <p:cNvPr id="6" name="Number 2"/>
          <p:cNvSpPr/>
          <p:nvPr/>
        </p:nvSpPr>
        <p:spPr>
          <a:xfrm>
            <a:off x="548640" y="230428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76856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Intent only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Astra produces intent; balances and wallet state come from deterministic sources.</a:t>
            </a:r>
            <a:endParaRPr lang="en-US" sz="1400" dirty="0"/>
          </a:p>
        </p:txBody>
      </p:sp>
      <p:sp>
        <p:nvSpPr>
          <p:cNvPr id="9" name="Number 3"/>
          <p:cNvSpPr/>
          <p:nvPr/>
        </p:nvSpPr>
        <p:spPr>
          <a:xfrm>
            <a:off x="548640" y="332841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00984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Signed quote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EIP-712 binds account, provider, invoice, service hash, token, recipient, amount, expiry.</a:t>
            </a:r>
            <a:endParaRPr lang="en-US" sz="1400" dirty="0"/>
          </a:p>
        </p:txBody>
      </p:sp>
      <p:sp>
        <p:nvSpPr>
          <p:cNvPr id="12" name="Number 4"/>
          <p:cNvSpPr/>
          <p:nvPr/>
        </p:nvSpPr>
        <p:spPr>
          <a:xfrm>
            <a:off x="548640" y="4352544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352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325112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Draft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API validates quote, policy, budget, readiness, then stores a draft. A draft is not a transaction.</a:t>
            </a:r>
            <a:endParaRPr lang="en-US" sz="1400" dirty="0"/>
          </a:p>
        </p:txBody>
      </p:sp>
      <p:sp>
        <p:nvSpPr>
          <p:cNvPr id="15" name="Number 5"/>
          <p:cNvSpPr/>
          <p:nvPr/>
        </p:nvSpPr>
        <p:spPr>
          <a:xfrm>
            <a:off x="6309360" y="128016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252728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and queue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owner picks specific invoices; queue release revalidates IDs and policy and never lifts a pause.</a:t>
            </a:r>
            <a:endParaRPr lang="en-US" sz="1400" dirty="0"/>
          </a:p>
        </p:txBody>
      </p:sp>
      <p:sp>
        <p:nvSpPr>
          <p:cNvPr id="18" name="Number 6"/>
          <p:cNvSpPr/>
          <p:nvPr/>
        </p:nvSpPr>
        <p:spPr>
          <a:xfrm>
            <a:off x="6309360" y="230428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304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276856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Worker prepares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Claims with lease/fencing, rereads state, checks fee/expiry, simulates, signs on the limited session.</a:t>
            </a:r>
            <a:endParaRPr lang="en-US" sz="1400" dirty="0"/>
          </a:p>
        </p:txBody>
      </p:sp>
      <p:sp>
        <p:nvSpPr>
          <p:cNvPr id="21" name="Number 7"/>
          <p:cNvSpPr/>
          <p:nvPr/>
        </p:nvSpPr>
        <p:spPr>
          <a:xfrm>
            <a:off x="6309360" y="3328416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300984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Guardian settles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On-chain invariants; the worker waits for canonical evidence before marking paid.</a:t>
            </a:r>
            <a:endParaRPr lang="en-US" sz="1400" dirty="0"/>
          </a:p>
        </p:txBody>
      </p:sp>
      <p:sp>
        <p:nvSpPr>
          <p:cNvPr id="24" name="Number 8"/>
          <p:cNvSpPr/>
          <p:nvPr/>
        </p:nvSpPr>
        <p:spPr>
          <a:xfrm>
            <a:off x="6309360" y="4352544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0" y="43525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325112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Delivery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Checked after payment. In escrow mode a staged service is tested internally before attestation releases funds.</a:t>
            </a:r>
            <a:endParaRPr lang="en-US" sz="1400" dirty="0"/>
          </a:p>
        </p:txBody>
      </p:sp>
      <p:sp>
        <p:nvSpPr>
          <p:cNvPr id="27" name="Status card"/>
          <p:cNvSpPr/>
          <p:nvPr/>
        </p:nvSpPr>
        <p:spPr>
          <a:xfrm>
            <a:off x="548640" y="544068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440680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Statuses are not interchangeable: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draft → queued → planned/waiting → submitting/submitted/unknown → paid or escrowed → completed, service_pending, refunded, or needs_review. queued is not chain confirmation; paid is not proof of service.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Budget, quotes, and bounded batching</a:t>
            </a:r>
            <a:endParaRPr lang="en-US" sz="3600" dirty="0"/>
          </a:p>
        </p:txBody>
      </p:sp>
      <p:sp>
        <p:nvSpPr>
          <p:cNvPr id="3" name="Formula card"/>
          <p:cNvSpPr/>
          <p:nvPr/>
        </p:nvSpPr>
        <p:spPr>
          <a:xfrm>
            <a:off x="548640" y="1280160"/>
            <a:ext cx="11094415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Available capacity (integer base units, never floating point)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= max(0,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min(balance − protected_reserve, daily_cap − spent)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− queued_commitments)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Native ETH and gas sponsorship are counted separately. The policy day is a fixed UTC window (floor(timestamp / 86400)), not a rolling 24 hours.</a:t>
            </a:r>
            <a:endParaRPr lang="en-US" sz="1300" dirty="0"/>
          </a:p>
        </p:txBody>
      </p:sp>
      <p:sp>
        <p:nvSpPr>
          <p:cNvPr id="7" name="Card Quote and plan checks"/>
          <p:cNvSpPr/>
          <p:nvPr/>
        </p:nvSpPr>
        <p:spPr>
          <a:xfrm>
            <a:off x="548640" y="3063240"/>
            <a:ext cx="5458968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317296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Quote and plan checks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38728"/>
            <a:ext cx="505663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6616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Schemas limit input/output; financial fields from the model are never trusted.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Backend verifies the EIP-712 signature, chain/account/token/recipient/amount, validity, and quote signer.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Planner checks policy version, pause, reserve, per-invoice and daily caps, queue commitments, expiry, idempotent payment ID.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Plans bind to block/hash/time, quote, and policy version; state is rechecked after inference, before signing, and in the contract.</a:t>
            </a:r>
            <a:endParaRPr lang="en-US" sz="1300" dirty="0"/>
          </a:p>
        </p:txBody>
      </p:sp>
      <p:sp>
        <p:nvSpPr>
          <p:cNvPr id="11" name="Card Bounded queue batching"/>
          <p:cNvSpPr/>
          <p:nvPr/>
        </p:nvSpPr>
        <p:spPr>
          <a:xfrm>
            <a:off x="6190488" y="3063240"/>
            <a:ext cx="5449824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1656" y="317296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Bounded queue batching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91656" y="3538728"/>
            <a:ext cx="504748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356616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Only approved, compatible tasks: owner, account, chain, module, policy version, token, provenance, original quote, invoice identity.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Maximum 10 invoices and a 30-second window; default BATCH_MAX_SIZE=1, BATCH_WINDOW_MS=0.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Earliest plan/quote deadline applies; one signed operation is stored durably before send; settlement is atomic.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Escrow supports one invoice only—batching is for direct settlement.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Atomic settlement in the Guardian</a:t>
            </a:r>
            <a:endParaRPr lang="en-US" sz="3600" dirty="0"/>
          </a:p>
        </p:txBody>
      </p:sp>
      <p:sp>
        <p:nvSpPr>
          <p:cNvPr id="3" name="Checks card"/>
          <p:cNvSpPr/>
          <p:nvPr/>
        </p:nvSpPr>
        <p:spPr>
          <a:xfrm>
            <a:off x="548640" y="1280160"/>
            <a:ext cx="576072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 every invoice, the Guardian checks…</a:t>
            </a:r>
            <a:endParaRPr lang="en-US" sz="1800" dirty="0"/>
          </a:p>
        </p:txBody>
      </p:sp>
      <p:sp>
        <p:nvSpPr>
          <p:cNvPr id="5" name="Icon circle check"/>
          <p:cNvSpPr/>
          <p:nvPr/>
        </p:nvSpPr>
        <p:spPr>
          <a:xfrm>
            <a:off x="822960" y="201168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check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089404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account and token</a:t>
            </a:r>
            <a:endParaRPr lang="en-US" sz="1500" dirty="0"/>
          </a:p>
        </p:txBody>
      </p:sp>
      <p:sp>
        <p:nvSpPr>
          <p:cNvPr id="8" name="Icon circle check"/>
          <p:cNvSpPr/>
          <p:nvPr/>
        </p:nvSpPr>
        <p:spPr>
          <a:xfrm>
            <a:off x="822960" y="257860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check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656332"/>
            <a:ext cx="155448" cy="1554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5420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quote signature</a:t>
            </a:r>
            <a:endParaRPr lang="en-US" sz="1500" dirty="0"/>
          </a:p>
        </p:txBody>
      </p:sp>
      <p:sp>
        <p:nvSpPr>
          <p:cNvPr id="11" name="Icon circle check"/>
          <p:cNvSpPr/>
          <p:nvPr/>
        </p:nvSpPr>
        <p:spPr>
          <a:xfrm>
            <a:off x="822960" y="314553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 check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223260"/>
            <a:ext cx="155448" cy="1554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108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registered recipient</a:t>
            </a:r>
            <a:endParaRPr lang="en-US" sz="1500" dirty="0"/>
          </a:p>
        </p:txBody>
      </p:sp>
      <p:sp>
        <p:nvSpPr>
          <p:cNvPr id="14" name="Icon circle check"/>
          <p:cNvSpPr/>
          <p:nvPr/>
        </p:nvSpPr>
        <p:spPr>
          <a:xfrm>
            <a:off x="822960" y="371246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check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90188"/>
            <a:ext cx="155448" cy="1554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36758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positive amount within limits</a:t>
            </a:r>
            <a:endParaRPr lang="en-US" sz="1500" dirty="0"/>
          </a:p>
        </p:txBody>
      </p:sp>
      <p:sp>
        <p:nvSpPr>
          <p:cNvPr id="17" name="Icon circle check"/>
          <p:cNvSpPr/>
          <p:nvPr/>
        </p:nvSpPr>
        <p:spPr>
          <a:xfrm>
            <a:off x="822960" y="427939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 check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4357116"/>
            <a:ext cx="155448" cy="1554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25880" y="424281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expiry</a:t>
            </a:r>
            <a:endParaRPr lang="en-US" sz="1500" dirty="0"/>
          </a:p>
        </p:txBody>
      </p:sp>
      <p:sp>
        <p:nvSpPr>
          <p:cNvPr id="20" name="Icon circle check"/>
          <p:cNvSpPr/>
          <p:nvPr/>
        </p:nvSpPr>
        <p:spPr>
          <a:xfrm>
            <a:off x="822960" y="484632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 check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4924044"/>
            <a:ext cx="155448" cy="15544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325880" y="48097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ID that was never used</a:t>
            </a:r>
            <a:endParaRPr lang="en-US" sz="1500" dirty="0"/>
          </a:p>
        </p:txBody>
      </p:sp>
      <p:sp>
        <p:nvSpPr>
          <p:cNvPr id="23" name="Icon circle check"/>
          <p:cNvSpPr/>
          <p:nvPr/>
        </p:nvSpPr>
        <p:spPr>
          <a:xfrm>
            <a:off x="822960" y="541324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 check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684" y="5490972"/>
            <a:ext cx="155448" cy="15544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325880" y="53766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batch size between 1 and 10</a:t>
            </a:r>
            <a:endParaRPr lang="en-US" sz="1500" dirty="0"/>
          </a:p>
        </p:txBody>
      </p:sp>
      <p:sp>
        <p:nvSpPr>
          <p:cNvPr id="26" name="Invariants card"/>
          <p:cNvSpPr/>
          <p:nvPr/>
        </p:nvSpPr>
        <p:spPr>
          <a:xfrm>
            <a:off x="6492240" y="1280160"/>
            <a:ext cx="5150815" cy="27432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27" name="Text 18"/>
          <p:cNvSpPr txBox="1"/>
          <p:nvPr/>
        </p:nvSpPr>
        <p:spPr>
          <a:xfrm>
            <a:off x="672084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Then, with integer arithmetic: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6720840" y="17830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spent_utc_day + batch_total &lt;= daily_limit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balance_before &gt;= protected + batch_total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balance_after &gt;= protected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balance_before − balance_after == batch_total</a:t>
            </a:r>
            <a:endParaRPr lang="en-US" sz="1300" dirty="0"/>
          </a:p>
        </p:txBody>
      </p:sp>
      <p:sp>
        <p:nvSpPr>
          <p:cNvPr id="29" name="Safeguards card"/>
          <p:cNvSpPr/>
          <p:nvPr/>
        </p:nvSpPr>
        <p:spPr>
          <a:xfrm>
            <a:off x="6492240" y="4160520"/>
            <a:ext cx="5150815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6720840" y="425196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Checks-Effects-Interactions: IDs and counters are recorded before the token call.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ReentrancyGuard, transfer-result validation, revert mode: one failed item reverts the batch.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Unsupported: fee-on-transfer, rebase, non-standard tokens.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Persist-before-send and reconciliation</a:t>
            </a:r>
            <a:endParaRPr lang="en-US" sz="3600" dirty="0"/>
          </a:p>
        </p:txBody>
      </p:sp>
      <p:sp>
        <p:nvSpPr>
          <p:cNvPr id="3" name="Chip Lease + fencing token"/>
          <p:cNvSpPr/>
          <p:nvPr/>
        </p:nvSpPr>
        <p:spPr>
          <a:xfrm>
            <a:off x="548640" y="128016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128016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Lease + fencing token</a:t>
            </a:r>
            <a:endParaRPr lang="en-US" sz="1400" dirty="0"/>
          </a:p>
        </p:txBody>
      </p:sp>
      <p:sp>
        <p:nvSpPr>
          <p:cNvPr id="5" name="Arrow"/>
          <p:cNvSpPr/>
          <p:nvPr/>
        </p:nvSpPr>
        <p:spPr>
          <a:xfrm>
            <a:off x="2151858" y="1581912"/>
            <a:ext cx="256032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6" name="Chip Re-read state; sign exact UserOp"/>
          <p:cNvSpPr/>
          <p:nvPr/>
        </p:nvSpPr>
        <p:spPr>
          <a:xfrm>
            <a:off x="2456627" y="128016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29779" y="128016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Re-read state; sign exact UserOp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4059845" y="1581912"/>
            <a:ext cx="256032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Chip Persist payload, hash, nonce"/>
          <p:cNvSpPr/>
          <p:nvPr/>
        </p:nvSpPr>
        <p:spPr>
          <a:xfrm>
            <a:off x="4364614" y="128016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37766" y="128016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Persist payload, hash, nonce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5967832" y="1581912"/>
            <a:ext cx="256032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Chip Send to bundler"/>
          <p:cNvSpPr/>
          <p:nvPr/>
        </p:nvSpPr>
        <p:spPr>
          <a:xfrm>
            <a:off x="6272601" y="128016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45753" y="128016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Send to bundler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7875819" y="1581912"/>
            <a:ext cx="256032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Chip Response lost → unknown"/>
          <p:cNvSpPr/>
          <p:nvPr/>
        </p:nvSpPr>
        <p:spPr>
          <a:xfrm>
            <a:off x="8180588" y="1280160"/>
            <a:ext cx="1554480" cy="868680"/>
          </a:xfrm>
          <a:prstGeom prst="roundRect">
            <a:avLst>
              <a:gd name="adj" fmla="val 10526"/>
            </a:avLst>
          </a:prstGeom>
          <a:noFill/>
          <a:ln w="28575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53740" y="128016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Response lost → unknown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9783806" y="1581912"/>
            <a:ext cx="256032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Chip Reconcile evidence"/>
          <p:cNvSpPr/>
          <p:nvPr/>
        </p:nvSpPr>
        <p:spPr>
          <a:xfrm>
            <a:off x="10088575" y="1280160"/>
            <a:ext cx="1554480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161727" y="1280160"/>
            <a:ext cx="1408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Reconcile evidence</a:t>
            </a:r>
            <a:endParaRPr lang="en-US" sz="1400" dirty="0"/>
          </a:p>
        </p:txBody>
      </p:sp>
      <p:sp>
        <p:nvSpPr>
          <p:cNvPr id="20" name="Card Persisted before the bundler call"/>
          <p:cNvSpPr/>
          <p:nvPr/>
        </p:nvSpPr>
        <p:spPr>
          <a:xfrm>
            <a:off x="548640" y="2423160"/>
            <a:ext cx="545896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253288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Persisted before the bundler call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2898648"/>
            <a:ext cx="5056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Signed payload, expected hash, keyed nonce, expiry, policy version, task/batch membership, and attempt status—durably, before sending.</a:t>
            </a:r>
            <a:endParaRPr lang="en-US" sz="1400" dirty="0"/>
          </a:p>
        </p:txBody>
      </p:sp>
      <p:sp>
        <p:nvSpPr>
          <p:cNvPr id="23" name="Card How unknown is resolved"/>
          <p:cNvSpPr/>
          <p:nvPr/>
        </p:nvSpPr>
        <p:spPr>
          <a:xfrm>
            <a:off x="6190488" y="2423160"/>
            <a:ext cx="5449824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91656" y="253288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unknown is resolved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391656" y="2898648"/>
            <a:ext cx="50474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worker looks up the UserOperation receipt/hash, EntryPoint keyed nonce, canonical receipt, Guardian settlement event, and consumed-ID state; outer-transaction and UserOperation status are matched separately.</a:t>
            </a:r>
            <a:endParaRPr lang="en-US" sz="1400" dirty="0"/>
          </a:p>
        </p:txBody>
      </p:sp>
      <p:sp>
        <p:nvSpPr>
          <p:cNvPr id="26" name="Card Inconclusive or conflicting"/>
          <p:cNvSpPr/>
          <p:nvPr/>
        </p:nvSpPr>
        <p:spPr>
          <a:xfrm>
            <a:off x="548640" y="4526280"/>
            <a:ext cx="545896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463600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Inconclusive or conflicting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001768"/>
            <a:ext cx="5056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operation stays pending; a conflict becomes needs_review and scheduling pauses. Reconciliation is read-only and runs before new tasks.</a:t>
            </a:r>
            <a:endParaRPr lang="en-US" sz="1400" dirty="0"/>
          </a:p>
        </p:txBody>
      </p:sp>
      <p:sp>
        <p:nvSpPr>
          <p:cNvPr id="29" name="Card Only matching evidence is paid"/>
          <p:cNvSpPr/>
          <p:nvPr/>
        </p:nvSpPr>
        <p:spPr>
          <a:xfrm>
            <a:off x="6190488" y="4526280"/>
            <a:ext cx="5449824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91656" y="463600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Only matching evidence is paid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391656" y="5001768"/>
            <a:ext cx="5047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Delivery retries never pay the invoice again. A lost response never triggers a re-sign with a new nonce.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Direct settlement vs. opt-in escrow</a:t>
            </a:r>
            <a:endParaRPr lang="en-US" sz="3600" dirty="0"/>
          </a:p>
        </p:txBody>
      </p:sp>
      <p:sp>
        <p:nvSpPr>
          <p:cNvPr id="3" name="Card Direct settlement (default)"/>
          <p:cNvSpPr/>
          <p:nvPr/>
        </p:nvSpPr>
        <p:spPr>
          <a:xfrm>
            <a:off x="548640" y="1280160"/>
            <a:ext cx="5456225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89888"/>
            <a:ext cx="5053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Direct settlement (default)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55648"/>
            <a:ext cx="505388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28800"/>
            <a:ext cx="505388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agent session may call executePayments; tokens go to the provider after quote and policy validation.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Delivery is checked after payment, so a failure can leave the task service_pending.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Supports opt-in queue batching.</a:t>
            </a:r>
            <a:endParaRPr lang="en-US" sz="1400" dirty="0"/>
          </a:p>
        </p:txBody>
      </p:sp>
      <p:sp>
        <p:nvSpPr>
          <p:cNvPr id="7" name="Card Opt-in escrow (experimental)"/>
          <p:cNvSpPr/>
          <p:nvPr/>
        </p:nvSpPr>
        <p:spPr>
          <a:xfrm>
            <a:off x="6187745" y="1280160"/>
            <a:ext cx="5456225" cy="3063240"/>
          </a:xfrm>
          <a:prstGeom prst="roundRect">
            <a:avLst>
              <a:gd name="adj" fmla="val 3582"/>
            </a:avLst>
          </a:prstGeom>
          <a:solidFill>
            <a:srgbClr val="DDF1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88913" y="1389888"/>
            <a:ext cx="50538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Opt-in escrow (experimental)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88913" y="1755648"/>
            <a:ext cx="505388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88913" y="1828800"/>
            <a:ext cx="505388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Moves one authenticated invoice from the smart account into the Guardian contract.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Provider signer's EIP-712 delivery attestation releases the funds.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After a maximum 24-hour deadline anyone can trigger a refund to the smart account; the invoice ID stays consumed.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invoice per operation; separate session selectors: lockPayment, releaseEscrow, refundEscrow.</a:t>
            </a:r>
            <a:endParaRPr lang="en-US" sz="1400" dirty="0"/>
          </a:p>
        </p:txBody>
      </p:sp>
      <p:sp>
        <p:nvSpPr>
          <p:cNvPr id="11" name="Chip Validate quote"/>
          <p:cNvSpPr/>
          <p:nvPr/>
        </p:nvSpPr>
        <p:spPr>
          <a:xfrm>
            <a:off x="548640" y="4526280"/>
            <a:ext cx="155448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4526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Validate quote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2121408" y="465429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Chip Pay provider"/>
          <p:cNvSpPr/>
          <p:nvPr/>
        </p:nvSpPr>
        <p:spPr>
          <a:xfrm>
            <a:off x="2377440" y="4526280"/>
            <a:ext cx="155448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50592" y="4526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Pay provider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3950208" y="4654296"/>
            <a:ext cx="237744" cy="237744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Chip Check delivery"/>
          <p:cNvSpPr/>
          <p:nvPr/>
        </p:nvSpPr>
        <p:spPr>
          <a:xfrm>
            <a:off x="4206240" y="4526280"/>
            <a:ext cx="1554480" cy="502920"/>
          </a:xfrm>
          <a:prstGeom prst="roundRect">
            <a:avLst>
              <a:gd name="adj" fmla="val 18182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79392" y="4526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Check delivery</a:t>
            </a:r>
            <a:endParaRPr lang="en-US" sz="1400" dirty="0"/>
          </a:p>
        </p:txBody>
      </p:sp>
      <p:sp>
        <p:nvSpPr>
          <p:cNvPr id="19" name="Chip Lock"/>
          <p:cNvSpPr/>
          <p:nvPr/>
        </p:nvSpPr>
        <p:spPr>
          <a:xfrm>
            <a:off x="6187745" y="452628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0897" y="4526280"/>
            <a:ext cx="996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Lock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7339889" y="4654296"/>
            <a:ext cx="219456" cy="23774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2" name="Chip Stage &amp; test"/>
          <p:cNvSpPr/>
          <p:nvPr/>
        </p:nvSpPr>
        <p:spPr>
          <a:xfrm>
            <a:off x="7577633" y="452628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0785" y="4526280"/>
            <a:ext cx="996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Stage &amp; test</a:t>
            </a:r>
            <a:endParaRPr lang="en-US" sz="1400" dirty="0"/>
          </a:p>
        </p:txBody>
      </p:sp>
      <p:sp>
        <p:nvSpPr>
          <p:cNvPr id="24" name="Arrow"/>
          <p:cNvSpPr/>
          <p:nvPr/>
        </p:nvSpPr>
        <p:spPr>
          <a:xfrm>
            <a:off x="8729777" y="4654296"/>
            <a:ext cx="219456" cy="23774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5" name="Chip Attest"/>
          <p:cNvSpPr/>
          <p:nvPr/>
        </p:nvSpPr>
        <p:spPr>
          <a:xfrm>
            <a:off x="8967521" y="452628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40673" y="4526280"/>
            <a:ext cx="996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Attest</a:t>
            </a:r>
            <a:endParaRPr lang="en-US" sz="1400" dirty="0"/>
          </a:p>
        </p:txBody>
      </p:sp>
      <p:sp>
        <p:nvSpPr>
          <p:cNvPr id="27" name="Arrow"/>
          <p:cNvSpPr/>
          <p:nvPr/>
        </p:nvSpPr>
        <p:spPr>
          <a:xfrm>
            <a:off x="10119665" y="4654296"/>
            <a:ext cx="219456" cy="23774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8" name="Chip Release"/>
          <p:cNvSpPr/>
          <p:nvPr/>
        </p:nvSpPr>
        <p:spPr>
          <a:xfrm>
            <a:off x="10357409" y="4526280"/>
            <a:ext cx="114300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430561" y="4526280"/>
            <a:ext cx="996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Release</a:t>
            </a:r>
            <a:endParaRPr lang="en-US" sz="1400" dirty="0"/>
          </a:p>
        </p:txBody>
      </p:sp>
      <p:sp>
        <p:nvSpPr>
          <p:cNvPr id="30" name="Chip Deadline ≤ 24 h → refund to account"/>
          <p:cNvSpPr/>
          <p:nvPr/>
        </p:nvSpPr>
        <p:spPr>
          <a:xfrm>
            <a:off x="6187745" y="5102352"/>
            <a:ext cx="3291840" cy="365760"/>
          </a:xfrm>
          <a:prstGeom prst="roundRect">
            <a:avLst>
              <a:gd name="adj" fmla="val 25000"/>
            </a:avLst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0897" y="5102352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Deadline ≤ 24 h → refund to account</a:t>
            </a:r>
            <a:endParaRPr lang="en-US" sz="1400" dirty="0"/>
          </a:p>
        </p:txBody>
      </p:sp>
      <p:sp>
        <p:nvSpPr>
          <p:cNvPr id="32" name="Caveat banner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3333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62356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Trust assumption: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attestation says the signer declares the service ready—not cryptographic proof of its quality or existence. Tested on a fork and one separate owner-authorized Base Sepolia demo; the older direct account stays separate.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Security: permission tiers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1704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Actor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11704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Permission and enforcement</a:t>
            </a:r>
            <a:endParaRPr lang="en-US" sz="1200" dirty="0"/>
          </a:p>
        </p:txBody>
      </p:sp>
      <p:sp>
        <p:nvSpPr>
          <p:cNvPr id="5" name="Tier 0"/>
          <p:cNvSpPr/>
          <p:nvPr/>
        </p:nvSpPr>
        <p:spPr>
          <a:xfrm>
            <a:off x="548640" y="1444752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2"/>
          </a:solidFill>
          <a:ln/>
        </p:spPr>
      </p:sp>
      <p:sp>
        <p:nvSpPr>
          <p:cNvPr id="6" name="Number 0"/>
          <p:cNvSpPr/>
          <p:nvPr/>
        </p:nvSpPr>
        <p:spPr>
          <a:xfrm>
            <a:off x="658368" y="1540764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5407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444752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Owner / root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444752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Sets policy and recipients, authorizes sessions, pauses/unpauses, revokes non-root sessions. The private key stays in the owner's wallet.</a:t>
            </a:r>
            <a:endParaRPr lang="en-US" sz="1300" dirty="0"/>
          </a:p>
        </p:txBody>
      </p:sp>
      <p:sp>
        <p:nvSpPr>
          <p:cNvPr id="10" name="Tier 1"/>
          <p:cNvSpPr/>
          <p:nvPr/>
        </p:nvSpPr>
        <p:spPr>
          <a:xfrm>
            <a:off x="548640" y="2048256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1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Number 1"/>
          <p:cNvSpPr/>
          <p:nvPr/>
        </p:nvSpPr>
        <p:spPr>
          <a:xfrm>
            <a:off x="658368" y="21442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21442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048256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Model / planner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048256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Classifies intent and drafts structure/advice. No key, transaction tool, raw calldata, or power over quotes.</a:t>
            </a:r>
            <a:endParaRPr lang="en-US" sz="1300" dirty="0"/>
          </a:p>
        </p:txBody>
      </p:sp>
      <p:sp>
        <p:nvSpPr>
          <p:cNvPr id="15" name="Tier 2"/>
          <p:cNvSpPr/>
          <p:nvPr/>
        </p:nvSpPr>
        <p:spPr>
          <a:xfrm>
            <a:off x="548640" y="2651760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2"/>
          </a:solidFill>
          <a:ln/>
        </p:spPr>
      </p:sp>
      <p:sp>
        <p:nvSpPr>
          <p:cNvPr id="16" name="Number 2"/>
          <p:cNvSpPr/>
          <p:nvPr/>
        </p:nvSpPr>
        <p:spPr>
          <a:xfrm>
            <a:off x="658368" y="2747772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2747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51760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651760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Reads state, validates quotes, creates drafts, queues owner-chosen tasks. Signs no chain operation.</a:t>
            </a:r>
            <a:endParaRPr lang="en-US" sz="1300" dirty="0"/>
          </a:p>
        </p:txBody>
      </p:sp>
      <p:sp>
        <p:nvSpPr>
          <p:cNvPr id="20" name="Tier 3"/>
          <p:cNvSpPr/>
          <p:nvPr/>
        </p:nvSpPr>
        <p:spPr>
          <a:xfrm>
            <a:off x="548640" y="3255264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1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1" name="Number 3"/>
          <p:cNvSpPr/>
          <p:nvPr/>
        </p:nvSpPr>
        <p:spPr>
          <a:xfrm>
            <a:off x="658368" y="335127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33512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255264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Worker / session agent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3255264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Authorized Guardian selectors, native value zero, with expiry. No arbitrary token transfer, approve, policy change, generic batch/delegatecall, or ERC-1271 authority.</a:t>
            </a:r>
            <a:endParaRPr lang="en-US" sz="1300" dirty="0"/>
          </a:p>
        </p:txBody>
      </p:sp>
      <p:sp>
        <p:nvSpPr>
          <p:cNvPr id="25" name="Tier 4"/>
          <p:cNvSpPr/>
          <p:nvPr/>
        </p:nvSpPr>
        <p:spPr>
          <a:xfrm>
            <a:off x="548640" y="3858768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2"/>
          </a:solidFill>
          <a:ln/>
        </p:spPr>
      </p:sp>
      <p:sp>
        <p:nvSpPr>
          <p:cNvPr id="26" name="Number 4"/>
          <p:cNvSpPr/>
          <p:nvPr/>
        </p:nvSpPr>
        <p:spPr>
          <a:xfrm>
            <a:off x="658368" y="39547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3954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3858768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Guardian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3858768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Validates policy/quote; pays within caps, reserve, recipient, expiry, replay protection, invariants.</a:t>
            </a:r>
            <a:endParaRPr lang="en-US" sz="1300" dirty="0"/>
          </a:p>
        </p:txBody>
      </p:sp>
      <p:sp>
        <p:nvSpPr>
          <p:cNvPr id="30" name="Tier 5"/>
          <p:cNvSpPr/>
          <p:nvPr/>
        </p:nvSpPr>
        <p:spPr>
          <a:xfrm>
            <a:off x="548640" y="4462272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1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31" name="Number 5"/>
          <p:cNvSpPr/>
          <p:nvPr/>
        </p:nvSpPr>
        <p:spPr>
          <a:xfrm>
            <a:off x="658368" y="4558284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45582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188720" y="4462272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Provider agent / signer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114800" y="4462272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Two processes. The agent judges fixed offers without a key; the signer issues quotes/attestations for the fixed catalog.</a:t>
            </a:r>
            <a:endParaRPr lang="en-US" sz="1300" dirty="0"/>
          </a:p>
        </p:txBody>
      </p:sp>
      <p:sp>
        <p:nvSpPr>
          <p:cNvPr id="35" name="Tier 6"/>
          <p:cNvSpPr/>
          <p:nvPr/>
        </p:nvSpPr>
        <p:spPr>
          <a:xfrm>
            <a:off x="548640" y="5065776"/>
            <a:ext cx="11094415" cy="557784"/>
          </a:xfrm>
          <a:prstGeom prst="roundRect">
            <a:avLst>
              <a:gd name="adj" fmla="val 19672"/>
            </a:avLst>
          </a:prstGeom>
          <a:solidFill>
            <a:schemeClr val="bg2"/>
          </a:solidFill>
          <a:ln/>
        </p:spPr>
      </p:sp>
      <p:sp>
        <p:nvSpPr>
          <p:cNvPr id="36" name="Number 6"/>
          <p:cNvSpPr/>
          <p:nvPr/>
        </p:nvSpPr>
        <p:spPr>
          <a:xfrm>
            <a:off x="658368" y="516178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8368" y="51617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5065776"/>
            <a:ext cx="27432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Reviewer capability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114800" y="5065776"/>
            <a:ext cx="74066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Disposable workspace token with limited routes and lifetime; no owner routes, admin, or arbitrary RPC.</a:t>
            </a:r>
            <a:endParaRPr lang="en-US" sz="1300" dirty="0"/>
          </a:p>
        </p:txBody>
      </p:sp>
      <p:sp>
        <p:nvSpPr>
          <p:cNvPr id="40" name="Banner"/>
          <p:cNvSpPr/>
          <p:nvPr/>
        </p:nvSpPr>
        <p:spPr>
          <a:xfrm>
            <a:off x="548640" y="571500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77240" y="5715000"/>
            <a:ext cx="10652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Escrow deployments: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session separately allows lockPayment, releaseEscrow, and refundEscrow; never added silently to a direct-mode account.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Defense in depth</a:t>
            </a:r>
            <a:endParaRPr lang="en-US" sz="3600" dirty="0"/>
          </a:p>
        </p:txBody>
      </p:sp>
      <p:sp>
        <p:nvSpPr>
          <p:cNvPr id="3" name="Defense Authentication"/>
          <p:cNvSpPr/>
          <p:nvPr/>
        </p:nvSpPr>
        <p:spPr>
          <a:xfrm>
            <a:off x="548640" y="1280160"/>
            <a:ext cx="263621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Icon circle Authentication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 Authentication" descr="Authent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Authentication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57400"/>
            <a:ext cx="2270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Owner signature over a one-time nonce; short API session; restricted owner routes.</a:t>
            </a:r>
            <a:endParaRPr lang="en-US" sz="1300" dirty="0"/>
          </a:p>
        </p:txBody>
      </p:sp>
      <p:sp>
        <p:nvSpPr>
          <p:cNvPr id="8" name="Defense Least privilege"/>
          <p:cNvSpPr/>
          <p:nvPr/>
        </p:nvSpPr>
        <p:spPr>
          <a:xfrm>
            <a:off x="3367735" y="1280160"/>
            <a:ext cx="263621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Icon circle Least privilege"/>
          <p:cNvSpPr/>
          <p:nvPr/>
        </p:nvSpPr>
        <p:spPr>
          <a:xfrm>
            <a:off x="3550615" y="14630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 Least privilege" descr="Least privile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915" y="157734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44975" y="1463040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Least privilege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50615" y="2057400"/>
            <a:ext cx="2270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Model emits JSON only; signer separated; worker session limited; no keys in the browser.</a:t>
            </a:r>
            <a:endParaRPr lang="en-US" sz="1300" dirty="0"/>
          </a:p>
        </p:txBody>
      </p:sp>
      <p:sp>
        <p:nvSpPr>
          <p:cNvPr id="13" name="Defense Data binding"/>
          <p:cNvSpPr/>
          <p:nvPr/>
        </p:nvSpPr>
        <p:spPr>
          <a:xfrm>
            <a:off x="6186830" y="1280160"/>
            <a:ext cx="263621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4" name="Icon circle Data binding"/>
          <p:cNvSpPr/>
          <p:nvPr/>
        </p:nvSpPr>
        <p:spPr>
          <a:xfrm>
            <a:off x="6369710" y="14630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 Data binding" descr="Data bin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010" y="157734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64070" y="1463040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 binding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69710" y="2057400"/>
            <a:ext cx="2270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EIP-712 binds account, provider, invoice, service, token, recipient, amount, expiry.</a:t>
            </a:r>
            <a:endParaRPr lang="en-US" sz="1300" dirty="0"/>
          </a:p>
        </p:txBody>
      </p:sp>
      <p:sp>
        <p:nvSpPr>
          <p:cNvPr id="18" name="Defense On-chain policy"/>
          <p:cNvSpPr/>
          <p:nvPr/>
        </p:nvSpPr>
        <p:spPr>
          <a:xfrm>
            <a:off x="9005926" y="1280160"/>
            <a:ext cx="263621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9" name="Icon circle On-chain policy"/>
          <p:cNvSpPr/>
          <p:nvPr/>
        </p:nvSpPr>
        <p:spPr>
          <a:xfrm>
            <a:off x="9188806" y="14630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con On-chain policy" descr="On-chain polic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106" y="15773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83166" y="1463040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On-chain policy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188806" y="2057400"/>
            <a:ext cx="2270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Allowlist, policy version, pause, expiry, reserve, per-payment/daily caps, replay ID, atomic batch, non-reentrancy, exact outflow.</a:t>
            </a:r>
            <a:endParaRPr lang="en-US" sz="1300" dirty="0"/>
          </a:p>
        </p:txBody>
      </p:sp>
      <p:sp>
        <p:nvSpPr>
          <p:cNvPr id="23" name="Defense Prompt injection"/>
          <p:cNvSpPr/>
          <p:nvPr/>
        </p:nvSpPr>
        <p:spPr>
          <a:xfrm>
            <a:off x="548640" y="3794760"/>
            <a:ext cx="263621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4" name="Icon circle Prompt injection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con Prompt injection" descr="Prompt injec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40919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3977640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Prompt injection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31520" y="4572000"/>
            <a:ext cx="2270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Vendor content is untrusted data, extracted into bounded fields without tools; schema, policy, and contract stay authoritative. Escaping is mitigation, not proof.</a:t>
            </a:r>
            <a:endParaRPr lang="en-US" sz="1300" dirty="0"/>
          </a:p>
        </p:txBody>
      </p:sp>
      <p:sp>
        <p:nvSpPr>
          <p:cNvPr id="28" name="Defense Recovery"/>
          <p:cNvSpPr/>
          <p:nvPr/>
        </p:nvSpPr>
        <p:spPr>
          <a:xfrm>
            <a:off x="3367735" y="3794760"/>
            <a:ext cx="263621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29" name="Icon circle Recovery"/>
          <p:cNvSpPr/>
          <p:nvPr/>
        </p:nvSpPr>
        <p:spPr>
          <a:xfrm>
            <a:off x="3550615" y="39776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con Recovery" descr="Recover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915" y="40919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144975" y="3977640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Recovery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3550615" y="4572000"/>
            <a:ext cx="2270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Durability before send, lease/fencing, idempotency, no blind retry.</a:t>
            </a:r>
            <a:endParaRPr lang="en-US" sz="1300" dirty="0"/>
          </a:p>
        </p:txBody>
      </p:sp>
      <p:sp>
        <p:nvSpPr>
          <p:cNvPr id="33" name="Defense Reviewer isolation"/>
          <p:cNvSpPr/>
          <p:nvPr/>
        </p:nvSpPr>
        <p:spPr>
          <a:xfrm>
            <a:off x="6186830" y="3794760"/>
            <a:ext cx="263621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34" name="Icon circle Reviewer isolation"/>
          <p:cNvSpPr/>
          <p:nvPr/>
        </p:nvSpPr>
        <p:spPr>
          <a:xfrm>
            <a:off x="6369710" y="39776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Icon Reviewer isolation" descr="Reviewer isolati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010" y="409194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964070" y="3977640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Reviewer isolation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369710" y="4572000"/>
            <a:ext cx="2270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Short capability, route/session limits, isolated fork and PGlite, disposable credentials.</a:t>
            </a:r>
            <a:endParaRPr lang="en-US" sz="1300" dirty="0"/>
          </a:p>
        </p:txBody>
      </p:sp>
      <p:sp>
        <p:nvSpPr>
          <p:cNvPr id="38" name="Defense Model operation"/>
          <p:cNvSpPr/>
          <p:nvPr/>
        </p:nvSpPr>
        <p:spPr>
          <a:xfrm>
            <a:off x="9005926" y="3794760"/>
            <a:ext cx="263621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39" name="Icon circle Model operation"/>
          <p:cNvSpPr/>
          <p:nvPr/>
        </p:nvSpPr>
        <p:spPr>
          <a:xfrm>
            <a:off x="9188806" y="397764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0" name="Icon Model operation" descr="Model operati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3106" y="409194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783166" y="3977640"/>
            <a:ext cx="1721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 operation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9188806" y="4572000"/>
            <a:ext cx="22704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Pinned host/provider and model, strict schema, timeout/concurrency/token/quota limits, redirects and tools rejected, no automatic fallback.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Verification checkpoint</a:t>
            </a:r>
            <a:endParaRPr lang="en-US" sz="3600" dirty="0"/>
          </a:p>
        </p:txBody>
      </p:sp>
      <p:sp>
        <p:nvSpPr>
          <p:cNvPr id="3" name="Stat 104 + 7"/>
          <p:cNvSpPr/>
          <p:nvPr/>
        </p:nvSpPr>
        <p:spPr>
          <a:xfrm>
            <a:off x="548640" y="1280160"/>
            <a:ext cx="2636215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270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104 + 7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2270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integration cases + web tests</a:t>
            </a:r>
            <a:endParaRPr lang="en-US" sz="1400" dirty="0"/>
          </a:p>
        </p:txBody>
      </p:sp>
      <p:sp>
        <p:nvSpPr>
          <p:cNvPr id="6" name="Stat 17"/>
          <p:cNvSpPr/>
          <p:nvPr/>
        </p:nvSpPr>
        <p:spPr>
          <a:xfrm>
            <a:off x="3367735" y="1280160"/>
            <a:ext cx="2636215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50615" y="1371600"/>
            <a:ext cx="2270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17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550615" y="2057400"/>
            <a:ext cx="2270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contract / fork cases</a:t>
            </a:r>
            <a:endParaRPr lang="en-US" sz="1400" dirty="0"/>
          </a:p>
        </p:txBody>
      </p:sp>
      <p:sp>
        <p:nvSpPr>
          <p:cNvPr id="9" name="Stat 17"/>
          <p:cNvSpPr/>
          <p:nvPr/>
        </p:nvSpPr>
        <p:spPr>
          <a:xfrm>
            <a:off x="6186830" y="1280160"/>
            <a:ext cx="2636215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69710" y="1371600"/>
            <a:ext cx="2270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17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369710" y="2057400"/>
            <a:ext cx="2270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browser cases</a:t>
            </a:r>
            <a:endParaRPr lang="en-US" sz="1400" dirty="0"/>
          </a:p>
        </p:txBody>
      </p:sp>
      <p:sp>
        <p:nvSpPr>
          <p:cNvPr id="12" name="Stat ✓"/>
          <p:cNvSpPr/>
          <p:nvPr/>
        </p:nvSpPr>
        <p:spPr>
          <a:xfrm>
            <a:off x="9006840" y="1280160"/>
            <a:ext cx="2636215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1371600"/>
            <a:ext cx="2270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✓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2057400"/>
            <a:ext cx="2270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lint, typecheck, and build passed</a:t>
            </a:r>
            <a:endParaRPr lang="en-US" sz="1400" dirty="0"/>
          </a:p>
        </p:txBody>
      </p:sp>
      <p:sp>
        <p:nvSpPr>
          <p:cNvPr id="15" name="Card Where the numbers come from"/>
          <p:cNvSpPr/>
          <p:nvPr/>
        </p:nvSpPr>
        <p:spPr>
          <a:xfrm>
            <a:off x="548640" y="3246120"/>
            <a:ext cx="5458968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35584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Where the numbers come from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721608"/>
            <a:ext cx="50566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74904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Recorded stage-two checkpoint from the source README.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Reproduce with the npm run suites on the branch.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Fork suites are opt-in and need Base Sepolia read RPC access.</a:t>
            </a:r>
            <a:endParaRPr lang="en-US" sz="1400" dirty="0"/>
          </a:p>
        </p:txBody>
      </p:sp>
      <p:sp>
        <p:nvSpPr>
          <p:cNvPr id="19" name="Card How to read them"/>
          <p:cNvSpPr/>
          <p:nvPr/>
        </p:nvSpPr>
        <p:spPr>
          <a:xfrm>
            <a:off x="6190488" y="3246120"/>
            <a:ext cx="5449824" cy="3017520"/>
          </a:xfrm>
          <a:prstGeom prst="roundRect">
            <a:avLst>
              <a:gd name="adj" fmla="val 3636"/>
            </a:avLst>
          </a:prstGeom>
          <a:solidFill>
            <a:srgbClr val="FCEFD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91656" y="33558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to read them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3721608"/>
            <a:ext cx="504748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374904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recorded checkpoint, not a guarantee for every environment or deployment.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Passing tests do not replace an independent audit.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Dev-tooling vs. runtime dependencies are tracked separately in the security assessment.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Recorded results and how to read them</a:t>
            </a:r>
            <a:endParaRPr lang="en-US" sz="3600" dirty="0"/>
          </a:p>
        </p:txBody>
      </p:sp>
      <p:graphicFrame>
        <p:nvGraphicFramePr>
          <p:cNvPr id="16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405353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Recorded result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Interpretation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Public AI-01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0.26 MockUSD on Base Sepolia, one matching settlement; delivery signature, probe, write/read verified 17 Oct 2026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Historical testnet evidence; local Qwen, not GPT-OSS. The 1-hour namespace has expired.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Model comparison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GPT-OSS 120B: 8/8, P50 675 ms, P95 1008 ms. 20B: 8/8, P50 580 ms, P95 621 ms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Eight selected cases; no general superiority claim. No automatic fallback.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Adversarial regression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60/60 after schema fix (30 prompts × 2); baseline 54/60 with six inconclusive errors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Synthetic finances, no transactions; in-sample, not held-out or an audit.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Kernel/Guardian fork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Legitimate session payment works; transfer, approval, admin, transferFrom, permit selector, nested/delegatecall, compromised plan, post-revoke ops rejected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Local fork, not public txs; the fixture token lacks EIP-2612.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Persist-before-send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Lost-response/restart test reconciled with one send and no second payment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global exactly-once, all reorgs, or production availability.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COST-01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invoices: 1,086,084 → 449,692 gas (−58.59%). 7: 1,870,809 → 600,987 (−67.87%). EntryPoint gas −70.42% / −80.83%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Fork, 3 runs/mode, fee/bundler stub; not USD or mainnet economics.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Sources and reproduction</a:t>
            </a:r>
            <a:endParaRPr lang="en-US" sz="3600" dirty="0"/>
          </a:p>
        </p:txBody>
      </p:sp>
      <p:sp>
        <p:nvSpPr>
          <p:cNvPr id="3" name="Card Project documents and evidence"/>
          <p:cNvSpPr/>
          <p:nvPr/>
        </p:nvSpPr>
        <p:spPr>
          <a:xfrm>
            <a:off x="548640" y="1280160"/>
            <a:ext cx="5458968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8988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Project documents and evidence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55648"/>
            <a:ext cx="50566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docs/technical-documentation.md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docs/architecture.md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docs/security-assessment.md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docs/BATCHING_AND_COST.md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docs/evaluation.md · docs/PROGRESS.md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docs/evidence/CLOUD-VALIDATION.md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…/security-cloud-model-evaluation.json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…/security-kernel-fork.json · cost-fork.json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…/AI-01-public-procurement.md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…/public-escrow-procurement.json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tests/integration · contracts/test · tests/e2e</a:t>
            </a:r>
            <a:endParaRPr lang="en-US" sz="1300" dirty="0"/>
          </a:p>
        </p:txBody>
      </p:sp>
      <p:sp>
        <p:nvSpPr>
          <p:cNvPr id="7" name="Commands card"/>
          <p:cNvSpPr/>
          <p:nvPr/>
        </p:nvSpPr>
        <p:spPr>
          <a:xfrm>
            <a:off x="6190488" y="1280160"/>
            <a:ext cx="5449824" cy="3108960"/>
          </a:xfrm>
          <a:prstGeom prst="roundRect">
            <a:avLst>
              <a:gd name="adj" fmla="val 3529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37160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the repo root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ci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run lint · typecheck · build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run test:integration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run test:web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run test:contracts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npx.cmd playwright install chromium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run test:e2e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opt-in fork suite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$env:KERNEL_FORK_RPC_URL="https://sepolia.base.org"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run test:kernel</a:t>
            </a:r>
            <a:endParaRPr lang="en-US" sz="1200" dirty="0"/>
          </a:p>
        </p:txBody>
      </p:sp>
      <p:sp>
        <p:nvSpPr>
          <p:cNvPr id="9" name="Caveat banner"/>
          <p:cNvSpPr/>
          <p:nvPr/>
        </p:nvSpPr>
        <p:spPr>
          <a:xfrm>
            <a:off x="6190488" y="4572000"/>
            <a:ext cx="5449824" cy="1645920"/>
          </a:xfrm>
          <a:prstGeom prst="roundRect">
            <a:avLst>
              <a:gd name="adj" fmla="val 5556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9088" y="4572000"/>
            <a:ext cx="4992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Next: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 the source/deployment/test guide for setup and the security self-assessment for known risks and operational limits.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ardian Astra">
  <a:themeElements>
    <a:clrScheme name="Guardian Astra">
      <a:dk1>
        <a:srgbClr val="0B1F2A"/>
      </a:dk1>
      <a:lt1>
        <a:srgbClr val="FFFFFF"/>
      </a:lt1>
      <a:dk2>
        <a:srgbClr val="17404F"/>
      </a:dk2>
      <a:lt2>
        <a:srgbClr val="EEF4F3"/>
      </a:lt2>
      <a:accent1>
        <a:srgbClr val="13A898"/>
      </a:accent1>
      <a:accent2>
        <a:srgbClr val="F4A300"/>
      </a:accent2>
      <a:accent3>
        <a:srgbClr val="D64045"/>
      </a:accent3>
      <a:accent4>
        <a:srgbClr val="5E7380"/>
      </a:accent4>
      <a:accent5>
        <a:srgbClr val="2A7F9E"/>
      </a:accent5>
      <a:accent6>
        <a:srgbClr val="8FD3C8"/>
      </a:accent6>
      <a:hlink>
        <a:srgbClr val="0B7A6F"/>
      </a:hlink>
      <a:folHlink>
        <a:srgbClr val="5E7380"/>
      </a:folHlink>
    </a:clrScheme>
    <a:fontScheme name="Guardian Ast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 Wallet: Astra — Technical Documentation</dc:title>
  <dc:subject>Guardian Wallet: Astra — International Track, Topic F</dc:subject>
  <dc:creator>PptxGenJS</dc:creator>
  <cp:lastModifiedBy>PptxGenJS</cp:lastModifiedBy>
  <cp:revision>1</cp:revision>
  <dcterms:created xsi:type="dcterms:W3CDTF">2026-10-19T18:51:01Z</dcterms:created>
  <dcterms:modified xsi:type="dcterms:W3CDTF">2026-10-19T18:51:01Z</dcterms:modified>
</cp:coreProperties>
</file>