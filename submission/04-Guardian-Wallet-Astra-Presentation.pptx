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uardian Wallet: Astra" id="{A8812BE2-0475-752D-F7CB-4D7EF7CF712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02B"/>
                </a:solidFill>
                <a:latin typeface="+mn-lt"/>
              </a:defRPr>
            </a:pPr>
            <a:r>
              <a:rPr lang="en-ID" sz="1400" b="0" i="0" u="none" strike="noStrike">
                <a:solidFill>
                  <a:srgbClr val="10202B"/>
                </a:solidFill>
                <a:latin typeface="+mn-lt"/>
              </a:rPr>
              <a:t>Passes out of 60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Passed</c:v>
                </c:pt>
              </c:strCache>
            </c:strRef>
          </c:tx>
          <c:spPr>
            <a:solidFill>
              <a:srgbClr val="0B6E7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020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After correction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A9-4D43-8830-925D1C09416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0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l"/>
        <c:majorGridlines>
          <c:spPr>
            <a:ln w="6350" cap="flat">
              <a:solidFill>
                <a:srgbClr val="D5E1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02B"/>
                </a:solidFill>
                <a:latin typeface="+mn-lt"/>
              </a:defRPr>
            </a:pPr>
            <a:r>
              <a:rPr lang="en-ID" sz="1400" b="0" i="0" u="none" strike="noStrike">
                <a:solidFill>
                  <a:srgbClr val="10202B"/>
                </a:solidFill>
                <a:latin typeface="+mn-lt"/>
              </a:rPr>
              <a:t>Median enclosing EVM gas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 invoices</c:v>
                </c:pt>
              </c:strCache>
            </c:strRef>
          </c:tx>
          <c:spPr>
            <a:solidFill>
              <a:srgbClr val="1F3A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020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4 invoices</c:v>
                </c:pt>
                <c:pt idx="1">
                  <c:v>7 invoices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1086084</c:v>
                </c:pt>
                <c:pt idx="1">
                  <c:v>1870809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96-48A9-9581-356ED8C75FF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Batched</c:v>
                </c:pt>
              </c:strCache>
            </c:strRef>
          </c:tx>
          <c:spPr>
            <a:solidFill>
              <a:srgbClr val="0B6E7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020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4 invoices</c:v>
                </c:pt>
                <c:pt idx="1">
                  <c:v>7 invoices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449692</c:v>
                </c:pt>
                <c:pt idx="1">
                  <c:v>600987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96-48A9-9581-356ED8C75FF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0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300000"/>
          <c:min val="0"/>
        </c:scaling>
        <c:delete val="1"/>
        <c:axPos val="l"/>
        <c:majorGridlines>
          <c:spPr>
            <a:ln w="6350" cap="flat">
              <a:solidFill>
                <a:srgbClr val="D5E1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020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02B"/>
                </a:solidFill>
                <a:latin typeface="+mn-lt"/>
              </a:defRPr>
            </a:pPr>
            <a:r>
              <a:rPr lang="en-ID" sz="1400" b="0" i="0" u="none" strike="noStrike">
                <a:solidFill>
                  <a:srgbClr val="10202B"/>
                </a:solidFill>
                <a:latin typeface="+mn-lt"/>
              </a:rPr>
              <a:t>Oct 20 checkpoint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 passed</c:v>
                </c:pt>
              </c:strCache>
            </c:strRef>
          </c:tx>
          <c:spPr>
            <a:solidFill>
              <a:srgbClr val="0B6E7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0202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Integration</c:v>
                </c:pt>
                <c:pt idx="1">
                  <c:v>Browser</c:v>
                </c:pt>
                <c:pt idx="2">
                  <c:v>Contract/fork</c:v>
                </c:pt>
                <c:pt idx="3">
                  <c:v>Web unit</c:v>
                </c:pt>
                <c:pt idx="4">
                  <c:v>Tooling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105</c:v>
                </c:pt>
                <c:pt idx="1">
                  <c:v>25</c:v>
                </c:pt>
                <c:pt idx="2">
                  <c:v>17</c:v>
                </c:pt>
                <c:pt idx="3">
                  <c:v>8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22-47EC-B9A6-BF3D704C61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0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  <c:min val="0"/>
        </c:scaling>
        <c:delete val="1"/>
        <c:axPos val="t"/>
        <c:majorGridlines>
          <c:spPr>
            <a:ln w="6350" cap="flat">
              <a:solidFill>
                <a:srgbClr val="D5E1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5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AI-assisted procurement, owner-controlled wallet, bounded on-chain execution. Models hold no signing keys; the worker holds only the authorized session. Public receipts, fork execution and live-model evaluations are labeled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need operational capabilities. The risk is unbounded signing authority. We deliver bounded delegation with evidence. Trading, staking and arbitrary recipients are out of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surfaces: setup, dashboard, review, evidence. Demo parameters: 10 MockUSD allocation, 6 reserve, 1 per payment, 2 per UTC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Guardian is a separate installed executor with per-account policy and accounting. Kernel performs the token transfers through executeFromExecutor; escrow custody sits in Guardian.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service request is a separate path that stores a planned task immediately. Start agent enables scheduling, not new authority.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Owner actions, other modules and old allowances remain separate trust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reviewer factory uses escrow on an isolated fork with disposable credentials. Public receipts are separate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Authorization is tested separately on an actual Kernel fork: allowed payments, hostile-plan rejection, owner revoke. Permit-selector rejection does not prove all EIP-2612 or Permit2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Savings come from deterministic aggregation, not an AI-specific advantage. Escrow does not batch.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successful recovery scenario is not a global exactly-once or availability guarantee. Lint, typecheck and build passed; dependency scans show zero known advisories.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evidence: public direct and escrow receipts, real cloud-model evaluation, actual Kernel fork tests, measured local batching.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0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8872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rgbClr val="CFE3E1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27C"/>
                </a:solidFill>
              </a:rPr>
              <a:t>Guardian Wallet: Astra ·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ase-sepolia.blockscout.com/tx/0xf208e8aaec33e4d3e1ff2efeda9b3bc461dcaa4302f4e2863d6798698bc28ee3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sepolia.basescan.org/tx/0x7cd8b34b835cb34b65d5d3484d81541874b225e7d5fb345f5c9514ad20fdd86d" TargetMode="External"/><Relationship Id="rId4" Type="http://schemas.openxmlformats.org/officeDocument/2006/relationships/hyperlink" Target="https://base-sepolia.blockscout.com/tx/0x328f10ba0f1f54f8b87f4b08006b33a825621b950c670f2e207450653f319904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188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Guardian Wallet: Astra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FE3E1"/>
                </a:solidFill>
              </a:rPr>
              <a:t>An Owner-Controlled Agent Wallet with Bounded On-Chain Authority</a:t>
            </a:r>
            <a:endParaRPr lang="en-US" sz="1800" dirty="0"/>
          </a:p>
        </p:txBody>
      </p:sp>
      <p:sp>
        <p:nvSpPr>
          <p:cNvPr id="4" name="motif-1"/>
          <p:cNvSpPr/>
          <p:nvPr/>
        </p:nvSpPr>
        <p:spPr>
          <a:xfrm>
            <a:off x="548640" y="54864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/>
        </p:spPr>
      </p:sp>
      <p:sp>
        <p:nvSpPr>
          <p:cNvPr id="5" name="motif-2"/>
          <p:cNvSpPr/>
          <p:nvPr/>
        </p:nvSpPr>
        <p:spPr>
          <a:xfrm>
            <a:off x="1143000" y="548640"/>
            <a:ext cx="50292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  <a:ln/>
        </p:spPr>
      </p:sp>
      <p:sp>
        <p:nvSpPr>
          <p:cNvPr id="6" name="meta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4B8"/>
                </a:solidFill>
              </a:rPr>
              <a:t>International Track, Topic F (Agent Wallet) · October 20, 2026 · Base Sepolia, MockUSD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 and objective</a:t>
            </a:r>
            <a:endParaRPr lang="en-US" sz="3000" dirty="0"/>
          </a:p>
        </p:txBody>
      </p:sp>
      <p:sp>
        <p:nvSpPr>
          <p:cNvPr id="3" name="card The problem"/>
          <p:cNvSpPr/>
          <p:nvPr/>
        </p:nvSpPr>
        <p:spPr>
          <a:xfrm>
            <a:off x="457200" y="1188720"/>
            <a:ext cx="402336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sp>
        <p:nvSpPr>
          <p:cNvPr id="4" name="text The problem"/>
          <p:cNvSpPr txBox="1"/>
          <p:nvPr/>
        </p:nvSpPr>
        <p:spPr>
          <a:xfrm>
            <a:off x="594360" y="1280160"/>
            <a:ext cx="3749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problem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Agents must quote, pay and verify delivery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Unrestricted signing makes model errors costly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Paid does not mean delivered; silence does not mean failed</a:t>
            </a:r>
            <a:endParaRPr lang="en-US" sz="1600" dirty="0"/>
          </a:p>
        </p:txBody>
      </p:sp>
      <p:sp>
        <p:nvSpPr>
          <p:cNvPr id="5" name="card The objective"/>
          <p:cNvSpPr/>
          <p:nvPr/>
        </p:nvSpPr>
        <p:spPr>
          <a:xfrm>
            <a:off x="4663440" y="1188720"/>
            <a:ext cx="4023360" cy="2423160"/>
          </a:xfrm>
          <a:prstGeom prst="roundRect">
            <a:avLst>
              <a:gd name="adj" fmla="val 3019"/>
            </a:avLst>
          </a:prstGeom>
          <a:solidFill>
            <a:schemeClr val="bg2"/>
          </a:solidFill>
          <a:ln/>
        </p:spPr>
      </p:sp>
      <p:sp>
        <p:nvSpPr>
          <p:cNvPr id="6" name="text The objective"/>
          <p:cNvSpPr txBox="1"/>
          <p:nvPr/>
        </p:nvSpPr>
        <p:spPr>
          <a:xfrm>
            <a:off x="4800600" y="1280160"/>
            <a:ext cx="3749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The objective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Useful delegation with bounded token exposure, authenticated invoices, durable recovery and inspectable evidence.</a:t>
            </a:r>
            <a:endParaRPr lang="en-US" sz="1600" dirty="0"/>
          </a:p>
        </p:txBody>
      </p:sp>
      <p:sp>
        <p:nvSpPr>
          <p:cNvPr id="7" name="card Scope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EF4F3"/>
          </a:solidFill>
          <a:ln/>
        </p:spPr>
      </p:sp>
      <p:sp>
        <p:nvSpPr>
          <p:cNvPr id="8" name="text Scope"/>
          <p:cNvSpPr txBox="1"/>
          <p:nvPr/>
        </p:nvSpPr>
        <p:spPr>
          <a:xfrm>
            <a:off x="594360" y="388620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Scope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owner and account, one policy token, fixed catalog, direct payment or opt-in escrow.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4406" y="22860"/>
            <a:ext cx="3594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tx1"/>
                </a:solidFill>
              </a:rPr>
              <a:t>Implemented wallet workspace</a:t>
            </a:r>
            <a:endParaRPr lang="en-US" sz="2400" dirty="0"/>
          </a:p>
        </p:txBody>
      </p:sp>
      <p:sp>
        <p:nvSpPr>
          <p:cNvPr id="3" name="card /setup"/>
          <p:cNvSpPr/>
          <p:nvPr/>
        </p:nvSpPr>
        <p:spPr>
          <a:xfrm>
            <a:off x="760535" y="780581"/>
            <a:ext cx="2011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4" name="text /setup"/>
          <p:cNvSpPr txBox="1"/>
          <p:nvPr/>
        </p:nvSpPr>
        <p:spPr>
          <a:xfrm>
            <a:off x="897695" y="872021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/setup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Owner login, bootstrap, session</a:t>
            </a:r>
            <a:endParaRPr lang="en-US" sz="1600" dirty="0"/>
          </a:p>
        </p:txBody>
      </p:sp>
      <p:sp>
        <p:nvSpPr>
          <p:cNvPr id="5" name="card /dashboard"/>
          <p:cNvSpPr/>
          <p:nvPr/>
        </p:nvSpPr>
        <p:spPr>
          <a:xfrm>
            <a:off x="2808263" y="775482"/>
            <a:ext cx="2011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6" name="text /dashboard"/>
          <p:cNvSpPr txBox="1"/>
          <p:nvPr/>
        </p:nvSpPr>
        <p:spPr>
          <a:xfrm>
            <a:off x="2945423" y="866922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/dashboard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Assistant, risk checks, receipts</a:t>
            </a:r>
            <a:endParaRPr lang="en-US" sz="1600" dirty="0"/>
          </a:p>
        </p:txBody>
      </p:sp>
      <p:sp>
        <p:nvSpPr>
          <p:cNvPr id="7" name="card /review"/>
          <p:cNvSpPr/>
          <p:nvPr/>
        </p:nvSpPr>
        <p:spPr>
          <a:xfrm>
            <a:off x="47040" y="2343326"/>
            <a:ext cx="2011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8" name="text /review"/>
          <p:cNvSpPr txBox="1"/>
          <p:nvPr/>
        </p:nvSpPr>
        <p:spPr>
          <a:xfrm>
            <a:off x="184200" y="2434766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/review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Disposable fork workspace</a:t>
            </a:r>
            <a:endParaRPr lang="en-US" sz="1600" dirty="0"/>
          </a:p>
        </p:txBody>
      </p:sp>
      <p:sp>
        <p:nvSpPr>
          <p:cNvPr id="9" name="card /evidence"/>
          <p:cNvSpPr/>
          <p:nvPr/>
        </p:nvSpPr>
        <p:spPr>
          <a:xfrm>
            <a:off x="4193931" y="2343326"/>
            <a:ext cx="2011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0" name="text /evidence"/>
          <p:cNvSpPr txBox="1"/>
          <p:nvPr/>
        </p:nvSpPr>
        <p:spPr>
          <a:xfrm>
            <a:off x="4331091" y="2434766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/evidence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Labeled receipts and tests</a:t>
            </a:r>
            <a:endParaRPr lang="en-US" sz="1600" dirty="0"/>
          </a:p>
        </p:txBody>
      </p:sp>
      <p:sp>
        <p:nvSpPr>
          <p:cNvPr id="11" name="stat 10 / 6"/>
          <p:cNvSpPr/>
          <p:nvPr/>
        </p:nvSpPr>
        <p:spPr>
          <a:xfrm>
            <a:off x="5303520" y="21102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2" name="stat value 10 / 6"/>
          <p:cNvSpPr txBox="1"/>
          <p:nvPr/>
        </p:nvSpPr>
        <p:spPr>
          <a:xfrm>
            <a:off x="5440680" y="94254"/>
            <a:ext cx="1600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6</a:t>
            </a:r>
            <a:endParaRPr lang="en-US" sz="2800" dirty="0"/>
          </a:p>
        </p:txBody>
      </p:sp>
      <p:sp>
        <p:nvSpPr>
          <p:cNvPr id="13" name="stat label 10 / 6"/>
          <p:cNvSpPr txBox="1"/>
          <p:nvPr/>
        </p:nvSpPr>
        <p:spPr>
          <a:xfrm>
            <a:off x="5440680" y="850920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allocation / reserve, MockUSD</a:t>
            </a:r>
            <a:endParaRPr lang="en-US" sz="1400" dirty="0"/>
          </a:p>
        </p:txBody>
      </p:sp>
      <p:sp>
        <p:nvSpPr>
          <p:cNvPr id="14" name="stat 1 / 2"/>
          <p:cNvSpPr/>
          <p:nvPr/>
        </p:nvSpPr>
        <p:spPr>
          <a:xfrm>
            <a:off x="7178040" y="42203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5" name="stat value 1 / 2"/>
          <p:cNvSpPr txBox="1"/>
          <p:nvPr/>
        </p:nvSpPr>
        <p:spPr>
          <a:xfrm>
            <a:off x="7315200" y="115355"/>
            <a:ext cx="1600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/ 2</a:t>
            </a:r>
            <a:endParaRPr lang="en-US" sz="2800" dirty="0"/>
          </a:p>
        </p:txBody>
      </p:sp>
      <p:sp>
        <p:nvSpPr>
          <p:cNvPr id="16" name="stat label 1 / 2"/>
          <p:cNvSpPr txBox="1"/>
          <p:nvPr/>
        </p:nvSpPr>
        <p:spPr>
          <a:xfrm>
            <a:off x="7315200" y="872021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per-payment / UTC-day cap</a:t>
            </a:r>
            <a:endParaRPr lang="en-US" sz="1400" dirty="0"/>
          </a:p>
        </p:txBody>
      </p:sp>
      <p:sp>
        <p:nvSpPr>
          <p:cNvPr id="17" name="stat 0.26"/>
          <p:cNvSpPr/>
          <p:nvPr/>
        </p:nvSpPr>
        <p:spPr>
          <a:xfrm>
            <a:off x="7178040" y="3059723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18" name="stat value 0.26"/>
          <p:cNvSpPr txBox="1"/>
          <p:nvPr/>
        </p:nvSpPr>
        <p:spPr>
          <a:xfrm>
            <a:off x="7315200" y="3132875"/>
            <a:ext cx="1600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0.26</a:t>
            </a:r>
            <a:endParaRPr lang="en-US" sz="2800" dirty="0"/>
          </a:p>
        </p:txBody>
      </p:sp>
      <p:sp>
        <p:nvSpPr>
          <p:cNvPr id="19" name="stat label 0.26"/>
          <p:cNvSpPr txBox="1"/>
          <p:nvPr/>
        </p:nvSpPr>
        <p:spPr>
          <a:xfrm>
            <a:off x="7315200" y="3889541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 MiB, 1 hour service</a:t>
            </a:r>
            <a:endParaRPr lang="en-US" sz="1400" dirty="0"/>
          </a:p>
        </p:txBody>
      </p:sp>
      <p:sp>
        <p:nvSpPr>
          <p:cNvPr id="20" name="stat 0.52"/>
          <p:cNvSpPr/>
          <p:nvPr/>
        </p:nvSpPr>
        <p:spPr>
          <a:xfrm>
            <a:off x="7178040" y="1550963"/>
            <a:ext cx="18745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1" name="stat value 0.52"/>
          <p:cNvSpPr txBox="1"/>
          <p:nvPr/>
        </p:nvSpPr>
        <p:spPr>
          <a:xfrm>
            <a:off x="7315200" y="1624115"/>
            <a:ext cx="16002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0.52</a:t>
            </a:r>
            <a:endParaRPr lang="en-US" sz="2800" dirty="0"/>
          </a:p>
        </p:txBody>
      </p:sp>
      <p:sp>
        <p:nvSpPr>
          <p:cNvPr id="22" name="stat label 0.52"/>
          <p:cNvSpPr txBox="1"/>
          <p:nvPr/>
        </p:nvSpPr>
        <p:spPr>
          <a:xfrm>
            <a:off x="7315200" y="2380781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4 MiB, 4 hour service</a:t>
            </a:r>
            <a:endParaRPr lang="en-US" sz="1400" dirty="0"/>
          </a:p>
        </p:txBody>
      </p:sp>
      <p:sp>
        <p:nvSpPr>
          <p:cNvPr id="23" name="mockusd note"/>
          <p:cNvSpPr txBox="1"/>
          <p:nvPr/>
        </p:nvSpPr>
        <p:spPr>
          <a:xfrm>
            <a:off x="137160" y="4440116"/>
            <a:ext cx="4452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27C"/>
                </a:solidFill>
              </a:rPr>
              <a:t>MockUSD is a six-decimal test token, not USD or USDC. Services are team-operated JSONB namespaces.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7" name="card /evidence">
            <a:extLst>
              <a:ext uri="{FF2B5EF4-FFF2-40B4-BE49-F238E27FC236}">
                <a16:creationId xmlns:a16="http://schemas.microsoft.com/office/drawing/2014/main" id="{F6ED9D40-6779-7A34-37A7-B21FBAD30769}"/>
              </a:ext>
            </a:extLst>
          </p:cNvPr>
          <p:cNvSpPr/>
          <p:nvPr/>
        </p:nvSpPr>
        <p:spPr>
          <a:xfrm>
            <a:off x="2094768" y="2343326"/>
            <a:ext cx="2011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9" name="text /evidence">
            <a:extLst>
              <a:ext uri="{FF2B5EF4-FFF2-40B4-BE49-F238E27FC236}">
                <a16:creationId xmlns:a16="http://schemas.microsoft.com/office/drawing/2014/main" id="{FC98F720-6173-F699-4070-E2CF8EC41068}"/>
              </a:ext>
            </a:extLst>
          </p:cNvPr>
          <p:cNvSpPr txBox="1"/>
          <p:nvPr/>
        </p:nvSpPr>
        <p:spPr>
          <a:xfrm>
            <a:off x="2231928" y="2434766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/overview</a:t>
            </a:r>
            <a:endParaRPr lang="en-US" sz="1600" dirty="0"/>
          </a:p>
          <a:p>
            <a:r>
              <a:rPr lang="en-US" sz="1400" dirty="0"/>
              <a:t>Astra proposes a plan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Architecture and technology</a:t>
            </a:r>
            <a:endParaRPr lang="en-US" sz="3000" dirty="0"/>
          </a:p>
        </p:txBody>
      </p:sp>
      <p:sp>
        <p:nvSpPr>
          <p:cNvPr id="3" name="flow box 1"/>
          <p:cNvSpPr/>
          <p:nvPr/>
        </p:nvSpPr>
        <p:spPr>
          <a:xfrm>
            <a:off x="457200" y="1188720"/>
            <a:ext cx="1203960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4" name="flow label 1"/>
          <p:cNvSpPr txBox="1"/>
          <p:nvPr/>
        </p:nvSpPr>
        <p:spPr>
          <a:xfrm>
            <a:off x="493776" y="1188720"/>
            <a:ext cx="1130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Owner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MetaMask</a:t>
            </a:r>
            <a:endParaRPr lang="en-US" sz="1200" dirty="0"/>
          </a:p>
        </p:txBody>
      </p:sp>
      <p:sp>
        <p:nvSpPr>
          <p:cNvPr id="5" name="flow arrow 1"/>
          <p:cNvSpPr/>
          <p:nvPr/>
        </p:nvSpPr>
        <p:spPr>
          <a:xfrm>
            <a:off x="1679448" y="147218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6" name="flow box 2"/>
          <p:cNvSpPr/>
          <p:nvPr/>
        </p:nvSpPr>
        <p:spPr>
          <a:xfrm>
            <a:off x="1862328" y="1188720"/>
            <a:ext cx="1203960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7" name="flow label 2"/>
          <p:cNvSpPr txBox="1"/>
          <p:nvPr/>
        </p:nvSpPr>
        <p:spPr>
          <a:xfrm>
            <a:off x="1898904" y="1188720"/>
            <a:ext cx="1130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Web + 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Astra</a:t>
            </a:r>
            <a:endParaRPr lang="en-US" sz="1200" dirty="0"/>
          </a:p>
        </p:txBody>
      </p:sp>
      <p:sp>
        <p:nvSpPr>
          <p:cNvPr id="8" name="flow arrow 2"/>
          <p:cNvSpPr/>
          <p:nvPr/>
        </p:nvSpPr>
        <p:spPr>
          <a:xfrm>
            <a:off x="3084576" y="147218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flow box 3"/>
          <p:cNvSpPr/>
          <p:nvPr/>
        </p:nvSpPr>
        <p:spPr>
          <a:xfrm>
            <a:off x="3267456" y="1188720"/>
            <a:ext cx="1203960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10" name="flow label 3"/>
          <p:cNvSpPr txBox="1"/>
          <p:nvPr/>
        </p:nvSpPr>
        <p:spPr>
          <a:xfrm>
            <a:off x="3304032" y="1188720"/>
            <a:ext cx="1130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Provider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signer</a:t>
            </a:r>
            <a:endParaRPr lang="en-US" sz="1200" dirty="0"/>
          </a:p>
        </p:txBody>
      </p:sp>
      <p:sp>
        <p:nvSpPr>
          <p:cNvPr id="11" name="flow arrow 3"/>
          <p:cNvSpPr/>
          <p:nvPr/>
        </p:nvSpPr>
        <p:spPr>
          <a:xfrm>
            <a:off x="4489704" y="147218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2" name="flow box 4"/>
          <p:cNvSpPr/>
          <p:nvPr/>
        </p:nvSpPr>
        <p:spPr>
          <a:xfrm>
            <a:off x="4672584" y="1188720"/>
            <a:ext cx="1203960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13" name="flow label 4"/>
          <p:cNvSpPr txBox="1"/>
          <p:nvPr/>
        </p:nvSpPr>
        <p:spPr>
          <a:xfrm>
            <a:off x="4709160" y="1188720"/>
            <a:ext cx="1130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Worker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scoped session</a:t>
            </a:r>
            <a:endParaRPr lang="en-US" sz="1200" dirty="0"/>
          </a:p>
        </p:txBody>
      </p:sp>
      <p:sp>
        <p:nvSpPr>
          <p:cNvPr id="14" name="flow arrow 4"/>
          <p:cNvSpPr/>
          <p:nvPr/>
        </p:nvSpPr>
        <p:spPr>
          <a:xfrm>
            <a:off x="5894832" y="147218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5" name="flow box 5"/>
          <p:cNvSpPr/>
          <p:nvPr/>
        </p:nvSpPr>
        <p:spPr>
          <a:xfrm>
            <a:off x="6077712" y="1188720"/>
            <a:ext cx="1203960" cy="73152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/>
        </p:spPr>
      </p:sp>
      <p:sp>
        <p:nvSpPr>
          <p:cNvPr id="16" name="flow label 5"/>
          <p:cNvSpPr txBox="1"/>
          <p:nvPr/>
        </p:nvSpPr>
        <p:spPr>
          <a:xfrm>
            <a:off x="6114288" y="1188720"/>
            <a:ext cx="1130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Bundler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EntryPoint 0.7</a:t>
            </a:r>
            <a:endParaRPr lang="en-US" sz="1200" dirty="0"/>
          </a:p>
        </p:txBody>
      </p:sp>
      <p:sp>
        <p:nvSpPr>
          <p:cNvPr id="17" name="flow arrow 5"/>
          <p:cNvSpPr/>
          <p:nvPr/>
        </p:nvSpPr>
        <p:spPr>
          <a:xfrm>
            <a:off x="7299960" y="147218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8" name="flow box 6"/>
          <p:cNvSpPr/>
          <p:nvPr/>
        </p:nvSpPr>
        <p:spPr>
          <a:xfrm>
            <a:off x="7482840" y="1188720"/>
            <a:ext cx="1203960" cy="7315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/>
        </p:spPr>
      </p:sp>
      <p:sp>
        <p:nvSpPr>
          <p:cNvPr id="19" name="flow label 6"/>
          <p:cNvSpPr txBox="1"/>
          <p:nvPr/>
        </p:nvSpPr>
        <p:spPr>
          <a:xfrm>
            <a:off x="7519416" y="1188720"/>
            <a:ext cx="1130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Kernel 0.3.1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+ Guardian</a:t>
            </a:r>
            <a:endParaRPr lang="en-US" sz="1200" dirty="0"/>
          </a:p>
        </p:txBody>
      </p:sp>
      <p:graphicFrame>
        <p:nvGraphicFramePr>
          <p:cNvPr id="2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229600" cy="230428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Application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TypeScript, Next.js, Fastify, Zod, viem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Groq GPT-OSS 120B; 20B comparator; no automatic fallback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Persistence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PostgreSQL with Drizzle; PGlite for isolated workspaces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Authorization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Kernel 0.3.1, EntryPoint 0.7, ERC-4337 UserOperation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Contract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Solidity 0.8.28 ERC-7579 executor; EIP-712 signatures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Verification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Hardhat, Vitest, Playwright, Base Sepolia forks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Procurement, review and delivery</a:t>
            </a:r>
            <a:endParaRPr lang="en-US" sz="3000" dirty="0"/>
          </a:p>
        </p:txBody>
      </p:sp>
      <p:sp>
        <p:nvSpPr>
          <p:cNvPr id="3" name="step circle 1"/>
          <p:cNvSpPr/>
          <p:nvPr/>
        </p:nvSpPr>
        <p:spPr>
          <a:xfrm>
            <a:off x="457200" y="124815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step number 1"/>
          <p:cNvSpPr txBox="1"/>
          <p:nvPr/>
        </p:nvSpPr>
        <p:spPr>
          <a:xfrm>
            <a:off x="457200" y="1248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text 1"/>
          <p:cNvSpPr txBox="1"/>
          <p:nvPr/>
        </p:nvSpPr>
        <p:spPr>
          <a:xfrm>
            <a:off x="987552" y="1188720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Owner signs in; delegation is a separate signature</a:t>
            </a:r>
            <a:endParaRPr lang="en-US" sz="1400" dirty="0"/>
          </a:p>
        </p:txBody>
      </p:sp>
      <p:sp>
        <p:nvSpPr>
          <p:cNvPr id="6" name="step circle 2"/>
          <p:cNvSpPr/>
          <p:nvPr/>
        </p:nvSpPr>
        <p:spPr>
          <a:xfrm>
            <a:off x="457200" y="18150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tep number 2"/>
          <p:cNvSpPr txBox="1"/>
          <p:nvPr/>
        </p:nvSpPr>
        <p:spPr>
          <a:xfrm>
            <a:off x="457200" y="18150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step text 2"/>
          <p:cNvSpPr txBox="1"/>
          <p:nvPr/>
        </p:nvSpPr>
        <p:spPr>
          <a:xfrm>
            <a:off x="987552" y="1755648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Provider signer issues an authenticated catalog invoice</a:t>
            </a:r>
            <a:endParaRPr lang="en-US" sz="1400" dirty="0"/>
          </a:p>
        </p:txBody>
      </p:sp>
      <p:sp>
        <p:nvSpPr>
          <p:cNvPr id="9" name="step circle 3"/>
          <p:cNvSpPr/>
          <p:nvPr/>
        </p:nvSpPr>
        <p:spPr>
          <a:xfrm>
            <a:off x="457200" y="23820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step number 3"/>
          <p:cNvSpPr txBox="1"/>
          <p:nvPr/>
        </p:nvSpPr>
        <p:spPr>
          <a:xfrm>
            <a:off x="457200" y="23820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step text 3"/>
          <p:cNvSpPr txBox="1"/>
          <p:nvPr/>
        </p:nvSpPr>
        <p:spPr>
          <a:xfrm>
            <a:off x="987552" y="2322576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Assistant stores a non-executable draft with review</a:t>
            </a:r>
            <a:endParaRPr lang="en-US" sz="1400" dirty="0"/>
          </a:p>
        </p:txBody>
      </p:sp>
      <p:sp>
        <p:nvSpPr>
          <p:cNvPr id="12" name="step circle 4"/>
          <p:cNvSpPr/>
          <p:nvPr/>
        </p:nvSpPr>
        <p:spPr>
          <a:xfrm>
            <a:off x="457200" y="29489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step number 4"/>
          <p:cNvSpPr txBox="1"/>
          <p:nvPr/>
        </p:nvSpPr>
        <p:spPr>
          <a:xfrm>
            <a:off x="457200" y="2948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step text 4"/>
          <p:cNvSpPr txBox="1"/>
          <p:nvPr/>
        </p:nvSpPr>
        <p:spPr>
          <a:xfrm>
            <a:off x="987552" y="2889504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Explicit queue release rechecks ownership and capacity</a:t>
            </a:r>
            <a:endParaRPr lang="en-US" sz="1400" dirty="0"/>
          </a:p>
        </p:txBody>
      </p:sp>
      <p:sp>
        <p:nvSpPr>
          <p:cNvPr id="15" name="step circle 5"/>
          <p:cNvSpPr/>
          <p:nvPr/>
        </p:nvSpPr>
        <p:spPr>
          <a:xfrm>
            <a:off x="457200" y="351586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step number 5"/>
          <p:cNvSpPr txBox="1"/>
          <p:nvPr/>
        </p:nvSpPr>
        <p:spPr>
          <a:xfrm>
            <a:off x="457200" y="35158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step text 5"/>
          <p:cNvSpPr txBox="1"/>
          <p:nvPr/>
        </p:nvSpPr>
        <p:spPr>
          <a:xfrm>
            <a:off x="987552" y="3456432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Worker validates, signs, persists, then submits</a:t>
            </a:r>
            <a:endParaRPr lang="en-US" sz="1400" dirty="0"/>
          </a:p>
        </p:txBody>
      </p:sp>
      <p:sp>
        <p:nvSpPr>
          <p:cNvPr id="18" name="step circle 6"/>
          <p:cNvSpPr/>
          <p:nvPr/>
        </p:nvSpPr>
        <p:spPr>
          <a:xfrm>
            <a:off x="457200" y="40827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step number 6"/>
          <p:cNvSpPr txBox="1"/>
          <p:nvPr/>
        </p:nvSpPr>
        <p:spPr>
          <a:xfrm>
            <a:off x="457200" y="40827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step text 6"/>
          <p:cNvSpPr txBox="1"/>
          <p:nvPr/>
        </p:nvSpPr>
        <p:spPr>
          <a:xfrm>
            <a:off x="987552" y="4023360"/>
            <a:ext cx="4407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Chain evidence sets payment status; probe sets completion</a:t>
            </a:r>
            <a:endParaRPr lang="en-US" sz="1400" dirty="0"/>
          </a:p>
        </p:txBody>
      </p:sp>
      <p:sp>
        <p:nvSpPr>
          <p:cNvPr id="21" name="card Task states"/>
          <p:cNvSpPr/>
          <p:nvPr/>
        </p:nvSpPr>
        <p:spPr>
          <a:xfrm>
            <a:off x="5577840" y="1188720"/>
            <a:ext cx="3108960" cy="333756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22" name="text Task states"/>
          <p:cNvSpPr txBox="1"/>
          <p:nvPr/>
        </p:nvSpPr>
        <p:spPr>
          <a:xfrm>
            <a:off x="5715000" y="1280160"/>
            <a:ext cx="28346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Task states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paid: direct settlement confirmed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escrowed: lock confirmed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completed: delivery verified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unknown: reconcile, never retry blindly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Permission and spending controls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5603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Principal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Authorized role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Owner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Policy, delegation, pause and revoke through owner authority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Bounded decision and summary; no keys or invoice fields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Financial API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Authenticated checks and task management; no session key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Worker session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Guardian selectors, CALL, zero native value, expiry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Guardian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Reserve, caps, recipient, replay, expiry, atomic transfer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Provider signer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Fixed-catalog signatures; no owner authority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exclusions note"/>
          <p:cNvSpPr txBox="1"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Excluded from the agent route: arbitrary transfer, approval, admin, delegatecall bypass and ERC-1271 session authority. Batches: at most 10 invoices.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Public receipts and the reviewer boundary</a:t>
            </a:r>
            <a:endParaRPr lang="en-US" sz="30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19456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Record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Evidence level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AI-01, Oct 17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0.26 MockUSD direct; 10.00 to 9.74; signed delivery, write/read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Public Base Sepolia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Escrow, Oct 19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Lock, provider-attested release, staged activation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Public Base Sepolia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Reviewer, Oct 18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Hosted model, fork-local execution, browser probe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0202B"/>
                          </a:solidFill>
                        </a:rPr>
                        <a:t>Isolated fork; no new payment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eipt links"/>
          <p:cNvSpPr txBox="1"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u="sng" dirty="0">
                <a:solidFill>
                  <a:srgbClr val="0B6E70"/>
                </a:solidFill>
                <a:hlinkClick r:id="rId3" tooltip="https://base-sepolia.blockscout.com/tx/0xf208e8aaec33e4d3e1ff2efeda9b3bc461dcaa4302f4e2863d6798698bc28ee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Escrow lock</a:t>
            </a:r>
            <a:r>
              <a:rPr lang="en-US" sz="1400" dirty="0">
                <a:solidFill>
                  <a:srgbClr val="5F727C"/>
                </a:solidFill>
              </a:rPr>
              <a:t>   ·   </a:t>
            </a:r>
            <a:r>
              <a:rPr lang="en-US" sz="1400" u="sng" dirty="0">
                <a:solidFill>
                  <a:srgbClr val="0B6E70"/>
                </a:solidFill>
                <a:hlinkClick r:id="rId4" tooltip="https://base-sepolia.blockscout.com/tx/0x328f10ba0f1f54f8b87f4b08006b33a825621b950c670f2e207450653f31990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Escrow release</a:t>
            </a:r>
            <a:r>
              <a:rPr lang="en-US" sz="1400" dirty="0">
                <a:solidFill>
                  <a:srgbClr val="5F727C"/>
                </a:solidFill>
              </a:rPr>
              <a:t>   ·   </a:t>
            </a:r>
            <a:r>
              <a:rPr lang="en-US" sz="1400" u="sng" dirty="0">
                <a:solidFill>
                  <a:srgbClr val="0B6E70"/>
                </a:solidFill>
                <a:hlinkClick r:id="rId5" tooltip="https://sepolia.basescan.org/tx/0x7cd8b34b835cb34b65d5d3484d81541874b225e7d5fb345f5c9514ad20fdd86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AI-01 payment</a:t>
            </a:r>
            <a:endParaRPr lang="en-US" sz="1400" dirty="0"/>
          </a:p>
        </p:txBody>
      </p:sp>
      <p:sp>
        <p:nvSpPr>
          <p:cNvPr id="5" name="card 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BF3E2"/>
          </a:solidFill>
          <a:ln/>
        </p:spPr>
      </p:sp>
      <p:sp>
        <p:nvSpPr>
          <p:cNvPr id="6" name="text "/>
          <p:cNvSpPr txBox="1"/>
          <p:nvPr/>
        </p:nvSpPr>
        <p:spPr>
          <a:xfrm>
            <a:off x="594360" y="40690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Reviewer workspaces last 15 minutes. Recorded liveness is not current availability.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Live-model and authorization evaluation</a:t>
            </a:r>
            <a:endParaRPr lang="en-US" sz="3000" dirty="0"/>
          </a:p>
        </p:txBody>
      </p:sp>
      <p:graphicFrame>
        <p:nvGraphicFramePr>
          <p:cNvPr id="3" name="eval chart"/>
          <p:cNvGraphicFramePr/>
          <p:nvPr/>
        </p:nvGraphicFramePr>
        <p:xfrm>
          <a:off x="457200" y="1143000"/>
          <a:ext cx="320040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188720"/>
          <a:ext cx="4846320" cy="17373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Track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Planner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16 / 16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Buyer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16 / 16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Provider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12 / 12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Vendor parser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0202B"/>
                          </a:solidFill>
                        </a:rPr>
                        <a:t>16 / 16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ard Model comparison"/>
          <p:cNvSpPr/>
          <p:nvPr/>
        </p:nvSpPr>
        <p:spPr>
          <a:xfrm>
            <a:off x="3840480" y="3063240"/>
            <a:ext cx="48463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</p:sp>
      <p:sp>
        <p:nvSpPr>
          <p:cNvPr id="6" name="text Model comparison"/>
          <p:cNvSpPr txBox="1"/>
          <p:nvPr/>
        </p:nvSpPr>
        <p:spPr>
          <a:xfrm>
            <a:off x="3977640" y="31546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Model comparison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120B 8/8, P50/P95 675/1008 ms; 20B 8/8, 580/621 ms.</a:t>
            </a:r>
            <a:endParaRPr lang="en-US" sz="1400" dirty="0"/>
          </a:p>
        </p:txBody>
      </p:sp>
      <p:sp>
        <p:nvSpPr>
          <p:cNvPr id="7" name="eval note"/>
          <p:cNvSpPr txBox="1"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In-sample regression of 30 cases twice, not 60 independent jailbreaks. Baseline had 6 inconclusive errors.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Batching efficiency and economic scope</a:t>
            </a:r>
            <a:endParaRPr lang="en-US" sz="3000" dirty="0"/>
          </a:p>
        </p:txBody>
      </p:sp>
      <p:graphicFrame>
        <p:nvGraphicFramePr>
          <p:cNvPr id="3" name="batch chart"/>
          <p:cNvGraphicFramePr/>
          <p:nvPr/>
        </p:nvGraphicFramePr>
        <p:xfrm>
          <a:off x="457200" y="1143000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tat -58.59%"/>
          <p:cNvSpPr/>
          <p:nvPr/>
        </p:nvSpPr>
        <p:spPr>
          <a:xfrm>
            <a:off x="5394960" y="1188720"/>
            <a:ext cx="32918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5" name="stat value -58.59%"/>
          <p:cNvSpPr txBox="1"/>
          <p:nvPr/>
        </p:nvSpPr>
        <p:spPr>
          <a:xfrm>
            <a:off x="5532120" y="126187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-58.59%</a:t>
            </a:r>
            <a:endParaRPr lang="en-US" sz="3200" dirty="0"/>
          </a:p>
        </p:txBody>
      </p:sp>
      <p:sp>
        <p:nvSpPr>
          <p:cNvPr id="6" name="stat label -58.59%"/>
          <p:cNvSpPr txBox="1"/>
          <p:nvPr/>
        </p:nvSpPr>
        <p:spPr>
          <a:xfrm>
            <a:off x="5532120" y="189280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4 invoices, 1.04 MockUSD</a:t>
            </a:r>
            <a:endParaRPr lang="en-US" sz="1400" dirty="0"/>
          </a:p>
        </p:txBody>
      </p:sp>
      <p:sp>
        <p:nvSpPr>
          <p:cNvPr id="7" name="stat -67.87%"/>
          <p:cNvSpPr/>
          <p:nvPr/>
        </p:nvSpPr>
        <p:spPr>
          <a:xfrm>
            <a:off x="5394960" y="2606040"/>
            <a:ext cx="32918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stat value -67.87%"/>
          <p:cNvSpPr txBox="1"/>
          <p:nvPr/>
        </p:nvSpPr>
        <p:spPr>
          <a:xfrm>
            <a:off x="5532120" y="267919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-67.87%</a:t>
            </a:r>
            <a:endParaRPr lang="en-US" sz="3200" dirty="0"/>
          </a:p>
        </p:txBody>
      </p:sp>
      <p:sp>
        <p:nvSpPr>
          <p:cNvPr id="9" name="stat label -67.87%"/>
          <p:cNvSpPr txBox="1"/>
          <p:nvPr/>
        </p:nvSpPr>
        <p:spPr>
          <a:xfrm>
            <a:off x="5532120" y="331012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7 invoices, 1.82 MockUSD</a:t>
            </a:r>
            <a:endParaRPr lang="en-US" sz="1400" dirty="0"/>
          </a:p>
        </p:txBody>
      </p:sp>
      <p:sp>
        <p:nvSpPr>
          <p:cNvPr id="10" name="batch note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Local fork, three repetitions per mode. Excludes L1 data, commercial bundler pricing, inference and hosting. No USD or mainnet ROI claim. Opt-in: at most 10 invoices, 30 s window.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Recovery and verification coverage</a:t>
            </a:r>
            <a:endParaRPr lang="en-US" sz="3000" dirty="0"/>
          </a:p>
        </p:txBody>
      </p:sp>
      <p:sp>
        <p:nvSpPr>
          <p:cNvPr id="3" name="flow box 1"/>
          <p:cNvSpPr/>
          <p:nvPr/>
        </p:nvSpPr>
        <p:spPr>
          <a:xfrm>
            <a:off x="457200" y="1188720"/>
            <a:ext cx="1203960" cy="77724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4" name="flow label 1"/>
          <p:cNvSpPr txBox="1"/>
          <p:nvPr/>
        </p:nvSpPr>
        <p:spPr>
          <a:xfrm>
            <a:off x="493776" y="1188720"/>
            <a:ext cx="1130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Lease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fresh state</a:t>
            </a:r>
            <a:endParaRPr lang="en-US" sz="1200" dirty="0"/>
          </a:p>
        </p:txBody>
      </p:sp>
      <p:sp>
        <p:nvSpPr>
          <p:cNvPr id="5" name="flow arrow 1"/>
          <p:cNvSpPr/>
          <p:nvPr/>
        </p:nvSpPr>
        <p:spPr>
          <a:xfrm>
            <a:off x="1679448" y="149504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6" name="flow box 2"/>
          <p:cNvSpPr/>
          <p:nvPr/>
        </p:nvSpPr>
        <p:spPr>
          <a:xfrm>
            <a:off x="1862328" y="1188720"/>
            <a:ext cx="1203960" cy="77724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7" name="flow label 2"/>
          <p:cNvSpPr txBox="1"/>
          <p:nvPr/>
        </p:nvSpPr>
        <p:spPr>
          <a:xfrm>
            <a:off x="1898904" y="1188720"/>
            <a:ext cx="1130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Sign</a:t>
            </a:r>
            <a:endParaRPr lang="en-US" sz="1200" dirty="0"/>
          </a:p>
        </p:txBody>
      </p:sp>
      <p:sp>
        <p:nvSpPr>
          <p:cNvPr id="8" name="flow arrow 2"/>
          <p:cNvSpPr/>
          <p:nvPr/>
        </p:nvSpPr>
        <p:spPr>
          <a:xfrm>
            <a:off x="3084576" y="149504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flow box 3"/>
          <p:cNvSpPr/>
          <p:nvPr/>
        </p:nvSpPr>
        <p:spPr>
          <a:xfrm>
            <a:off x="3267456" y="1188720"/>
            <a:ext cx="1203960" cy="77724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10" name="flow label 3"/>
          <p:cNvSpPr txBox="1"/>
          <p:nvPr/>
        </p:nvSpPr>
        <p:spPr>
          <a:xfrm>
            <a:off x="3304032" y="1188720"/>
            <a:ext cx="1130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Persist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before send</a:t>
            </a:r>
            <a:endParaRPr lang="en-US" sz="1200" dirty="0"/>
          </a:p>
        </p:txBody>
      </p:sp>
      <p:sp>
        <p:nvSpPr>
          <p:cNvPr id="11" name="flow arrow 3"/>
          <p:cNvSpPr/>
          <p:nvPr/>
        </p:nvSpPr>
        <p:spPr>
          <a:xfrm>
            <a:off x="4489704" y="149504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2" name="flow box 4"/>
          <p:cNvSpPr/>
          <p:nvPr/>
        </p:nvSpPr>
        <p:spPr>
          <a:xfrm>
            <a:off x="4672584" y="1188720"/>
            <a:ext cx="1203960" cy="77724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13" name="flow label 4"/>
          <p:cNvSpPr txBox="1"/>
          <p:nvPr/>
        </p:nvSpPr>
        <p:spPr>
          <a:xfrm>
            <a:off x="4709160" y="1188720"/>
            <a:ext cx="1130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Send</a:t>
            </a:r>
            <a:endParaRPr lang="en-US" sz="1200" dirty="0"/>
          </a:p>
        </p:txBody>
      </p:sp>
      <p:sp>
        <p:nvSpPr>
          <p:cNvPr id="14" name="flow arrow 4"/>
          <p:cNvSpPr/>
          <p:nvPr/>
        </p:nvSpPr>
        <p:spPr>
          <a:xfrm>
            <a:off x="5894832" y="149504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5" name="flow box 5"/>
          <p:cNvSpPr/>
          <p:nvPr/>
        </p:nvSpPr>
        <p:spPr>
          <a:xfrm>
            <a:off x="6077712" y="1188720"/>
            <a:ext cx="1203960" cy="77724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16" name="flow label 5"/>
          <p:cNvSpPr txBox="1"/>
          <p:nvPr/>
        </p:nvSpPr>
        <p:spPr>
          <a:xfrm>
            <a:off x="6114288" y="1188720"/>
            <a:ext cx="1130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Unknown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response</a:t>
            </a:r>
            <a:endParaRPr lang="en-US" sz="1200" dirty="0"/>
          </a:p>
        </p:txBody>
      </p:sp>
      <p:sp>
        <p:nvSpPr>
          <p:cNvPr id="17" name="flow arrow 5"/>
          <p:cNvSpPr/>
          <p:nvPr/>
        </p:nvSpPr>
        <p:spPr>
          <a:xfrm>
            <a:off x="7299960" y="1495044"/>
            <a:ext cx="164592" cy="164592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8" name="flow box 6"/>
          <p:cNvSpPr/>
          <p:nvPr/>
        </p:nvSpPr>
        <p:spPr>
          <a:xfrm>
            <a:off x="7482840" y="1188720"/>
            <a:ext cx="1203960" cy="777240"/>
          </a:xfrm>
          <a:prstGeom prst="roundRect">
            <a:avLst>
              <a:gd name="adj" fmla="val 7059"/>
            </a:avLst>
          </a:prstGeom>
          <a:solidFill>
            <a:schemeClr val="accent1"/>
          </a:solidFill>
          <a:ln/>
        </p:spPr>
      </p:sp>
      <p:sp>
        <p:nvSpPr>
          <p:cNvPr id="19" name="flow label 6"/>
          <p:cNvSpPr txBox="1"/>
          <p:nvPr/>
        </p:nvSpPr>
        <p:spPr>
          <a:xfrm>
            <a:off x="7519416" y="1188720"/>
            <a:ext cx="1130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Reconcile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evidence</a:t>
            </a:r>
            <a:endParaRPr lang="en-US" sz="1200" dirty="0"/>
          </a:p>
        </p:txBody>
      </p:sp>
      <p:graphicFrame>
        <p:nvGraphicFramePr>
          <p:cNvPr id="20" name="tests chart"/>
          <p:cNvGraphicFramePr/>
          <p:nvPr/>
        </p:nvGraphicFramePr>
        <p:xfrm>
          <a:off x="457200" y="2148840"/>
          <a:ext cx="45720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tat 156 / 156"/>
          <p:cNvSpPr/>
          <p:nvPr/>
        </p:nvSpPr>
        <p:spPr>
          <a:xfrm>
            <a:off x="5212080" y="2194560"/>
            <a:ext cx="347472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2" name="stat value 156 / 156"/>
          <p:cNvSpPr txBox="1"/>
          <p:nvPr/>
        </p:nvSpPr>
        <p:spPr>
          <a:xfrm>
            <a:off x="5349240" y="22677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 / 156</a:t>
            </a:r>
            <a:endParaRPr lang="en-US" sz="2800" dirty="0"/>
          </a:p>
        </p:txBody>
      </p:sp>
      <p:sp>
        <p:nvSpPr>
          <p:cNvPr id="23" name="stat label 156 / 156"/>
          <p:cNvSpPr txBox="1"/>
          <p:nvPr/>
        </p:nvSpPr>
        <p:spPr>
          <a:xfrm>
            <a:off x="5349240" y="2798064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tests passed</a:t>
            </a:r>
            <a:endParaRPr lang="en-US" sz="1400" dirty="0"/>
          </a:p>
        </p:txBody>
      </p:sp>
      <p:sp>
        <p:nvSpPr>
          <p:cNvPr id="24" name="card Recovery"/>
          <p:cNvSpPr/>
          <p:nvPr/>
        </p:nvSpPr>
        <p:spPr>
          <a:xfrm>
            <a:off x="5212080" y="3429000"/>
            <a:ext cx="347472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5" name="text Recovery"/>
          <p:cNvSpPr txBox="1"/>
          <p:nvPr/>
        </p:nvSpPr>
        <p:spPr>
          <a:xfrm>
            <a:off x="5349240" y="35204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Recovery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Lost response reconciled with one send; restart keeps one payment.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Result, boundaries and next validation</a:t>
            </a:r>
            <a:endParaRPr lang="en-US" sz="3000" dirty="0"/>
          </a:p>
        </p:txBody>
      </p:sp>
      <p:sp>
        <p:nvSpPr>
          <p:cNvPr id="3" name="card Implemented"/>
          <p:cNvSpPr/>
          <p:nvPr/>
        </p:nvSpPr>
        <p:spPr>
          <a:xfrm>
            <a:off x="457200" y="1188720"/>
            <a:ext cx="260604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4" name="text Implemented"/>
          <p:cNvSpPr txBox="1"/>
          <p:nvPr/>
        </p:nvSpPr>
        <p:spPr>
          <a:xfrm>
            <a:off x="594360" y="1280160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Implemented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Owner setup and assistant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Signed invoices, direct and escrow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Batching, recovery, reviewer</a:t>
            </a:r>
            <a:endParaRPr lang="en-US" sz="1600" dirty="0"/>
          </a:p>
        </p:txBody>
      </p:sp>
      <p:sp>
        <p:nvSpPr>
          <p:cNvPr id="5" name="card Boundaries"/>
          <p:cNvSpPr/>
          <p:nvPr/>
        </p:nvSpPr>
        <p:spPr>
          <a:xfrm>
            <a:off x="3268980" y="1188720"/>
            <a:ext cx="260604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6" name="text Boundaries"/>
          <p:cNvSpPr txBox="1"/>
          <p:nvPr/>
        </p:nvSpPr>
        <p:spPr>
          <a:xfrm>
            <a:off x="3406140" y="1280160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Boundaries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Testnet assets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Team-operated provider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Single owner per instance</a:t>
            </a:r>
            <a:endParaRPr lang="en-US" sz="1600" dirty="0"/>
          </a:p>
        </p:txBody>
      </p:sp>
      <p:sp>
        <p:nvSpPr>
          <p:cNvPr id="7" name="card Next validation"/>
          <p:cNvSpPr/>
          <p:nvPr/>
        </p:nvSpPr>
        <p:spPr>
          <a:xfrm>
            <a:off x="6080760" y="1188720"/>
            <a:ext cx="260604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8" name="text Next validation"/>
          <p:cNvSpPr txBox="1"/>
          <p:nvPr/>
        </p:nvSpPr>
        <p:spPr>
          <a:xfrm>
            <a:off x="6217920" y="1280160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Next validation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Independent security review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Held-out adversarial tests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Production cost study</a:t>
            </a:r>
            <a:endParaRPr lang="en-US" sz="1600" dirty="0"/>
          </a:p>
        </p:txBody>
      </p:sp>
      <p:sp>
        <p:nvSpPr>
          <p:cNvPr id="9" name="card 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FBF3E2"/>
          </a:solidFill>
          <a:ln/>
        </p:spPr>
      </p:sp>
      <p:sp>
        <p:nvSpPr>
          <p:cNvPr id="10" name="text "/>
          <p:cNvSpPr txBox="1"/>
          <p:nvPr/>
        </p:nvSpPr>
        <p:spPr>
          <a:xfrm>
            <a:off x="594360" y="40233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 audit, mainnet-readiness or universal prompt-injection immunity claim is made.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F727C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uardian Ink">
  <a:themeElements>
    <a:clrScheme name="Guardian Ink">
      <a:dk1>
        <a:srgbClr val="10202B"/>
      </a:dk1>
      <a:lt1>
        <a:srgbClr val="FFFFFF"/>
      </a:lt1>
      <a:dk2>
        <a:srgbClr val="1F3A4D"/>
      </a:dk2>
      <a:lt2>
        <a:srgbClr val="EEF4F3"/>
      </a:lt2>
      <a:accent1>
        <a:srgbClr val="0B6E70"/>
      </a:accent1>
      <a:accent2>
        <a:srgbClr val="C98A1B"/>
      </a:accent2>
      <a:accent3>
        <a:srgbClr val="2F6F5E"/>
      </a:accent3>
      <a:accent4>
        <a:srgbClr val="B4432F"/>
      </a:accent4>
      <a:accent5>
        <a:srgbClr val="5B7C99"/>
      </a:accent5>
      <a:accent6>
        <a:srgbClr val="8AA29E"/>
      </a:accent6>
      <a:hlink>
        <a:srgbClr val="0B6E70"/>
      </a:hlink>
      <a:folHlink>
        <a:srgbClr val="5B7C99"/>
      </a:folHlink>
    </a:clrScheme>
    <a:fontScheme name="Guardian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1039</Words>
  <Application>Microsoft Office PowerPoint</Application>
  <PresentationFormat>On-screen Show (16:9)</PresentationFormat>
  <Paragraphs>192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Guardian Ink</vt:lpstr>
      <vt:lpstr>Guardian Wallet: Astra</vt:lpstr>
      <vt:lpstr>Problem and objective</vt:lpstr>
      <vt:lpstr>Implemented wallet workspace</vt:lpstr>
      <vt:lpstr>Architecture and technology</vt:lpstr>
      <vt:lpstr>Procurement, review and delivery</vt:lpstr>
      <vt:lpstr>Permission and spending controls</vt:lpstr>
      <vt:lpstr>Public receipts and the reviewer boundary</vt:lpstr>
      <vt:lpstr>Live-model and authorization evaluation</vt:lpstr>
      <vt:lpstr>Batching efficiency and economic scope</vt:lpstr>
      <vt:lpstr>Recovery and verification coverage</vt:lpstr>
      <vt:lpstr>Result, boundaries and next validation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Guardian Wallet: Astra</dc:title>
  <dc:subject>PptxGenJS Presentation</dc:subject>
  <dc:creator>Guardian Wallet: Astra</dc:creator>
  <cp:lastModifiedBy>faris ror</cp:lastModifiedBy>
  <cp:revision>2</cp:revision>
  <dcterms:created xsi:type="dcterms:W3CDTF">2026-10-20T11:31:56Z</dcterms:created>
  <dcterms:modified xsi:type="dcterms:W3CDTF">2026-10-20T14:22:23Z</dcterms:modified>
</cp:coreProperties>
</file>